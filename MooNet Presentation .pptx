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2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3.xml" ContentType="application/inkml+xml"/>
  <Override PartName="/ppt/notesSlides/notesSlide43.xml" ContentType="application/vnd.openxmlformats-officedocument.presentationml.notesSlide+xml"/>
  <Override PartName="/ppt/ink/ink4.xml" ContentType="application/inkml+xml"/>
  <Override PartName="/ppt/notesSlides/notesSlide44.xml" ContentType="application/vnd.openxmlformats-officedocument.presentationml.notesSlide+xml"/>
  <Override PartName="/ppt/ink/ink5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4"/>
  </p:sldMasterIdLst>
  <p:notesMasterIdLst>
    <p:notesMasterId r:id="rId65"/>
  </p:notesMasterIdLst>
  <p:sldIdLst>
    <p:sldId id="302" r:id="rId5"/>
    <p:sldId id="304" r:id="rId6"/>
    <p:sldId id="390" r:id="rId7"/>
    <p:sldId id="418" r:id="rId8"/>
    <p:sldId id="434" r:id="rId9"/>
    <p:sldId id="335" r:id="rId10"/>
    <p:sldId id="260" r:id="rId11"/>
    <p:sldId id="306" r:id="rId12"/>
    <p:sldId id="320" r:id="rId13"/>
    <p:sldId id="421" r:id="rId14"/>
    <p:sldId id="321" r:id="rId15"/>
    <p:sldId id="310" r:id="rId16"/>
    <p:sldId id="314" r:id="rId17"/>
    <p:sldId id="322" r:id="rId18"/>
    <p:sldId id="334" r:id="rId19"/>
    <p:sldId id="324" r:id="rId20"/>
    <p:sldId id="313" r:id="rId21"/>
    <p:sldId id="323" r:id="rId22"/>
    <p:sldId id="341" r:id="rId23"/>
    <p:sldId id="355" r:id="rId24"/>
    <p:sldId id="358" r:id="rId25"/>
    <p:sldId id="357" r:id="rId26"/>
    <p:sldId id="408" r:id="rId27"/>
    <p:sldId id="326" r:id="rId28"/>
    <p:sldId id="348" r:id="rId29"/>
    <p:sldId id="328" r:id="rId30"/>
    <p:sldId id="342" r:id="rId31"/>
    <p:sldId id="343" r:id="rId32"/>
    <p:sldId id="395" r:id="rId33"/>
    <p:sldId id="430" r:id="rId34"/>
    <p:sldId id="407" r:id="rId35"/>
    <p:sldId id="398" r:id="rId36"/>
    <p:sldId id="414" r:id="rId37"/>
    <p:sldId id="415" r:id="rId38"/>
    <p:sldId id="417" r:id="rId39"/>
    <p:sldId id="416" r:id="rId40"/>
    <p:sldId id="413" r:id="rId41"/>
    <p:sldId id="353" r:id="rId42"/>
    <p:sldId id="359" r:id="rId43"/>
    <p:sldId id="354" r:id="rId44"/>
    <p:sldId id="396" r:id="rId45"/>
    <p:sldId id="431" r:id="rId46"/>
    <p:sldId id="425" r:id="rId47"/>
    <p:sldId id="427" r:id="rId48"/>
    <p:sldId id="426" r:id="rId49"/>
    <p:sldId id="432" r:id="rId50"/>
    <p:sldId id="433" r:id="rId51"/>
    <p:sldId id="397" r:id="rId52"/>
    <p:sldId id="386" r:id="rId53"/>
    <p:sldId id="378" r:id="rId54"/>
    <p:sldId id="402" r:id="rId55"/>
    <p:sldId id="372" r:id="rId56"/>
    <p:sldId id="373" r:id="rId57"/>
    <p:sldId id="394" r:id="rId58"/>
    <p:sldId id="387" r:id="rId59"/>
    <p:sldId id="388" r:id="rId60"/>
    <p:sldId id="389" r:id="rId61"/>
    <p:sldId id="422" r:id="rId62"/>
    <p:sldId id="420" r:id="rId63"/>
    <p:sldId id="331" r:id="rId64"/>
  </p:sldIdLst>
  <p:sldSz cx="9144000" cy="5143500" type="screen16x9"/>
  <p:notesSz cx="6858000" cy="9144000"/>
  <p:embeddedFontLst>
    <p:embeddedFont>
      <p:font typeface="Archivo" panose="020B0604020202020204" charset="0"/>
      <p:regular r:id="rId66"/>
      <p:bold r:id="rId67"/>
      <p:italic r:id="rId68"/>
      <p:boldItalic r:id="rId69"/>
    </p:embeddedFont>
    <p:embeddedFont>
      <p:font typeface="Archivo Black" panose="020B0604020202020204" charset="0"/>
      <p:bold r:id="rId70"/>
      <p:boldItalic r:id="rId71"/>
    </p:embeddedFont>
    <p:embeddedFont>
      <p:font typeface="DM Sans" pitchFamily="2" charset="0"/>
      <p:regular r:id="rId72"/>
      <p:bold r:id="rId73"/>
      <p:italic r:id="rId74"/>
      <p:boldItalic r:id="rId75"/>
    </p:embeddedFont>
    <p:embeddedFont>
      <p:font typeface="Open Sans" panose="020B0606030504020204" pitchFamily="34" charset="0"/>
      <p:regular r:id="rId76"/>
      <p:bold r:id="rId77"/>
      <p:italic r:id="rId78"/>
      <p:boldItalic r:id="rId79"/>
    </p:embeddedFont>
    <p:embeddedFont>
      <p:font typeface="Roboto" panose="02000000000000000000" pitchFamily="2" charset="0"/>
      <p:regular r:id="rId80"/>
      <p:bold r:id="rId81"/>
      <p:italic r:id="rId82"/>
      <p:boldItalic r:id="rId83"/>
    </p:embeddedFont>
    <p:embeddedFont>
      <p:font typeface="Segoe UI" panose="020B0502040204020203" pitchFamily="34" charset="0"/>
      <p:regular r:id="rId84"/>
      <p:bold r:id="rId85"/>
      <p:italic r:id="rId86"/>
      <p:bold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FFFFF"/>
    <a:srgbClr val="092241"/>
    <a:srgbClr val="002060"/>
    <a:srgbClr val="0099D1"/>
    <a:srgbClr val="EFEFEF"/>
    <a:srgbClr val="6194E6"/>
    <a:srgbClr val="F8F8F8"/>
    <a:srgbClr val="FF00E6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6AB47-9C28-40F8-8DEC-1BCA43642804}" v="718" dt="2025-06-29T23:07:22.511"/>
    <p1510:client id="{A81C694A-715A-8C02-E5C2-CA1B47D2FC43}" v="23" dt="2025-06-29T08:08:03.006"/>
  </p1510:revLst>
</p1510:revInfo>
</file>

<file path=ppt/tableStyles.xml><?xml version="1.0" encoding="utf-8"?>
<a:tblStyleLst xmlns:a="http://schemas.openxmlformats.org/drawingml/2006/main" def="{57BF61BB-2CF9-4438-83B4-13420F57BC4B}">
  <a:tblStyle styleId="{57BF61BB-2CF9-4438-83B4-13420F57BC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2" autoAdjust="0"/>
    <p:restoredTop sz="94660"/>
  </p:normalViewPr>
  <p:slideViewPr>
    <p:cSldViewPr snapToGrid="0">
      <p:cViewPr>
        <p:scale>
          <a:sx n="75" d="100"/>
          <a:sy n="75" d="100"/>
        </p:scale>
        <p:origin x="221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3.fntdata"/><Relationship Id="rId84" Type="http://schemas.openxmlformats.org/officeDocument/2006/relationships/font" Target="fonts/font19.fntdata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1.fntdata"/><Relationship Id="rId7" Type="http://schemas.openxmlformats.org/officeDocument/2006/relationships/slide" Target="slides/slide3.xml"/><Relationship Id="rId71" Type="http://schemas.openxmlformats.org/officeDocument/2006/relationships/font" Target="fonts/font6.fntdata"/><Relationship Id="rId92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1.fntdata"/><Relationship Id="rId87" Type="http://schemas.openxmlformats.org/officeDocument/2006/relationships/font" Target="fonts/font22.fntdata"/><Relationship Id="rId61" Type="http://schemas.openxmlformats.org/officeDocument/2006/relationships/slide" Target="slides/slide57.xml"/><Relationship Id="rId82" Type="http://schemas.openxmlformats.org/officeDocument/2006/relationships/font" Target="fonts/font17.fntdata"/><Relationship Id="rId19" Type="http://schemas.openxmlformats.org/officeDocument/2006/relationships/slide" Target="slides/slide1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9T12:21:48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18129 14012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7T12:12:15.1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28480 2519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7T22:48:14.9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2884 7223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9T14:25:17.9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2884 7223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9T22:25:18.5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2884 7223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7T22:48:14.9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2884 7223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21:14:1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18129 14012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26T21:14:13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18129 14012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349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614F70D6-90F3-956D-F367-9818A854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C99D55E2-277F-D339-0764-8A4FB6A16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C84A3C6D-F854-D8ED-DF80-E2E53F84D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499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A40DBC5E-254D-C877-5C94-EE2F8274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08A7E9C2-53D0-8D41-83CE-F2EB4EF22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C7F12A47-DD2D-8477-C187-FB58C872D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9175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>
          <a:extLst>
            <a:ext uri="{FF2B5EF4-FFF2-40B4-BE49-F238E27FC236}">
              <a16:creationId xmlns:a16="http://schemas.microsoft.com/office/drawing/2014/main" id="{F8226247-10E3-930D-1185-B58E0A7B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431007ba2_0_215:notes">
            <a:extLst>
              <a:ext uri="{FF2B5EF4-FFF2-40B4-BE49-F238E27FC236}">
                <a16:creationId xmlns:a16="http://schemas.microsoft.com/office/drawing/2014/main" id="{BE403AE1-B1E9-C07D-E123-1C2907BDD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d431007ba2_0_215:notes">
            <a:extLst>
              <a:ext uri="{FF2B5EF4-FFF2-40B4-BE49-F238E27FC236}">
                <a16:creationId xmlns:a16="http://schemas.microsoft.com/office/drawing/2014/main" id="{F8FF2DC8-2EEF-F02C-37A6-9237B10C5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3825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66B8E272-67D7-059A-6E6A-DAC3B6C9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0D31E052-561C-C6E6-240B-75E1164D7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1BC285B0-EBB9-B3A2-F8B2-CCDD78B8E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5656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146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DC0FD1DC-6920-0C3E-5DEF-B9E2FB0B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DF7E1E4B-6083-A642-0701-42FCF7CE2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F241F2D-FB59-E2C7-2F8B-11E4160C8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470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C5234BBA-0F9A-459F-A4E7-DF8D2B3E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A2862B22-C26A-80EE-C9F7-366FABBFF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A448F136-48A8-FC94-73BE-35A8A30B6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4145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BD6E89AF-3D67-5A49-D7B0-DFF67038D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06B8F846-88D5-4A2A-607A-169456EFA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8C679FC4-1C5E-16FD-5FA1-69420DCB36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927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348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334AE990-007D-5621-3126-8EA81493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5E9E01D8-2F2A-7FE3-4302-8E8127985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7DE420B7-324F-DA24-8762-441EFA5B8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090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CE82E9D8-EA1C-0F75-F3B8-C19DDEAC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7E08B377-B301-D9EE-4546-EC66A57F4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D3505FE6-A0CD-00D2-C8F4-4A1B53F44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018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CD8D181B-56CE-0B1D-2A6B-25ACBD43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158BE318-4919-56ED-C9EB-CBC4F6376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1C772CB2-ECAF-E9A1-86B6-C875E3251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476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320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B24661F1-A268-C778-E76B-92C7C2AD0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E5DC0778-EA38-E7C3-93F2-D4991119C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F4894925-E40D-3170-AF98-161643ABE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556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2AA71609-4DBD-F9DE-8FC7-70EB13EEA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8A461D67-6620-5564-5A61-40F88572F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D4D6BD66-FE6A-5674-5257-D489650A33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470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A07EC70-27F3-FF93-CBE4-B14AB3C9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16166C5F-AA36-2549-BC4D-9542B4035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6178393C-B828-35FB-2735-2B196CE9C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012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8D55DF3-AE35-63CB-4EA7-E46AFF70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627c9ce63_0_150:notes">
            <a:extLst>
              <a:ext uri="{FF2B5EF4-FFF2-40B4-BE49-F238E27FC236}">
                <a16:creationId xmlns:a16="http://schemas.microsoft.com/office/drawing/2014/main" id="{47BDAA57-B7F9-D469-EAB5-D49BA7C70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627c9ce63_0_150:notes">
            <a:extLst>
              <a:ext uri="{FF2B5EF4-FFF2-40B4-BE49-F238E27FC236}">
                <a16:creationId xmlns:a16="http://schemas.microsoft.com/office/drawing/2014/main" id="{5717AF28-B342-8C03-CBCD-A1E127C97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157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15C3F815-E464-823F-FFA6-98F90DBD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B7F2A10E-369B-B2FD-D905-6991C060A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58A016BA-0289-2B53-06BD-0860E8416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426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7BCD4A27-9921-A635-67D3-0257369E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627c9ce63_0_150:notes">
            <a:extLst>
              <a:ext uri="{FF2B5EF4-FFF2-40B4-BE49-F238E27FC236}">
                <a16:creationId xmlns:a16="http://schemas.microsoft.com/office/drawing/2014/main" id="{92C118D1-5269-0546-EDAC-7E98E0325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627c9ce63_0_150:notes">
            <a:extLst>
              <a:ext uri="{FF2B5EF4-FFF2-40B4-BE49-F238E27FC236}">
                <a16:creationId xmlns:a16="http://schemas.microsoft.com/office/drawing/2014/main" id="{C602D39A-DFB8-EC0B-79C4-9DE6D71DE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4501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3197B6A-472E-4CD9-B8FE-C790AED95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D142559A-6F98-237D-BB1D-148A16F17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53A2D1BF-8218-371D-87EB-1C28C6F5A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695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8605B8D3-0733-B80F-F351-13EB7780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96A39B6D-C652-64E4-ADC5-7463D5558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C6F45E6F-090A-94A8-48BD-96CF7C17F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0017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556829D8-DD18-977A-2ADC-6315965C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E6222141-A4A4-DB17-0CDA-D5D30A90F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75EFD775-350A-E843-2117-792F0F2417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273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CECC2F97-10C9-DC59-61D4-EBB2A23E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0AF74218-237E-1AF5-8E33-B553E94E0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E5F14FA3-53C3-7E76-C587-0773EA2F80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988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6119BE96-38F8-AA4F-07FB-DFCCC13EC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D490D9F2-5F5F-2F06-99ED-EC12FE887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7CAF23B2-5ED3-3004-8CAE-E9375B15C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6087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133DD31-61DE-4AFB-80FE-ED839505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2A08E8C1-AE20-1E21-A6A9-B0A3701D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1DC7F6F7-27B0-1B42-D8F8-B52965D47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9990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181E8AD-4D68-7D02-12BF-07230851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150370EB-B7D5-6FB7-4C72-B1B776FA9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692E2C15-ED7A-2C51-1303-4E5C78C7A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79591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D9C2BEA3-C227-7CCE-3B72-D93A1F2E6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2FEB78EC-5AE9-6D57-928F-C481115C2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2B0C4F03-6BDA-BD23-7F30-0CFE34F46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6268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B77390EC-A7A2-6BB4-5A08-FA6E73D2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42EB78EC-147D-0713-BF54-12A1E399C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CE1AC9EC-4548-28A7-FF52-13EE351A6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4019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A67AE418-663A-C489-4B48-22FBA137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4B777D7C-8452-B91E-5002-3911F9600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3E1F4E9-B44D-962C-32FA-AB627A4B9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7427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14536C7A-949F-6789-C9F7-B46B914B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1B473576-EEBA-2DAA-4930-D65DF32A8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F455D5AB-9842-4557-1D7E-A606FE4D5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4984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BE0A2180-A6E2-0EF8-C8D1-5C7D0DA9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AC8F6DE4-4B64-95AD-2288-B06134AD1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1060DC29-70D5-BC6E-1A77-EDFEB7B82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0007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4F3630A7-13B2-E715-790F-1760CB44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BC486839-A0D5-95F0-70F5-B2F8EFF09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D0D45A4F-6E9E-4CDF-5BEF-E53C68FA32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1936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D93161F-A7F7-CD03-89AC-931E4C14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48063C76-9FA4-0666-A1DE-28E3942AB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E8E395F-80FE-6E46-40F3-548DDB4E7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67399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D474C53E-E1F0-1C1E-4467-968191728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83B65305-ED1E-940A-8DF5-557389F28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19D2EDB-8A1E-70C2-8C9E-928DFAB09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76013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2AC71B95-5446-1D59-92A3-517C56C5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58E016D7-F390-9ABE-F82F-CBF624E97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CC082F90-BC8D-8E24-F44F-7C193ED2F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6343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386595A8-45B2-ED1A-2DFD-DFAED0E0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688F8EBC-9EC9-5EF1-E5B7-3210F47C6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8666618D-CADA-CDE6-0225-174064C83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69889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5F0F6D3A-4305-1225-B61D-3F27EEC9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31FF1FD4-28E9-0DB2-1BA9-66EFE2904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21B79B63-B258-C6BC-FC08-310F8BAD1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30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2F8053FF-5399-E82F-F753-86F5E3D2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B29CF249-378C-F484-CF28-F71B31F44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E8F87AD-9F2B-6A50-20B1-78D5DC8C6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7233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5A93B305-9B84-C8CF-1145-A21B33FC5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4ACC54A3-9975-4DAE-B119-690B42545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EB23208B-B998-BCE7-54F8-31EAA808D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2853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9059C1CA-79A5-2559-3AAD-7FF6BA4E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AC62BB2D-3B7A-1CF5-0532-238FD3D8B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4180AB41-953A-6915-25E2-41E8C689B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58998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818B530F-7B53-9115-4178-F6724D80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FD4371E5-1F12-FC2E-2B7D-4A113E517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4680DE46-EC33-DC37-18C8-740DA77E1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148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B6F6D58C-C4E1-53EE-12A6-0146ADEB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AB43CC55-839E-CCE3-8B9D-71CC589CC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9C45553B-A1AE-C4B5-B5AA-47B948C67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2698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9C35AD85-7C80-837F-2A5C-DA398A08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78B3B426-D008-E1AF-DB58-B410C5A61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76B6C0FB-3BBC-D1AB-0D91-2DD24F394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8075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8602B5D4-2373-0514-F25D-3C697605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54ff9c4cb4_3_5:notes">
            <a:extLst>
              <a:ext uri="{FF2B5EF4-FFF2-40B4-BE49-F238E27FC236}">
                <a16:creationId xmlns:a16="http://schemas.microsoft.com/office/drawing/2014/main" id="{B0C32999-5393-846B-49FD-A36AA12C3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54ff9c4cb4_3_5:notes">
            <a:extLst>
              <a:ext uri="{FF2B5EF4-FFF2-40B4-BE49-F238E27FC236}">
                <a16:creationId xmlns:a16="http://schemas.microsoft.com/office/drawing/2014/main" id="{01867670-BD27-BD4F-8CFD-FD5F3D34C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36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6170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733950"/>
            <a:ext cx="2237400" cy="6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654925" y="1312525"/>
            <a:ext cx="2852100" cy="2852100"/>
          </a:xfrm>
          <a:prstGeom prst="ellipse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subTitle" idx="1"/>
          </p:nvPr>
        </p:nvSpPr>
        <p:spPr>
          <a:xfrm>
            <a:off x="425561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2"/>
          </p:nvPr>
        </p:nvSpPr>
        <p:spPr>
          <a:xfrm>
            <a:off x="720000" y="1667625"/>
            <a:ext cx="30309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2212504" y="2617594"/>
            <a:ext cx="7422682" cy="2776688"/>
            <a:chOff x="2212504" y="2617594"/>
            <a:chExt cx="7422682" cy="2776688"/>
          </a:xfrm>
        </p:grpSpPr>
        <p:grpSp>
          <p:nvGrpSpPr>
            <p:cNvPr id="87" name="Google Shape;87;p7"/>
            <p:cNvGrpSpPr/>
            <p:nvPr/>
          </p:nvGrpSpPr>
          <p:grpSpPr>
            <a:xfrm>
              <a:off x="2212504" y="4514625"/>
              <a:ext cx="1309796" cy="257750"/>
              <a:chOff x="-6337521" y="4362225"/>
              <a:chExt cx="1309796" cy="257750"/>
            </a:xfrm>
          </p:grpSpPr>
          <p:sp>
            <p:nvSpPr>
              <p:cNvPr id="88" name="Google Shape;88;p7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7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6687000" y="2617594"/>
              <a:ext cx="2948185" cy="2776688"/>
              <a:chOff x="6687000" y="2617594"/>
              <a:chExt cx="2948185" cy="2776688"/>
            </a:xfrm>
          </p:grpSpPr>
          <p:sp>
            <p:nvSpPr>
              <p:cNvPr id="99" name="Google Shape;99;p7"/>
              <p:cNvSpPr/>
              <p:nvPr/>
            </p:nvSpPr>
            <p:spPr>
              <a:xfrm flipH="1">
                <a:off x="6687000" y="2703525"/>
                <a:ext cx="2457000" cy="24471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2699590">
                <a:off x="7946885" y="3849460"/>
                <a:ext cx="1780000" cy="477721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7"/>
              <p:cNvSpPr/>
              <p:nvPr/>
            </p:nvSpPr>
            <p:spPr>
              <a:xfrm rot="-2700000">
                <a:off x="6857259" y="4943944"/>
                <a:ext cx="996172" cy="11497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6962498" y="355377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 rot="-2699590">
                <a:off x="7651509" y="3199003"/>
                <a:ext cx="1780000" cy="326683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78601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578601" y="395423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3"/>
          </p:nvPr>
        </p:nvSpPr>
        <p:spPr>
          <a:xfrm>
            <a:off x="5534500" y="3954200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4"/>
          </p:nvPr>
        </p:nvSpPr>
        <p:spPr>
          <a:xfrm>
            <a:off x="5534500" y="2296975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5" hasCustomPrompt="1"/>
          </p:nvPr>
        </p:nvSpPr>
        <p:spPr>
          <a:xfrm>
            <a:off x="796200" y="16336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6" hasCustomPrompt="1"/>
          </p:nvPr>
        </p:nvSpPr>
        <p:spPr>
          <a:xfrm>
            <a:off x="4750950" y="32907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7" hasCustomPrompt="1"/>
          </p:nvPr>
        </p:nvSpPr>
        <p:spPr>
          <a:xfrm>
            <a:off x="796200" y="3290900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0950" y="1633575"/>
            <a:ext cx="707400" cy="1236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9"/>
          </p:nvPr>
        </p:nvSpPr>
        <p:spPr>
          <a:xfrm>
            <a:off x="15786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3"/>
          </p:nvPr>
        </p:nvSpPr>
        <p:spPr>
          <a:xfrm>
            <a:off x="1578600" y="3290939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5534500" y="3290901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5"/>
          </p:nvPr>
        </p:nvSpPr>
        <p:spPr>
          <a:xfrm>
            <a:off x="5534500" y="1633675"/>
            <a:ext cx="2309700" cy="7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Archivo"/>
                <a:ea typeface="Archivo"/>
                <a:cs typeface="Archivo"/>
                <a:sym typeface="Archiv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72" name="Google Shape;172;p13"/>
          <p:cNvGrpSpPr/>
          <p:nvPr/>
        </p:nvGrpSpPr>
        <p:grpSpPr>
          <a:xfrm>
            <a:off x="7527475" y="-437123"/>
            <a:ext cx="2304049" cy="2076084"/>
            <a:chOff x="7527475" y="-437123"/>
            <a:chExt cx="2304049" cy="2076084"/>
          </a:xfrm>
        </p:grpSpPr>
        <p:sp>
          <p:nvSpPr>
            <p:cNvPr id="173" name="Google Shape;173;p13"/>
            <p:cNvSpPr/>
            <p:nvPr/>
          </p:nvSpPr>
          <p:spPr>
            <a:xfrm rot="-5400000" flipH="1">
              <a:off x="7653475" y="-58150"/>
              <a:ext cx="1554600" cy="15486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3"/>
            <p:cNvGrpSpPr/>
            <p:nvPr/>
          </p:nvGrpSpPr>
          <p:grpSpPr>
            <a:xfrm>
              <a:off x="7527475" y="-190576"/>
              <a:ext cx="2304049" cy="1829537"/>
              <a:chOff x="7267300" y="-366311"/>
              <a:chExt cx="2304049" cy="1829537"/>
            </a:xfrm>
          </p:grpSpPr>
          <p:sp>
            <p:nvSpPr>
              <p:cNvPr id="175" name="Google Shape;175;p13"/>
              <p:cNvSpPr/>
              <p:nvPr/>
            </p:nvSpPr>
            <p:spPr>
              <a:xfrm rot="2699366" flipH="1">
                <a:off x="8496503" y="4900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 rot="2700000">
              <a:off x="7775558" y="-183425"/>
              <a:ext cx="770464" cy="12770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713225" y="4090900"/>
            <a:ext cx="4620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subTitle" idx="1"/>
          </p:nvPr>
        </p:nvSpPr>
        <p:spPr>
          <a:xfrm>
            <a:off x="713225" y="1207500"/>
            <a:ext cx="4620900" cy="27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82" name="Google Shape;182;p14"/>
          <p:cNvGrpSpPr/>
          <p:nvPr/>
        </p:nvGrpSpPr>
        <p:grpSpPr>
          <a:xfrm>
            <a:off x="6011304" y="4511176"/>
            <a:ext cx="1309796" cy="257750"/>
            <a:chOff x="-6337521" y="4362225"/>
            <a:chExt cx="1309796" cy="257750"/>
          </a:xfrm>
        </p:grpSpPr>
        <p:sp>
          <p:nvSpPr>
            <p:cNvPr id="183" name="Google Shape;183;p14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5"/>
          <p:cNvGrpSpPr/>
          <p:nvPr/>
        </p:nvGrpSpPr>
        <p:grpSpPr>
          <a:xfrm>
            <a:off x="7267300" y="-374475"/>
            <a:ext cx="2456449" cy="5138686"/>
            <a:chOff x="7267300" y="-374475"/>
            <a:chExt cx="2456449" cy="5138686"/>
          </a:xfrm>
        </p:grpSpPr>
        <p:grpSp>
          <p:nvGrpSpPr>
            <p:cNvPr id="410" name="Google Shape;410;p25"/>
            <p:cNvGrpSpPr/>
            <p:nvPr/>
          </p:nvGrpSpPr>
          <p:grpSpPr>
            <a:xfrm>
              <a:off x="7432804" y="4506461"/>
              <a:ext cx="1309796" cy="257750"/>
              <a:chOff x="-6337521" y="4362225"/>
              <a:chExt cx="1309796" cy="257750"/>
            </a:xfrm>
          </p:grpSpPr>
          <p:sp>
            <p:nvSpPr>
              <p:cNvPr id="411" name="Google Shape;411;p25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5"/>
            <p:cNvGrpSpPr/>
            <p:nvPr/>
          </p:nvGrpSpPr>
          <p:grpSpPr>
            <a:xfrm>
              <a:off x="7267300" y="-374475"/>
              <a:ext cx="2456449" cy="1917411"/>
              <a:chOff x="7267300" y="-366311"/>
              <a:chExt cx="2456449" cy="1917411"/>
            </a:xfrm>
          </p:grpSpPr>
          <p:sp>
            <p:nvSpPr>
              <p:cNvPr id="422" name="Google Shape;422;p25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26"/>
          <p:cNvGrpSpPr/>
          <p:nvPr/>
        </p:nvGrpSpPr>
        <p:grpSpPr>
          <a:xfrm>
            <a:off x="7267300" y="387525"/>
            <a:ext cx="2456449" cy="5138686"/>
            <a:chOff x="7267300" y="387525"/>
            <a:chExt cx="2456449" cy="5138686"/>
          </a:xfrm>
        </p:grpSpPr>
        <p:grpSp>
          <p:nvGrpSpPr>
            <p:cNvPr id="428" name="Google Shape;428;p26"/>
            <p:cNvGrpSpPr/>
            <p:nvPr/>
          </p:nvGrpSpPr>
          <p:grpSpPr>
            <a:xfrm rot="10800000" flipH="1">
              <a:off x="7432804" y="387525"/>
              <a:ext cx="1309796" cy="257750"/>
              <a:chOff x="-6337521" y="4362225"/>
              <a:chExt cx="1309796" cy="257750"/>
            </a:xfrm>
          </p:grpSpPr>
          <p:sp>
            <p:nvSpPr>
              <p:cNvPr id="429" name="Google Shape;429;p26"/>
              <p:cNvSpPr/>
              <p:nvPr/>
            </p:nvSpPr>
            <p:spPr>
              <a:xfrm>
                <a:off x="-591797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-5713862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-5509750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-5305637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-5101525" y="436222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-633752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-6133409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-5929296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-5725184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-5521071" y="4546175"/>
                <a:ext cx="73800" cy="738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 rot="10800000" flipH="1">
              <a:off x="7267300" y="3608800"/>
              <a:ext cx="2456449" cy="1917411"/>
              <a:chOff x="7267300" y="-366311"/>
              <a:chExt cx="2456449" cy="1917411"/>
            </a:xfrm>
          </p:grpSpPr>
          <p:sp>
            <p:nvSpPr>
              <p:cNvPr id="440" name="Google Shape;440;p26"/>
              <p:cNvSpPr/>
              <p:nvPr/>
            </p:nvSpPr>
            <p:spPr>
              <a:xfrm rot="-5400000" flipH="1">
                <a:off x="7653475" y="-500"/>
                <a:ext cx="1554600" cy="15486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 rot="2699366" flipH="1">
                <a:off x="8648903" y="642478"/>
                <a:ext cx="1150392" cy="262619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7719598" y="153426"/>
                <a:ext cx="1309800" cy="13098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 rot="2699336" flipH="1">
                <a:off x="7177884" y="-7536"/>
                <a:ext cx="1098632" cy="2019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91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9" r:id="rId3"/>
    <p:sldLayoutId id="2147483660" r:id="rId4"/>
    <p:sldLayoutId id="2147483671" r:id="rId5"/>
    <p:sldLayoutId id="2147483672" r:id="rId6"/>
    <p:sldLayoutId id="2147483673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11" Type="http://schemas.openxmlformats.org/officeDocument/2006/relationships/customXml" Target="../ink/ink1.xml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9.jpe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40.jpe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0.jpeg"/><Relationship Id="rId9" Type="http://schemas.openxmlformats.org/officeDocument/2006/relationships/image" Target="../media/image4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63.jpeg"/><Relationship Id="rId7" Type="http://schemas.openxmlformats.org/officeDocument/2006/relationships/image" Target="../media/image6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image" Target="../media/image69.jpeg"/><Relationship Id="rId7" Type="http://schemas.openxmlformats.org/officeDocument/2006/relationships/image" Target="../media/image7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10" Type="http://schemas.openxmlformats.org/officeDocument/2006/relationships/image" Target="../media/image76.jpeg"/><Relationship Id="rId4" Type="http://schemas.openxmlformats.org/officeDocument/2006/relationships/image" Target="../media/image70.jpeg"/><Relationship Id="rId9" Type="http://schemas.openxmlformats.org/officeDocument/2006/relationships/image" Target="../media/image7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mailto:mAP@0.5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png"/><Relationship Id="rId4" Type="http://schemas.openxmlformats.org/officeDocument/2006/relationships/customXml" Target="../ink/ink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0.svg"/><Relationship Id="rId4" Type="http://schemas.openxmlformats.org/officeDocument/2006/relationships/image" Target="../media/image8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sv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sv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4.jpeg"/><Relationship Id="rId4" Type="http://schemas.openxmlformats.org/officeDocument/2006/relationships/image" Target="../media/image2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9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nna-Yousri/Graduation_Project.git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/>
          <p:nvPr/>
        </p:nvSpPr>
        <p:spPr>
          <a:xfrm flipH="1">
            <a:off x="4714200" y="783325"/>
            <a:ext cx="4429800" cy="4367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0"/>
          <p:cNvSpPr/>
          <p:nvPr/>
        </p:nvSpPr>
        <p:spPr>
          <a:xfrm rot="-2700000">
            <a:off x="7675121" y="1303413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4617000" cy="2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092241"/>
                </a:solidFill>
                <a:ea typeface="Archivo"/>
              </a:rPr>
              <a:t>MooNet</a:t>
            </a:r>
            <a:endParaRPr lang="en" sz="7500">
              <a:solidFill>
                <a:srgbClr val="092241"/>
              </a:solidFill>
              <a:latin typeface="Archivo"/>
              <a:ea typeface="Archivo"/>
              <a:cs typeface="Archivo"/>
            </a:endParaRPr>
          </a:p>
        </p:txBody>
      </p:sp>
      <p:sp>
        <p:nvSpPr>
          <p:cNvPr id="457" name="Google Shape;457;p30"/>
          <p:cNvSpPr txBox="1">
            <a:spLocks noGrp="1"/>
          </p:cNvSpPr>
          <p:nvPr>
            <p:ph type="subTitle" idx="1"/>
          </p:nvPr>
        </p:nvSpPr>
        <p:spPr>
          <a:xfrm>
            <a:off x="785486" y="2432403"/>
            <a:ext cx="3786514" cy="612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ct val="100000"/>
              </a:lnSpc>
            </a:pPr>
            <a:r>
              <a:rPr lang="en" sz="1800"/>
              <a:t>Livestock in the Era of AI and IoT</a:t>
            </a:r>
            <a:endParaRPr lang="en-US" sz="1800"/>
          </a:p>
        </p:txBody>
      </p:sp>
      <p:sp>
        <p:nvSpPr>
          <p:cNvPr id="458" name="Google Shape;458;p30"/>
          <p:cNvSpPr/>
          <p:nvPr/>
        </p:nvSpPr>
        <p:spPr>
          <a:xfrm rot="-2699590">
            <a:off x="4984509" y="3275203"/>
            <a:ext cx="1780000" cy="326683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0"/>
          <p:cNvSpPr/>
          <p:nvPr/>
        </p:nvSpPr>
        <p:spPr>
          <a:xfrm rot="-2699590">
            <a:off x="7108289" y="2092651"/>
            <a:ext cx="1780000" cy="326683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0"/>
          <p:cNvSpPr/>
          <p:nvPr/>
        </p:nvSpPr>
        <p:spPr>
          <a:xfrm rot="-2699590">
            <a:off x="6792716" y="1243005"/>
            <a:ext cx="1780000" cy="477721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0"/>
          <p:cNvSpPr/>
          <p:nvPr/>
        </p:nvSpPr>
        <p:spPr>
          <a:xfrm rot="-2699590">
            <a:off x="5127485" y="3849460"/>
            <a:ext cx="1780000" cy="477721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30"/>
          <p:cNvGrpSpPr/>
          <p:nvPr/>
        </p:nvGrpSpPr>
        <p:grpSpPr>
          <a:xfrm>
            <a:off x="2669704" y="4362225"/>
            <a:ext cx="1309796" cy="257750"/>
            <a:chOff x="-6337521" y="4362225"/>
            <a:chExt cx="1309796" cy="257750"/>
          </a:xfrm>
        </p:grpSpPr>
        <p:sp>
          <p:nvSpPr>
            <p:cNvPr id="463" name="Google Shape;463;p30"/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30"/>
          <p:cNvSpPr/>
          <p:nvPr/>
        </p:nvSpPr>
        <p:spPr>
          <a:xfrm rot="-2700000">
            <a:off x="5941284" y="4227394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4643689" y="2814981"/>
            <a:ext cx="1596600" cy="15966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Placeholder 4" descr="A cow wearing sunglasses&#10;&#10;AI-generated content may be incorrect.">
            <a:extLst>
              <a:ext uri="{FF2B5EF4-FFF2-40B4-BE49-F238E27FC236}">
                <a16:creationId xmlns:a16="http://schemas.microsoft.com/office/drawing/2014/main" id="{E37737C7-B9EE-CFF3-E5E6-54AF81E86AE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4"/>
          <a:srcRect t="119" b="119"/>
          <a:stretch/>
        </p:blipFill>
        <p:spPr/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795652-1946-449E-10AC-72E4C7A44638}"/>
              </a:ext>
            </a:extLst>
          </p:cNvPr>
          <p:cNvCxnSpPr>
            <a:cxnSpLocks/>
          </p:cNvCxnSpPr>
          <p:nvPr/>
        </p:nvCxnSpPr>
        <p:spPr>
          <a:xfrm flipV="1">
            <a:off x="882127" y="2432403"/>
            <a:ext cx="3367143" cy="0"/>
          </a:xfrm>
          <a:prstGeom prst="straightConnector1">
            <a:avLst/>
          </a:prstGeom>
          <a:ln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C005673-1352-B786-7BE8-DACBC00654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3138" y="0"/>
            <a:ext cx="783325" cy="783325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991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"/>
          <p:cNvSpPr txBox="1">
            <a:spLocks noGrp="1"/>
          </p:cNvSpPr>
          <p:nvPr>
            <p:ph type="title"/>
          </p:nvPr>
        </p:nvSpPr>
        <p:spPr>
          <a:xfrm>
            <a:off x="2322471" y="7829"/>
            <a:ext cx="3554754" cy="6196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98" name="Google Shape;498;p32"/>
          <p:cNvSpPr txBox="1">
            <a:spLocks noGrp="1"/>
          </p:cNvSpPr>
          <p:nvPr>
            <p:ph type="subTitle" idx="9"/>
          </p:nvPr>
        </p:nvSpPr>
        <p:spPr>
          <a:xfrm>
            <a:off x="1509308" y="904155"/>
            <a:ext cx="1617435" cy="3536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Our Team</a:t>
            </a:r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CE714A-6AEC-2C8F-5DFB-0CC3B1C20B0B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944629" y="904155"/>
            <a:ext cx="536970" cy="353649"/>
          </a:xfrm>
        </p:spPr>
        <p:txBody>
          <a:bodyPr/>
          <a:lstStyle/>
          <a:p>
            <a:r>
              <a:rPr lang="en-US" sz="1800" dirty="0"/>
              <a:t>01</a:t>
            </a:r>
          </a:p>
        </p:txBody>
      </p:sp>
      <p:sp>
        <p:nvSpPr>
          <p:cNvPr id="44" name="Google Shape;498;p32">
            <a:extLst>
              <a:ext uri="{FF2B5EF4-FFF2-40B4-BE49-F238E27FC236}">
                <a16:creationId xmlns:a16="http://schemas.microsoft.com/office/drawing/2014/main" id="{5390C818-EE6D-ACE2-5E98-AFD1FC2D1807}"/>
              </a:ext>
            </a:extLst>
          </p:cNvPr>
          <p:cNvSpPr txBox="1">
            <a:spLocks/>
          </p:cNvSpPr>
          <p:nvPr/>
        </p:nvSpPr>
        <p:spPr>
          <a:xfrm>
            <a:off x="1509308" y="1357633"/>
            <a:ext cx="1617435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Challenges</a:t>
            </a:r>
            <a:endParaRPr lang="en-US" sz="1800" dirty="0"/>
          </a:p>
        </p:txBody>
      </p:sp>
      <p:sp>
        <p:nvSpPr>
          <p:cNvPr id="45" name="Title 2">
            <a:extLst>
              <a:ext uri="{FF2B5EF4-FFF2-40B4-BE49-F238E27FC236}">
                <a16:creationId xmlns:a16="http://schemas.microsoft.com/office/drawing/2014/main" id="{3809D086-7A68-8177-9FD6-E96AC9A2FC3D}"/>
              </a:ext>
            </a:extLst>
          </p:cNvPr>
          <p:cNvSpPr txBox="1">
            <a:spLocks/>
          </p:cNvSpPr>
          <p:nvPr/>
        </p:nvSpPr>
        <p:spPr>
          <a:xfrm>
            <a:off x="944629" y="1357633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02</a:t>
            </a:r>
          </a:p>
        </p:txBody>
      </p:sp>
      <p:sp>
        <p:nvSpPr>
          <p:cNvPr id="46" name="Google Shape;498;p32">
            <a:extLst>
              <a:ext uri="{FF2B5EF4-FFF2-40B4-BE49-F238E27FC236}">
                <a16:creationId xmlns:a16="http://schemas.microsoft.com/office/drawing/2014/main" id="{0EEC1E3E-28D1-744C-DD33-556789444304}"/>
              </a:ext>
            </a:extLst>
          </p:cNvPr>
          <p:cNvSpPr txBox="1">
            <a:spLocks/>
          </p:cNvSpPr>
          <p:nvPr/>
        </p:nvSpPr>
        <p:spPr>
          <a:xfrm>
            <a:off x="1513753" y="1811111"/>
            <a:ext cx="188984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Our Solution</a:t>
            </a:r>
          </a:p>
        </p:txBody>
      </p:sp>
      <p:sp>
        <p:nvSpPr>
          <p:cNvPr id="47" name="Title 2">
            <a:extLst>
              <a:ext uri="{FF2B5EF4-FFF2-40B4-BE49-F238E27FC236}">
                <a16:creationId xmlns:a16="http://schemas.microsoft.com/office/drawing/2014/main" id="{85ED628C-2694-08E7-7C27-5B9DC7407A4D}"/>
              </a:ext>
            </a:extLst>
          </p:cNvPr>
          <p:cNvSpPr txBox="1">
            <a:spLocks/>
          </p:cNvSpPr>
          <p:nvPr/>
        </p:nvSpPr>
        <p:spPr>
          <a:xfrm>
            <a:off x="949074" y="1811111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03</a:t>
            </a:r>
          </a:p>
        </p:txBody>
      </p:sp>
      <p:sp>
        <p:nvSpPr>
          <p:cNvPr id="48" name="Google Shape;498;p32">
            <a:extLst>
              <a:ext uri="{FF2B5EF4-FFF2-40B4-BE49-F238E27FC236}">
                <a16:creationId xmlns:a16="http://schemas.microsoft.com/office/drawing/2014/main" id="{D7C27297-C3FD-230A-FE79-6579E580799C}"/>
              </a:ext>
            </a:extLst>
          </p:cNvPr>
          <p:cNvSpPr txBox="1">
            <a:spLocks/>
          </p:cNvSpPr>
          <p:nvPr/>
        </p:nvSpPr>
        <p:spPr>
          <a:xfrm>
            <a:off x="1513753" y="2264589"/>
            <a:ext cx="22657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Market Analysis </a:t>
            </a:r>
          </a:p>
        </p:txBody>
      </p:sp>
      <p:sp>
        <p:nvSpPr>
          <p:cNvPr id="49" name="Title 2">
            <a:extLst>
              <a:ext uri="{FF2B5EF4-FFF2-40B4-BE49-F238E27FC236}">
                <a16:creationId xmlns:a16="http://schemas.microsoft.com/office/drawing/2014/main" id="{5A3AD594-5253-4AC7-52D6-BA6C19A3FAF8}"/>
              </a:ext>
            </a:extLst>
          </p:cNvPr>
          <p:cNvSpPr txBox="1">
            <a:spLocks/>
          </p:cNvSpPr>
          <p:nvPr/>
        </p:nvSpPr>
        <p:spPr>
          <a:xfrm>
            <a:off x="949074" y="2264589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04</a:t>
            </a:r>
          </a:p>
        </p:txBody>
      </p:sp>
      <p:sp>
        <p:nvSpPr>
          <p:cNvPr id="50" name="Google Shape;498;p32">
            <a:extLst>
              <a:ext uri="{FF2B5EF4-FFF2-40B4-BE49-F238E27FC236}">
                <a16:creationId xmlns:a16="http://schemas.microsoft.com/office/drawing/2014/main" id="{703AC9D9-2D29-D096-808F-93F510308DAC}"/>
              </a:ext>
            </a:extLst>
          </p:cNvPr>
          <p:cNvSpPr txBox="1">
            <a:spLocks/>
          </p:cNvSpPr>
          <p:nvPr/>
        </p:nvSpPr>
        <p:spPr>
          <a:xfrm>
            <a:off x="1513753" y="2718067"/>
            <a:ext cx="21133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SWOT Analysis </a:t>
            </a:r>
          </a:p>
        </p:txBody>
      </p:sp>
      <p:sp>
        <p:nvSpPr>
          <p:cNvPr id="51" name="Title 2">
            <a:extLst>
              <a:ext uri="{FF2B5EF4-FFF2-40B4-BE49-F238E27FC236}">
                <a16:creationId xmlns:a16="http://schemas.microsoft.com/office/drawing/2014/main" id="{0E0D275F-1925-65E1-F769-0DB84270F760}"/>
              </a:ext>
            </a:extLst>
          </p:cNvPr>
          <p:cNvSpPr txBox="1">
            <a:spLocks/>
          </p:cNvSpPr>
          <p:nvPr/>
        </p:nvSpPr>
        <p:spPr>
          <a:xfrm>
            <a:off x="949074" y="2718067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05</a:t>
            </a:r>
          </a:p>
        </p:txBody>
      </p:sp>
      <p:sp>
        <p:nvSpPr>
          <p:cNvPr id="53" name="Title 2">
            <a:extLst>
              <a:ext uri="{FF2B5EF4-FFF2-40B4-BE49-F238E27FC236}">
                <a16:creationId xmlns:a16="http://schemas.microsoft.com/office/drawing/2014/main" id="{33A22EDB-1490-E759-52CD-1B8064C53A5F}"/>
              </a:ext>
            </a:extLst>
          </p:cNvPr>
          <p:cNvSpPr txBox="1">
            <a:spLocks/>
          </p:cNvSpPr>
          <p:nvPr/>
        </p:nvSpPr>
        <p:spPr>
          <a:xfrm>
            <a:off x="949074" y="3171545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06</a:t>
            </a:r>
          </a:p>
        </p:txBody>
      </p:sp>
      <p:sp>
        <p:nvSpPr>
          <p:cNvPr id="54" name="Google Shape;498;p32">
            <a:extLst>
              <a:ext uri="{FF2B5EF4-FFF2-40B4-BE49-F238E27FC236}">
                <a16:creationId xmlns:a16="http://schemas.microsoft.com/office/drawing/2014/main" id="{7ACAA20B-1B3D-C7EF-F631-8599CE8D2FD1}"/>
              </a:ext>
            </a:extLst>
          </p:cNvPr>
          <p:cNvSpPr txBox="1">
            <a:spLocks/>
          </p:cNvSpPr>
          <p:nvPr/>
        </p:nvSpPr>
        <p:spPr>
          <a:xfrm>
            <a:off x="1509308" y="3625023"/>
            <a:ext cx="22657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Business Model</a:t>
            </a:r>
          </a:p>
        </p:txBody>
      </p:sp>
      <p:sp>
        <p:nvSpPr>
          <p:cNvPr id="55" name="Title 2">
            <a:extLst>
              <a:ext uri="{FF2B5EF4-FFF2-40B4-BE49-F238E27FC236}">
                <a16:creationId xmlns:a16="http://schemas.microsoft.com/office/drawing/2014/main" id="{CEECB34E-C9B9-0688-9F88-15B07DF5148D}"/>
              </a:ext>
            </a:extLst>
          </p:cNvPr>
          <p:cNvSpPr txBox="1">
            <a:spLocks/>
          </p:cNvSpPr>
          <p:nvPr/>
        </p:nvSpPr>
        <p:spPr>
          <a:xfrm>
            <a:off x="944629" y="3625023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07</a:t>
            </a:r>
          </a:p>
        </p:txBody>
      </p:sp>
      <p:sp>
        <p:nvSpPr>
          <p:cNvPr id="56" name="Google Shape;498;p32">
            <a:extLst>
              <a:ext uri="{FF2B5EF4-FFF2-40B4-BE49-F238E27FC236}">
                <a16:creationId xmlns:a16="http://schemas.microsoft.com/office/drawing/2014/main" id="{542EBC81-8D48-AFA9-C18B-A2CF0DD20A61}"/>
              </a:ext>
            </a:extLst>
          </p:cNvPr>
          <p:cNvSpPr txBox="1">
            <a:spLocks/>
          </p:cNvSpPr>
          <p:nvPr/>
        </p:nvSpPr>
        <p:spPr>
          <a:xfrm>
            <a:off x="1513753" y="4078501"/>
            <a:ext cx="28245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Our Roadmap</a:t>
            </a:r>
            <a:endParaRPr lang="en-US" sz="1800" dirty="0"/>
          </a:p>
        </p:txBody>
      </p:sp>
      <p:sp>
        <p:nvSpPr>
          <p:cNvPr id="57" name="Title 2">
            <a:extLst>
              <a:ext uri="{FF2B5EF4-FFF2-40B4-BE49-F238E27FC236}">
                <a16:creationId xmlns:a16="http://schemas.microsoft.com/office/drawing/2014/main" id="{370FEB27-B263-73BD-BE35-D31188AD48CB}"/>
              </a:ext>
            </a:extLst>
          </p:cNvPr>
          <p:cNvSpPr txBox="1">
            <a:spLocks/>
          </p:cNvSpPr>
          <p:nvPr/>
        </p:nvSpPr>
        <p:spPr>
          <a:xfrm>
            <a:off x="949074" y="4078501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08</a:t>
            </a:r>
          </a:p>
        </p:txBody>
      </p:sp>
      <p:sp>
        <p:nvSpPr>
          <p:cNvPr id="58" name="Google Shape;498;p32">
            <a:extLst>
              <a:ext uri="{FF2B5EF4-FFF2-40B4-BE49-F238E27FC236}">
                <a16:creationId xmlns:a16="http://schemas.microsoft.com/office/drawing/2014/main" id="{B0717C49-E519-7B4F-50FB-1C668DB1DB5B}"/>
              </a:ext>
            </a:extLst>
          </p:cNvPr>
          <p:cNvSpPr txBox="1">
            <a:spLocks/>
          </p:cNvSpPr>
          <p:nvPr/>
        </p:nvSpPr>
        <p:spPr>
          <a:xfrm>
            <a:off x="5204095" y="904155"/>
            <a:ext cx="2995275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Tools &amp; Technologies</a:t>
            </a:r>
          </a:p>
        </p:txBody>
      </p:sp>
      <p:sp>
        <p:nvSpPr>
          <p:cNvPr id="59" name="Title 2">
            <a:extLst>
              <a:ext uri="{FF2B5EF4-FFF2-40B4-BE49-F238E27FC236}">
                <a16:creationId xmlns:a16="http://schemas.microsoft.com/office/drawing/2014/main" id="{8FCB54B3-D029-7FBB-090F-0207F908C147}"/>
              </a:ext>
            </a:extLst>
          </p:cNvPr>
          <p:cNvSpPr txBox="1">
            <a:spLocks/>
          </p:cNvSpPr>
          <p:nvPr/>
        </p:nvSpPr>
        <p:spPr>
          <a:xfrm>
            <a:off x="4639417" y="904155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10</a:t>
            </a:r>
          </a:p>
        </p:txBody>
      </p:sp>
      <p:sp>
        <p:nvSpPr>
          <p:cNvPr id="61" name="Title 2">
            <a:extLst>
              <a:ext uri="{FF2B5EF4-FFF2-40B4-BE49-F238E27FC236}">
                <a16:creationId xmlns:a16="http://schemas.microsoft.com/office/drawing/2014/main" id="{B35F4070-7773-CEEC-40C2-1AD67C4EF5CB}"/>
              </a:ext>
            </a:extLst>
          </p:cNvPr>
          <p:cNvSpPr txBox="1">
            <a:spLocks/>
          </p:cNvSpPr>
          <p:nvPr/>
        </p:nvSpPr>
        <p:spPr>
          <a:xfrm>
            <a:off x="4639417" y="1357633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11</a:t>
            </a:r>
          </a:p>
        </p:txBody>
      </p:sp>
      <p:sp>
        <p:nvSpPr>
          <p:cNvPr id="62" name="Google Shape;498;p32">
            <a:extLst>
              <a:ext uri="{FF2B5EF4-FFF2-40B4-BE49-F238E27FC236}">
                <a16:creationId xmlns:a16="http://schemas.microsoft.com/office/drawing/2014/main" id="{CEDA9646-1A72-B4EE-609F-3788BAF9BDE6}"/>
              </a:ext>
            </a:extLst>
          </p:cNvPr>
          <p:cNvSpPr txBox="1">
            <a:spLocks/>
          </p:cNvSpPr>
          <p:nvPr/>
        </p:nvSpPr>
        <p:spPr>
          <a:xfrm>
            <a:off x="5208540" y="1811111"/>
            <a:ext cx="2986385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Feed Optimization</a:t>
            </a:r>
          </a:p>
        </p:txBody>
      </p:sp>
      <p:sp>
        <p:nvSpPr>
          <p:cNvPr id="63" name="Title 2">
            <a:extLst>
              <a:ext uri="{FF2B5EF4-FFF2-40B4-BE49-F238E27FC236}">
                <a16:creationId xmlns:a16="http://schemas.microsoft.com/office/drawing/2014/main" id="{6E1E2950-FED3-B5F5-B4FC-D823B0D3638E}"/>
              </a:ext>
            </a:extLst>
          </p:cNvPr>
          <p:cNvSpPr txBox="1">
            <a:spLocks/>
          </p:cNvSpPr>
          <p:nvPr/>
        </p:nvSpPr>
        <p:spPr>
          <a:xfrm>
            <a:off x="4643862" y="1811111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12</a:t>
            </a:r>
          </a:p>
        </p:txBody>
      </p:sp>
      <p:sp>
        <p:nvSpPr>
          <p:cNvPr id="448" name="Google Shape;498;p32">
            <a:extLst>
              <a:ext uri="{FF2B5EF4-FFF2-40B4-BE49-F238E27FC236}">
                <a16:creationId xmlns:a16="http://schemas.microsoft.com/office/drawing/2014/main" id="{35EB3D27-B00A-2A5A-A1DC-179A8D7C7AB6}"/>
              </a:ext>
            </a:extLst>
          </p:cNvPr>
          <p:cNvSpPr txBox="1">
            <a:spLocks/>
          </p:cNvSpPr>
          <p:nvPr/>
        </p:nvSpPr>
        <p:spPr>
          <a:xfrm>
            <a:off x="5208542" y="2264589"/>
            <a:ext cx="2389552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Datasets</a:t>
            </a:r>
          </a:p>
        </p:txBody>
      </p:sp>
      <p:sp>
        <p:nvSpPr>
          <p:cNvPr id="449" name="Title 2">
            <a:extLst>
              <a:ext uri="{FF2B5EF4-FFF2-40B4-BE49-F238E27FC236}">
                <a16:creationId xmlns:a16="http://schemas.microsoft.com/office/drawing/2014/main" id="{273E5119-E6E6-2419-CDAA-7D98FE386F6E}"/>
              </a:ext>
            </a:extLst>
          </p:cNvPr>
          <p:cNvSpPr txBox="1">
            <a:spLocks/>
          </p:cNvSpPr>
          <p:nvPr/>
        </p:nvSpPr>
        <p:spPr>
          <a:xfrm>
            <a:off x="4643862" y="2264589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13</a:t>
            </a:r>
          </a:p>
        </p:txBody>
      </p:sp>
      <p:sp>
        <p:nvSpPr>
          <p:cNvPr id="450" name="Google Shape;498;p32">
            <a:extLst>
              <a:ext uri="{FF2B5EF4-FFF2-40B4-BE49-F238E27FC236}">
                <a16:creationId xmlns:a16="http://schemas.microsoft.com/office/drawing/2014/main" id="{01D71FC9-627C-D5B6-5D9A-80396F8627AD}"/>
              </a:ext>
            </a:extLst>
          </p:cNvPr>
          <p:cNvSpPr txBox="1">
            <a:spLocks/>
          </p:cNvSpPr>
          <p:nvPr/>
        </p:nvSpPr>
        <p:spPr>
          <a:xfrm>
            <a:off x="5208541" y="2718067"/>
            <a:ext cx="2563859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Disease Detection</a:t>
            </a:r>
          </a:p>
        </p:txBody>
      </p:sp>
      <p:sp>
        <p:nvSpPr>
          <p:cNvPr id="451" name="Title 2">
            <a:extLst>
              <a:ext uri="{FF2B5EF4-FFF2-40B4-BE49-F238E27FC236}">
                <a16:creationId xmlns:a16="http://schemas.microsoft.com/office/drawing/2014/main" id="{12CEBDE3-E6E9-74FC-0F44-89B573A4610D}"/>
              </a:ext>
            </a:extLst>
          </p:cNvPr>
          <p:cNvSpPr txBox="1">
            <a:spLocks/>
          </p:cNvSpPr>
          <p:nvPr/>
        </p:nvSpPr>
        <p:spPr>
          <a:xfrm>
            <a:off x="4643862" y="2718067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14</a:t>
            </a:r>
          </a:p>
        </p:txBody>
      </p:sp>
      <p:sp>
        <p:nvSpPr>
          <p:cNvPr id="452" name="Google Shape;498;p32">
            <a:extLst>
              <a:ext uri="{FF2B5EF4-FFF2-40B4-BE49-F238E27FC236}">
                <a16:creationId xmlns:a16="http://schemas.microsoft.com/office/drawing/2014/main" id="{E858628A-7C17-7E04-E276-D24D1185139C}"/>
              </a:ext>
            </a:extLst>
          </p:cNvPr>
          <p:cNvSpPr txBox="1">
            <a:spLocks/>
          </p:cNvSpPr>
          <p:nvPr/>
        </p:nvSpPr>
        <p:spPr>
          <a:xfrm>
            <a:off x="5208541" y="3171545"/>
            <a:ext cx="2283152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Smart Chatbot</a:t>
            </a:r>
          </a:p>
        </p:txBody>
      </p:sp>
      <p:sp>
        <p:nvSpPr>
          <p:cNvPr id="453" name="Title 2">
            <a:extLst>
              <a:ext uri="{FF2B5EF4-FFF2-40B4-BE49-F238E27FC236}">
                <a16:creationId xmlns:a16="http://schemas.microsoft.com/office/drawing/2014/main" id="{365EF505-F2A1-900F-F0F0-F613A64D69A3}"/>
              </a:ext>
            </a:extLst>
          </p:cNvPr>
          <p:cNvSpPr txBox="1">
            <a:spLocks/>
          </p:cNvSpPr>
          <p:nvPr/>
        </p:nvSpPr>
        <p:spPr>
          <a:xfrm>
            <a:off x="4643862" y="3171545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15</a:t>
            </a:r>
          </a:p>
        </p:txBody>
      </p:sp>
      <p:sp>
        <p:nvSpPr>
          <p:cNvPr id="454" name="Google Shape;498;p32">
            <a:extLst>
              <a:ext uri="{FF2B5EF4-FFF2-40B4-BE49-F238E27FC236}">
                <a16:creationId xmlns:a16="http://schemas.microsoft.com/office/drawing/2014/main" id="{49556130-D657-900E-5363-DD62BDBF9DF7}"/>
              </a:ext>
            </a:extLst>
          </p:cNvPr>
          <p:cNvSpPr txBox="1">
            <a:spLocks/>
          </p:cNvSpPr>
          <p:nvPr/>
        </p:nvSpPr>
        <p:spPr>
          <a:xfrm>
            <a:off x="5204096" y="3625023"/>
            <a:ext cx="2039984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System Demo</a:t>
            </a:r>
            <a:endParaRPr lang="en-US" sz="1800" dirty="0"/>
          </a:p>
        </p:txBody>
      </p:sp>
      <p:sp>
        <p:nvSpPr>
          <p:cNvPr id="455" name="Title 2">
            <a:extLst>
              <a:ext uri="{FF2B5EF4-FFF2-40B4-BE49-F238E27FC236}">
                <a16:creationId xmlns:a16="http://schemas.microsoft.com/office/drawing/2014/main" id="{A9FE46E2-3DCB-D39B-CE5F-0F90D74B026D}"/>
              </a:ext>
            </a:extLst>
          </p:cNvPr>
          <p:cNvSpPr txBox="1">
            <a:spLocks/>
          </p:cNvSpPr>
          <p:nvPr/>
        </p:nvSpPr>
        <p:spPr>
          <a:xfrm>
            <a:off x="4639417" y="3625023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16</a:t>
            </a:r>
          </a:p>
        </p:txBody>
      </p:sp>
      <p:sp>
        <p:nvSpPr>
          <p:cNvPr id="456" name="Google Shape;498;p32">
            <a:extLst>
              <a:ext uri="{FF2B5EF4-FFF2-40B4-BE49-F238E27FC236}">
                <a16:creationId xmlns:a16="http://schemas.microsoft.com/office/drawing/2014/main" id="{60C9E463-5F38-08DC-92C7-9A93390A5469}"/>
              </a:ext>
            </a:extLst>
          </p:cNvPr>
          <p:cNvSpPr txBox="1">
            <a:spLocks/>
          </p:cNvSpPr>
          <p:nvPr/>
        </p:nvSpPr>
        <p:spPr>
          <a:xfrm>
            <a:off x="5208541" y="4078501"/>
            <a:ext cx="2563859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Upcoming Features </a:t>
            </a:r>
            <a:endParaRPr lang="en-US" sz="1800" dirty="0"/>
          </a:p>
        </p:txBody>
      </p:sp>
      <p:sp>
        <p:nvSpPr>
          <p:cNvPr id="457" name="Title 2">
            <a:extLst>
              <a:ext uri="{FF2B5EF4-FFF2-40B4-BE49-F238E27FC236}">
                <a16:creationId xmlns:a16="http://schemas.microsoft.com/office/drawing/2014/main" id="{B70BBE16-AEF2-9729-5D57-32CC88AD1C40}"/>
              </a:ext>
            </a:extLst>
          </p:cNvPr>
          <p:cNvSpPr txBox="1">
            <a:spLocks/>
          </p:cNvSpPr>
          <p:nvPr/>
        </p:nvSpPr>
        <p:spPr>
          <a:xfrm>
            <a:off x="4643862" y="4078501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17</a:t>
            </a:r>
          </a:p>
        </p:txBody>
      </p:sp>
      <p:sp>
        <p:nvSpPr>
          <p:cNvPr id="458" name="Google Shape;498;p32">
            <a:extLst>
              <a:ext uri="{FF2B5EF4-FFF2-40B4-BE49-F238E27FC236}">
                <a16:creationId xmlns:a16="http://schemas.microsoft.com/office/drawing/2014/main" id="{07A60B90-1B34-DC13-D9C5-BD4F32164CA8}"/>
              </a:ext>
            </a:extLst>
          </p:cNvPr>
          <p:cNvSpPr txBox="1">
            <a:spLocks/>
          </p:cNvSpPr>
          <p:nvPr/>
        </p:nvSpPr>
        <p:spPr>
          <a:xfrm>
            <a:off x="1509308" y="3171544"/>
            <a:ext cx="28245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" sz="1800" dirty="0"/>
              <a:t>Competitor Analysis</a:t>
            </a:r>
            <a:endParaRPr lang="en-US" sz="1800" dirty="0"/>
          </a:p>
        </p:txBody>
      </p:sp>
      <p:sp>
        <p:nvSpPr>
          <p:cNvPr id="459" name="Google Shape;498;p32">
            <a:extLst>
              <a:ext uri="{FF2B5EF4-FFF2-40B4-BE49-F238E27FC236}">
                <a16:creationId xmlns:a16="http://schemas.microsoft.com/office/drawing/2014/main" id="{A63130D1-204C-D0A7-73DC-47603B1BB21B}"/>
              </a:ext>
            </a:extLst>
          </p:cNvPr>
          <p:cNvSpPr txBox="1">
            <a:spLocks/>
          </p:cNvSpPr>
          <p:nvPr/>
        </p:nvSpPr>
        <p:spPr>
          <a:xfrm>
            <a:off x="5176387" y="1357632"/>
            <a:ext cx="2421706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System Design </a:t>
            </a:r>
          </a:p>
        </p:txBody>
      </p:sp>
      <p:sp>
        <p:nvSpPr>
          <p:cNvPr id="460" name="Google Shape;498;p32">
            <a:extLst>
              <a:ext uri="{FF2B5EF4-FFF2-40B4-BE49-F238E27FC236}">
                <a16:creationId xmlns:a16="http://schemas.microsoft.com/office/drawing/2014/main" id="{78E302E2-A16C-CAC7-C1F0-ACCDF8DF54E8}"/>
              </a:ext>
            </a:extLst>
          </p:cNvPr>
          <p:cNvSpPr txBox="1">
            <a:spLocks/>
          </p:cNvSpPr>
          <p:nvPr/>
        </p:nvSpPr>
        <p:spPr>
          <a:xfrm>
            <a:off x="1509308" y="4531977"/>
            <a:ext cx="2824567" cy="35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sz="1800" dirty="0"/>
              <a:t>Project Timeline</a:t>
            </a:r>
          </a:p>
        </p:txBody>
      </p:sp>
      <p:sp>
        <p:nvSpPr>
          <p:cNvPr id="461" name="Title 2">
            <a:extLst>
              <a:ext uri="{FF2B5EF4-FFF2-40B4-BE49-F238E27FC236}">
                <a16:creationId xmlns:a16="http://schemas.microsoft.com/office/drawing/2014/main" id="{D5702DFA-B0ED-79AE-3ACF-9F76452ACBBC}"/>
              </a:ext>
            </a:extLst>
          </p:cNvPr>
          <p:cNvSpPr txBox="1">
            <a:spLocks/>
          </p:cNvSpPr>
          <p:nvPr/>
        </p:nvSpPr>
        <p:spPr>
          <a:xfrm>
            <a:off x="944629" y="4531977"/>
            <a:ext cx="536970" cy="3536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1800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97668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D810D206-0D4E-8AEB-9432-35C00654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6">
            <a:extLst>
              <a:ext uri="{FF2B5EF4-FFF2-40B4-BE49-F238E27FC236}">
                <a16:creationId xmlns:a16="http://schemas.microsoft.com/office/drawing/2014/main" id="{8D3ECEFD-9552-C75D-F0F3-C9B8FFEBA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0157" y="170090"/>
            <a:ext cx="5037363" cy="5143499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78E88FF7-9E5A-060F-C845-E89F38FCFE95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FCBB25A2-90A4-722D-587C-9D0E914712AA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0D980E6E-2A48-E235-21C1-C39F691BAAC6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750168AF-E7B0-2A92-0FD0-84A7F48B6DE9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8BBE5870-8BD7-447C-223C-210CCCDDEA30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EC098880-89AE-1A42-4BC6-314C3E98DAC3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117A580C-ECFF-6F04-0574-3CCDF18F7ECD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A26D7473-6220-A1C9-FDF8-BD1E7303BCF8}"/>
              </a:ext>
            </a:extLst>
          </p:cNvPr>
          <p:cNvSpPr txBox="1">
            <a:spLocks noGrp="1"/>
          </p:cNvSpPr>
          <p:nvPr/>
        </p:nvSpPr>
        <p:spPr>
          <a:xfrm>
            <a:off x="222123" y="1219388"/>
            <a:ext cx="3313557" cy="268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7200" dirty="0"/>
              <a:t>Our</a:t>
            </a:r>
            <a:endParaRPr lang="en" sz="7200" dirty="0"/>
          </a:p>
          <a:p>
            <a:r>
              <a:rPr lang="en-US" sz="7200" dirty="0"/>
              <a:t>Team </a:t>
            </a:r>
            <a:endParaRPr lang="en" sz="72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9B954D5-5FA1-219D-EB76-85CEA1A8D683}"/>
              </a:ext>
            </a:extLst>
          </p:cNvPr>
          <p:cNvSpPr txBox="1">
            <a:spLocks/>
          </p:cNvSpPr>
          <p:nvPr/>
        </p:nvSpPr>
        <p:spPr>
          <a:xfrm>
            <a:off x="49952" y="474934"/>
            <a:ext cx="550825" cy="4396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64055-465A-07EB-DBF4-4FDD70FF68E8}"/>
              </a:ext>
            </a:extLst>
          </p:cNvPr>
          <p:cNvSpPr/>
          <p:nvPr/>
        </p:nvSpPr>
        <p:spPr>
          <a:xfrm>
            <a:off x="1" y="284118"/>
            <a:ext cx="65072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01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479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3E5D848B-577D-9A1F-E388-C15B40C2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6">
            <a:extLst>
              <a:ext uri="{FF2B5EF4-FFF2-40B4-BE49-F238E27FC236}">
                <a16:creationId xmlns:a16="http://schemas.microsoft.com/office/drawing/2014/main" id="{FB6056D6-3D2B-A5AD-296C-3581AADBE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0157" y="170090"/>
            <a:ext cx="5037363" cy="5143499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1AC63C16-A2AF-F71F-AA0B-0A7D1AB5CFDA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C3C0FCB5-FD27-D704-535D-27BCC94F7D84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6FDCEA30-44CF-3C72-412D-EB98C054EDB3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A03ADB8D-27FD-7668-25DA-93B11087DB5B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76C89E3B-4C1D-8556-DC58-281F091FB203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4085D594-1E63-D37C-286E-8192B118DC42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C35C5B49-38C7-3DD9-C240-C496D95045D5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09C1EBB6-8D37-F1B9-C51E-997C8A769BFD}"/>
              </a:ext>
            </a:extLst>
          </p:cNvPr>
          <p:cNvSpPr txBox="1">
            <a:spLocks noGrp="1"/>
          </p:cNvSpPr>
          <p:nvPr/>
        </p:nvSpPr>
        <p:spPr>
          <a:xfrm>
            <a:off x="222123" y="1219388"/>
            <a:ext cx="3313557" cy="268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-US" sz="7200" dirty="0"/>
              <a:t>Our</a:t>
            </a:r>
            <a:endParaRPr lang="en" sz="7200" dirty="0"/>
          </a:p>
          <a:p>
            <a:r>
              <a:rPr lang="en-US" sz="7200" dirty="0"/>
              <a:t>Team </a:t>
            </a:r>
            <a:endParaRPr lang="en" sz="72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B30852A-BE07-EE82-5A43-28D97A3CE604}"/>
              </a:ext>
            </a:extLst>
          </p:cNvPr>
          <p:cNvSpPr txBox="1">
            <a:spLocks/>
          </p:cNvSpPr>
          <p:nvPr/>
        </p:nvSpPr>
        <p:spPr>
          <a:xfrm>
            <a:off x="49952" y="474934"/>
            <a:ext cx="550825" cy="43961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C120BA-644E-7EDE-D19A-0BC6323BC0CA}"/>
              </a:ext>
            </a:extLst>
          </p:cNvPr>
          <p:cNvSpPr/>
          <p:nvPr/>
        </p:nvSpPr>
        <p:spPr>
          <a:xfrm>
            <a:off x="1" y="284118"/>
            <a:ext cx="283875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01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Our Team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587321-0807-E46F-932B-6F4839F54A45}"/>
              </a:ext>
            </a:extLst>
          </p:cNvPr>
          <p:cNvSpPr/>
          <p:nvPr/>
        </p:nvSpPr>
        <p:spPr>
          <a:xfrm>
            <a:off x="627270" y="132079"/>
            <a:ext cx="2244673" cy="1033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6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488">
          <a:extLst>
            <a:ext uri="{FF2B5EF4-FFF2-40B4-BE49-F238E27FC236}">
              <a16:creationId xmlns:a16="http://schemas.microsoft.com/office/drawing/2014/main" id="{5F4E0AA3-AF4F-66B1-CDE7-07740645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6F8EF8A-E755-E5FD-1589-02C263D8CB76}"/>
              </a:ext>
            </a:extLst>
          </p:cNvPr>
          <p:cNvSpPr/>
          <p:nvPr/>
        </p:nvSpPr>
        <p:spPr>
          <a:xfrm>
            <a:off x="2842150" y="132079"/>
            <a:ext cx="2244673" cy="10338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BD0422-5EA6-565B-03E7-5C08D3725A8E}"/>
              </a:ext>
            </a:extLst>
          </p:cNvPr>
          <p:cNvSpPr/>
          <p:nvPr/>
        </p:nvSpPr>
        <p:spPr>
          <a:xfrm>
            <a:off x="1" y="284118"/>
            <a:ext cx="283875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01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Our Team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AEC2F43-A539-8AAD-6A37-7FEC8D3EFE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86" b="6886"/>
          <a:stretch/>
        </p:blipFill>
        <p:spPr>
          <a:xfrm>
            <a:off x="658796" y="1297237"/>
            <a:ext cx="1377459" cy="137745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5DDC84-197D-7744-56C9-E9D36A1C90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477" b="19225"/>
          <a:stretch/>
        </p:blipFill>
        <p:spPr>
          <a:xfrm>
            <a:off x="5586850" y="1297237"/>
            <a:ext cx="1377458" cy="1377458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F24C4F97-C10A-7A44-5A3D-912280A5EB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313" b="12313"/>
          <a:stretch/>
        </p:blipFill>
        <p:spPr>
          <a:xfrm>
            <a:off x="7229534" y="1297237"/>
            <a:ext cx="1377458" cy="1377458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E0912C5-FB41-5D62-F38B-276776F7FD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930" b="12930"/>
          <a:stretch/>
        </p:blipFill>
        <p:spPr>
          <a:xfrm>
            <a:off x="2301481" y="1297237"/>
            <a:ext cx="1377459" cy="137745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30F883F-AEC2-4253-58D7-AE038F93475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345" b="29447"/>
          <a:stretch/>
        </p:blipFill>
        <p:spPr>
          <a:xfrm>
            <a:off x="3944166" y="1297237"/>
            <a:ext cx="1377458" cy="1377458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0" name="Google Shape;498;p32">
            <a:extLst>
              <a:ext uri="{FF2B5EF4-FFF2-40B4-BE49-F238E27FC236}">
                <a16:creationId xmlns:a16="http://schemas.microsoft.com/office/drawing/2014/main" id="{B01A5FCC-290A-7510-3301-B882744124A2}"/>
              </a:ext>
            </a:extLst>
          </p:cNvPr>
          <p:cNvSpPr txBox="1">
            <a:spLocks/>
          </p:cNvSpPr>
          <p:nvPr/>
        </p:nvSpPr>
        <p:spPr>
          <a:xfrm>
            <a:off x="564760" y="2770055"/>
            <a:ext cx="1471495" cy="5779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Heba Atef</a:t>
            </a:r>
          </a:p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Tolan</a:t>
            </a:r>
            <a:endParaRPr lang="en-US" sz="1600" b="1" i="1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6183A1-02DE-DAF1-6D5B-0AF2B15A2F1E}"/>
              </a:ext>
            </a:extLst>
          </p:cNvPr>
          <p:cNvSpPr txBox="1"/>
          <p:nvPr/>
        </p:nvSpPr>
        <p:spPr>
          <a:xfrm>
            <a:off x="3820160" y="2805981"/>
            <a:ext cx="17942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Mennat-Allah Medhat </a:t>
            </a:r>
            <a:endParaRPr lang="en-US" sz="1600" b="1" i="1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7C75A8-5464-99A1-13D9-44F9C6092DDB}"/>
              </a:ext>
            </a:extLst>
          </p:cNvPr>
          <p:cNvSpPr txBox="1"/>
          <p:nvPr/>
        </p:nvSpPr>
        <p:spPr>
          <a:xfrm>
            <a:off x="2301481" y="2770055"/>
            <a:ext cx="1642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Mennat-Allah Yousri </a:t>
            </a:r>
            <a:endParaRPr lang="en-US" sz="1600" b="1" i="1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3D23DD-A03D-4B1B-7B64-9523C44A2A59}"/>
              </a:ext>
            </a:extLst>
          </p:cNvPr>
          <p:cNvSpPr txBox="1"/>
          <p:nvPr/>
        </p:nvSpPr>
        <p:spPr>
          <a:xfrm>
            <a:off x="5462845" y="2815387"/>
            <a:ext cx="16426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Sohila Ayman Lashien </a:t>
            </a:r>
            <a:endParaRPr lang="en-US" sz="1600" b="1" i="1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C11A48-BB07-AEE8-8EDD-2AC5601CFA2D}"/>
              </a:ext>
            </a:extLst>
          </p:cNvPr>
          <p:cNvSpPr txBox="1"/>
          <p:nvPr/>
        </p:nvSpPr>
        <p:spPr>
          <a:xfrm>
            <a:off x="7133098" y="2824793"/>
            <a:ext cx="1736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1600" b="1" i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Abdelrahman El-Sayed</a:t>
            </a:r>
            <a:endParaRPr lang="en-US" sz="1600" b="1" i="1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8B5CFF-196E-E7F2-8AC7-81168C2E589F}"/>
              </a:ext>
            </a:extLst>
          </p:cNvPr>
          <p:cNvSpPr txBox="1"/>
          <p:nvPr/>
        </p:nvSpPr>
        <p:spPr>
          <a:xfrm>
            <a:off x="3122254" y="3628579"/>
            <a:ext cx="271946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solidFill>
                  <a:schemeClr val="dk1"/>
                </a:solidFill>
                <a:latin typeface="Archivo Black"/>
                <a:cs typeface="Archivo Black"/>
                <a:sym typeface="Archivo Black"/>
              </a:rPr>
              <a:t>Supervised by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1515D0-5900-1A19-C612-1E461EA6C1BA}"/>
              </a:ext>
            </a:extLst>
          </p:cNvPr>
          <p:cNvSpPr txBox="1"/>
          <p:nvPr/>
        </p:nvSpPr>
        <p:spPr>
          <a:xfrm>
            <a:off x="1326348" y="4235506"/>
            <a:ext cx="65950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 err="1">
                <a:solidFill>
                  <a:schemeClr val="dk1"/>
                </a:solidFill>
                <a:cs typeface="Archivo"/>
                <a:sym typeface="Archivo"/>
              </a:rPr>
              <a:t>Assoc.Prof</a:t>
            </a:r>
            <a:r>
              <a:rPr lang="en-US" sz="2400" b="1" i="1">
                <a:solidFill>
                  <a:schemeClr val="dk1"/>
                </a:solidFill>
                <a:cs typeface="Archivo"/>
                <a:sym typeface="Archivo"/>
              </a:rPr>
              <a:t>. Mina Ibrahim Samaan Ibrahim</a:t>
            </a:r>
            <a:r>
              <a:rPr lang="en-US" sz="2400" b="1" i="1"/>
              <a:t> </a:t>
            </a:r>
            <a:endParaRPr lang="en-US" sz="2400" i="1"/>
          </a:p>
        </p:txBody>
      </p:sp>
    </p:spTree>
    <p:extLst>
      <p:ext uri="{BB962C8B-B14F-4D97-AF65-F5344CB8AC3E}">
        <p14:creationId xmlns:p14="http://schemas.microsoft.com/office/powerpoint/2010/main" val="1989075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4401A7F9-24BA-EAF6-5EFF-D9CA5C39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8F67A3-54F8-F564-4574-1E7C6A79553B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artoon of a person wearing a hat&#10;&#10;AI-generated content may be incorrect.">
            <a:extLst>
              <a:ext uri="{FF2B5EF4-FFF2-40B4-BE49-F238E27FC236}">
                <a16:creationId xmlns:a16="http://schemas.microsoft.com/office/drawing/2014/main" id="{6323CD50-342C-582F-4559-F7B2CD64F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51" y="0"/>
            <a:ext cx="4144879" cy="5143500"/>
          </a:xfrm>
          <a:prstGeom prst="rect">
            <a:avLst/>
          </a:prstGeom>
          <a:ln>
            <a:noFill/>
          </a:ln>
        </p:spPr>
      </p:pic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416076EB-EC71-FAA6-F8F3-A3F9496EB394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B8301B8F-5C4D-6109-CEE4-D81F8B8EC00D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CECB4788-8B18-0019-109E-A05DB3448F7A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36D16063-339F-9391-970F-C6EC36AFC128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30D37013-CD50-9A45-7FCE-5645B52DC8CE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7DD257F0-6A66-A2BC-5352-0612E8703916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C4E6DE2F-88FA-3F46-4694-7612EC104C6F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27FE0EB9-2FD2-4910-0229-9BB97AEC69D4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06;p33">
            <a:extLst>
              <a:ext uri="{FF2B5EF4-FFF2-40B4-BE49-F238E27FC236}">
                <a16:creationId xmlns:a16="http://schemas.microsoft.com/office/drawing/2014/main" id="{5146B5A7-8B9E-21E7-B537-019487332BB3}"/>
              </a:ext>
            </a:extLst>
          </p:cNvPr>
          <p:cNvSpPr txBox="1">
            <a:spLocks noGrp="1"/>
          </p:cNvSpPr>
          <p:nvPr/>
        </p:nvSpPr>
        <p:spPr>
          <a:xfrm>
            <a:off x="82574" y="1565320"/>
            <a:ext cx="5199291" cy="120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sz="7200"/>
              <a:t>Challenges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CFFEDB-612B-8E36-5CB5-D24B4D31D82F}"/>
              </a:ext>
            </a:extLst>
          </p:cNvPr>
          <p:cNvSpPr/>
          <p:nvPr/>
        </p:nvSpPr>
        <p:spPr>
          <a:xfrm>
            <a:off x="1" y="284118"/>
            <a:ext cx="283875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02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Challenges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0BE039-3D38-C407-0497-D295B9DE9DAD}"/>
              </a:ext>
            </a:extLst>
          </p:cNvPr>
          <p:cNvSpPr/>
          <p:nvPr/>
        </p:nvSpPr>
        <p:spPr>
          <a:xfrm>
            <a:off x="650253" y="284118"/>
            <a:ext cx="2191054" cy="743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36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/>
          <p:cNvGrpSpPr/>
          <p:nvPr/>
        </p:nvGrpSpPr>
        <p:grpSpPr>
          <a:xfrm>
            <a:off x="5100984" y="-343157"/>
            <a:ext cx="5490816" cy="5475238"/>
            <a:chOff x="5100984" y="-343157"/>
            <a:chExt cx="5490816" cy="5475238"/>
          </a:xfrm>
        </p:grpSpPr>
        <p:sp>
          <p:nvSpPr>
            <p:cNvPr id="517" name="Google Shape;517;p34"/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508;p33">
            <a:extLst>
              <a:ext uri="{FF2B5EF4-FFF2-40B4-BE49-F238E27FC236}">
                <a16:creationId xmlns:a16="http://schemas.microsoft.com/office/drawing/2014/main" id="{5D8ECFDC-DD6A-EB38-E80E-5E143197742B}"/>
              </a:ext>
            </a:extLst>
          </p:cNvPr>
          <p:cNvSpPr txBox="1">
            <a:spLocks/>
          </p:cNvSpPr>
          <p:nvPr/>
        </p:nvSpPr>
        <p:spPr>
          <a:xfrm>
            <a:off x="1135473" y="2189333"/>
            <a:ext cx="2897641" cy="7625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Unsuitable Environmental </a:t>
            </a:r>
          </a:p>
          <a:p>
            <a:r>
              <a:rPr lang="e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Conditions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Courier New"/>
              <a:buChar char="o"/>
            </a:pPr>
            <a:endParaRPr lang="en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19149-CB30-202A-51AD-59558A30FFF6}"/>
              </a:ext>
            </a:extLst>
          </p:cNvPr>
          <p:cNvSpPr txBox="1"/>
          <p:nvPr/>
        </p:nvSpPr>
        <p:spPr>
          <a:xfrm>
            <a:off x="328176" y="3940136"/>
            <a:ext cx="3042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>
                <a:solidFill>
                  <a:schemeClr val="tx1"/>
                </a:solidFill>
              </a:rPr>
              <a:t>Delayed Disease</a:t>
            </a:r>
          </a:p>
          <a:p>
            <a:r>
              <a:rPr lang="en" sz="1800">
                <a:solidFill>
                  <a:schemeClr val="tx1"/>
                </a:solidFill>
              </a:rPr>
              <a:t>     Detection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E3238-92C3-DB10-4684-B001BD618FFC}"/>
              </a:ext>
            </a:extLst>
          </p:cNvPr>
          <p:cNvSpPr txBox="1"/>
          <p:nvPr/>
        </p:nvSpPr>
        <p:spPr>
          <a:xfrm>
            <a:off x="3564606" y="3935093"/>
            <a:ext cx="1808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" sz="1800">
                <a:solidFill>
                  <a:schemeClr val="tx1"/>
                </a:solidFill>
              </a:rPr>
              <a:t>High Costs </a:t>
            </a:r>
          </a:p>
          <a:p>
            <a:pPr marL="0" indent="0" algn="ctr"/>
            <a:r>
              <a:rPr lang="en" sz="1800">
                <a:solidFill>
                  <a:schemeClr val="tx1"/>
                </a:solidFill>
              </a:rPr>
              <a:t> for Feed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E6C6B-CCDE-4C66-70A7-B121005D047F}"/>
              </a:ext>
            </a:extLst>
          </p:cNvPr>
          <p:cNvSpPr txBox="1"/>
          <p:nvPr/>
        </p:nvSpPr>
        <p:spPr>
          <a:xfrm>
            <a:off x="4463922" y="2244255"/>
            <a:ext cx="3121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" sz="1800">
                <a:solidFill>
                  <a:schemeClr val="tx1"/>
                </a:solidFill>
              </a:rPr>
              <a:t>Water Shortage </a:t>
            </a:r>
          </a:p>
          <a:p>
            <a:pPr marL="0" indent="0" algn="ctr"/>
            <a:r>
              <a:rPr lang="en" sz="1800">
                <a:solidFill>
                  <a:schemeClr val="tx1"/>
                </a:solidFill>
              </a:rPr>
              <a:t>or Waste</a:t>
            </a:r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0924B0-A054-7A4A-C6B0-02E4576D4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37" y="3223080"/>
            <a:ext cx="572700" cy="5727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042D4-8E46-2131-EE3F-008204D6AD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30506" y="1499326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B509EF-E191-0C59-16CC-C35938DEC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441" y="3226109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D0CB8A-1660-0875-3EFC-87205739B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3402" y="1504627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AABDA70-3062-467B-0AD8-D085808297C5}"/>
              </a:ext>
            </a:extLst>
          </p:cNvPr>
          <p:cNvSpPr/>
          <p:nvPr/>
        </p:nvSpPr>
        <p:spPr>
          <a:xfrm>
            <a:off x="5475775" y="4461114"/>
            <a:ext cx="2304581" cy="5197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E2F373-CE5A-4A53-3075-04B1AF86A276}"/>
              </a:ext>
            </a:extLst>
          </p:cNvPr>
          <p:cNvSpPr/>
          <p:nvPr/>
        </p:nvSpPr>
        <p:spPr>
          <a:xfrm>
            <a:off x="1" y="284118"/>
            <a:ext cx="283875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02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Challenges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17DC0-2D0A-C258-16CF-300840DEF738}"/>
              </a:ext>
            </a:extLst>
          </p:cNvPr>
          <p:cNvSpPr/>
          <p:nvPr/>
        </p:nvSpPr>
        <p:spPr>
          <a:xfrm>
            <a:off x="2842150" y="284118"/>
            <a:ext cx="2244673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4CA105-D30F-0D6E-ECE3-0F8A5BFA9BF2}"/>
              </a:ext>
            </a:extLst>
          </p:cNvPr>
          <p:cNvSpPr txBox="1"/>
          <p:nvPr/>
        </p:nvSpPr>
        <p:spPr>
          <a:xfrm>
            <a:off x="6208862" y="393903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solidFill>
                  <a:schemeClr val="tx1"/>
                </a:solidFill>
                <a:ea typeface="Roboto"/>
                <a:cs typeface="Roboto"/>
              </a:rPr>
              <a:t>Lack of Trusted Expert Guidance</a:t>
            </a:r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9" name="Picture 18" descr="A blue outline of a person with arrows pointing to the top&#10;&#10;AI-generated content may be incorrect.">
            <a:extLst>
              <a:ext uri="{FF2B5EF4-FFF2-40B4-BE49-F238E27FC236}">
                <a16:creationId xmlns:a16="http://schemas.microsoft.com/office/drawing/2014/main" id="{F7537118-D998-DB9D-58A6-7A4A1C87DA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289950" y="3226109"/>
            <a:ext cx="572400" cy="572400"/>
          </a:xfrm>
          <a:prstGeom prst="ellipse">
            <a:avLst/>
          </a:prstGeom>
          <a:ln w="63500" cap="rnd">
            <a:solidFill>
              <a:srgbClr val="FFFFFF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03122B2-8E88-528E-A4FC-FCCCAB8E9185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/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person standing next to a cow&#10;&#10;AI-generated content may be incorrect.">
            <a:extLst>
              <a:ext uri="{FF2B5EF4-FFF2-40B4-BE49-F238E27FC236}">
                <a16:creationId xmlns:a16="http://schemas.microsoft.com/office/drawing/2014/main" id="{54B5C12B-A40D-4C17-7115-C3562868D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638" y="137948"/>
            <a:ext cx="5414948" cy="4857750"/>
          </a:xfrm>
          <a:prstGeom prst="rect">
            <a:avLst/>
          </a:prstGeom>
          <a:ln>
            <a:noFill/>
          </a:ln>
        </p:spPr>
      </p:pic>
      <p:grpSp>
        <p:nvGrpSpPr>
          <p:cNvPr id="516" name="Google Shape;516;p34"/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/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D5F9A8D-65DB-65D3-E66F-37C1E67A60FE}"/>
              </a:ext>
            </a:extLst>
          </p:cNvPr>
          <p:cNvSpPr txBox="1"/>
          <p:nvPr/>
        </p:nvSpPr>
        <p:spPr>
          <a:xfrm>
            <a:off x="200025" y="1985963"/>
            <a:ext cx="493097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200" b="1">
                <a:solidFill>
                  <a:srgbClr val="092241"/>
                </a:solidFill>
                <a:latin typeface="Archivo Black"/>
              </a:rPr>
              <a:t>Our Solution</a:t>
            </a:r>
            <a:r>
              <a:rPr lang="en-US" sz="7200" b="1">
                <a:latin typeface="Archivo Black"/>
                <a:cs typeface="Archivo Black"/>
              </a:rPr>
              <a:t>​</a:t>
            </a:r>
            <a:endParaRPr lang="en-US" sz="7200" b="1">
              <a:latin typeface="Archivo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028B0-DDFF-9114-8F0B-23A404E390F8}"/>
              </a:ext>
            </a:extLst>
          </p:cNvPr>
          <p:cNvSpPr/>
          <p:nvPr/>
        </p:nvSpPr>
        <p:spPr>
          <a:xfrm>
            <a:off x="1" y="284118"/>
            <a:ext cx="311637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03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Our Solution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0D6C5-DC63-94B3-394D-093D86A3523D}"/>
              </a:ext>
            </a:extLst>
          </p:cNvPr>
          <p:cNvSpPr/>
          <p:nvPr/>
        </p:nvSpPr>
        <p:spPr>
          <a:xfrm>
            <a:off x="604683" y="284118"/>
            <a:ext cx="2511694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0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EF0B7FE0-89D1-618E-F398-2984FB17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28BDB7BD-C149-D56F-2B2C-D4BB8E595836}"/>
              </a:ext>
            </a:extLst>
          </p:cNvPr>
          <p:cNvSpPr/>
          <p:nvPr/>
        </p:nvSpPr>
        <p:spPr>
          <a:xfrm rot="-8100000" flipH="1">
            <a:off x="7791235" y="3581491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28AA6ACE-E00B-ECCF-355D-78B4B4907A9C}"/>
              </a:ext>
            </a:extLst>
          </p:cNvPr>
          <p:cNvGrpSpPr/>
          <p:nvPr/>
        </p:nvGrpSpPr>
        <p:grpSpPr>
          <a:xfrm>
            <a:off x="5217098" y="-502814"/>
            <a:ext cx="5490816" cy="5475238"/>
            <a:chOff x="5100984" y="-343157"/>
            <a:chExt cx="5490816" cy="5475238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04F7A6EF-5B71-015C-0215-3DB193477771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6CF02DFD-09F5-0BBC-F6E8-EBC222A5AD04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5ED3899B-3EE7-679B-D841-FC54CDA33775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D4A63F2F-032B-350C-FFF0-657AF4E8859D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84144D3F-1867-0435-68DA-72D4B39DCFE0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1021E66E-1BB1-F82E-CE85-54087D1F91F8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4F897FA-83F2-2FA0-E33B-E27A16979613}"/>
              </a:ext>
            </a:extLst>
          </p:cNvPr>
          <p:cNvSpPr txBox="1"/>
          <p:nvPr/>
        </p:nvSpPr>
        <p:spPr>
          <a:xfrm>
            <a:off x="134910" y="1735866"/>
            <a:ext cx="669128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tx1"/>
                </a:solidFill>
                <a:ea typeface="Times New Roman" panose="02020603050405020304" pitchFamily="18" charset="0"/>
              </a:rPr>
              <a:t>A system uses modern technology such as AI and IoT to develop traditional livestock raising methods.</a:t>
            </a:r>
          </a:p>
          <a:p>
            <a:endParaRPr lang="en-US" sz="1800"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tx1"/>
                </a:solidFill>
                <a:ea typeface="Times New Roman" panose="02020603050405020304" pitchFamily="18" charset="0"/>
              </a:rPr>
              <a:t>The administrator can depend on the system to make automatic needs, get immediate information, and take correct decisions. This will improve animal care and increase profits.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FD781-A36B-9F97-C74D-1F3A55281BD5}"/>
              </a:ext>
            </a:extLst>
          </p:cNvPr>
          <p:cNvSpPr/>
          <p:nvPr/>
        </p:nvSpPr>
        <p:spPr>
          <a:xfrm>
            <a:off x="1" y="284118"/>
            <a:ext cx="311637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03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Our Solution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231654-A115-0A9B-A64B-7B1FA3C3BE58}"/>
              </a:ext>
            </a:extLst>
          </p:cNvPr>
          <p:cNvSpPr/>
          <p:nvPr/>
        </p:nvSpPr>
        <p:spPr>
          <a:xfrm>
            <a:off x="3116377" y="284118"/>
            <a:ext cx="2511694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9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4DCDA205-311A-DCDC-63EF-AA49B0A0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51C9927B-7665-F7D8-CA41-3001E49AE223}"/>
              </a:ext>
            </a:extLst>
          </p:cNvPr>
          <p:cNvSpPr/>
          <p:nvPr/>
        </p:nvSpPr>
        <p:spPr>
          <a:xfrm rot="-8100000" flipH="1">
            <a:off x="7791235" y="3581491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EBA1C-EABE-45D9-79A6-9A0B4612D383}"/>
              </a:ext>
            </a:extLst>
          </p:cNvPr>
          <p:cNvSpPr/>
          <p:nvPr/>
        </p:nvSpPr>
        <p:spPr>
          <a:xfrm>
            <a:off x="1" y="284118"/>
            <a:ext cx="311637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03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Our Solution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6523D-D916-AD9B-AFB0-F3774A7969D9}"/>
              </a:ext>
            </a:extLst>
          </p:cNvPr>
          <p:cNvSpPr/>
          <p:nvPr/>
        </p:nvSpPr>
        <p:spPr>
          <a:xfrm>
            <a:off x="3116377" y="284118"/>
            <a:ext cx="2511694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46F9D-247A-5F4B-6D9E-5FCD9B2AD1D7}"/>
              </a:ext>
            </a:extLst>
          </p:cNvPr>
          <p:cNvSpPr txBox="1"/>
          <p:nvPr/>
        </p:nvSpPr>
        <p:spPr>
          <a:xfrm>
            <a:off x="764693" y="158470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 Detection of Diseases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1E8243-B46C-423D-1A5F-1C04B177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60" y="1584702"/>
            <a:ext cx="369333" cy="36933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C0685A-46F8-25EE-8ED8-23082ECC4D02}"/>
              </a:ext>
            </a:extLst>
          </p:cNvPr>
          <p:cNvSpPr txBox="1"/>
          <p:nvPr/>
        </p:nvSpPr>
        <p:spPr>
          <a:xfrm>
            <a:off x="764693" y="245511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Water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anagement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6BB338-8010-D421-260D-4F311F5DB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61" y="2457236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90B8A0-06E2-1DCB-974D-61531E137874}"/>
              </a:ext>
            </a:extLst>
          </p:cNvPr>
          <p:cNvSpPr txBox="1"/>
          <p:nvPr/>
        </p:nvSpPr>
        <p:spPr>
          <a:xfrm>
            <a:off x="764693" y="33218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Monitoring Environmental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onditions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A0C95B-9928-C97F-4C77-A63341CD2AD9}"/>
              </a:ext>
            </a:extLst>
          </p:cNvPr>
          <p:cNvSpPr txBox="1"/>
          <p:nvPr/>
        </p:nvSpPr>
        <p:spPr>
          <a:xfrm>
            <a:off x="5744735" y="1584406"/>
            <a:ext cx="4593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eal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ime Monitoring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07D022-4102-E2ED-0C68-A145A05422C0}"/>
              </a:ext>
            </a:extLst>
          </p:cNvPr>
          <p:cNvSpPr txBox="1"/>
          <p:nvPr/>
        </p:nvSpPr>
        <p:spPr>
          <a:xfrm>
            <a:off x="5744735" y="2451285"/>
            <a:ext cx="4733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Data Collection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4422B6-68B9-C18C-D4C4-44CED5750D2D}"/>
              </a:ext>
            </a:extLst>
          </p:cNvPr>
          <p:cNvSpPr txBox="1"/>
          <p:nvPr/>
        </p:nvSpPr>
        <p:spPr>
          <a:xfrm>
            <a:off x="5744735" y="4110983"/>
            <a:ext cx="4803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Smart Application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BBEFB-8A52-12EA-E041-8C8A4B16C309}"/>
              </a:ext>
            </a:extLst>
          </p:cNvPr>
          <p:cNvSpPr txBox="1"/>
          <p:nvPr/>
        </p:nvSpPr>
        <p:spPr>
          <a:xfrm>
            <a:off x="764693" y="4101699"/>
            <a:ext cx="498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Feed Analysis and Cost 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800" b="0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eduction 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DBF604-49AB-7455-D0E9-2161AE26A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515" y="4110983"/>
            <a:ext cx="369333" cy="3693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23DC61-557B-D926-0162-A6F5CC3E2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1516" y="1584406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3069A2-952E-73CD-2BE7-A28B927EFC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515" y="2451284"/>
            <a:ext cx="369333" cy="3693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816CAB-E5C4-F63D-469C-EF6F4F2D35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95360" y="4101699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00C029-BC9C-9864-7B3B-DC70DBF2F9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360" y="3319739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 descr="A blue and grey cartoon robot with a speech bubble&#10;&#10;AI-generated content may be incorrect.">
            <a:extLst>
              <a:ext uri="{FF2B5EF4-FFF2-40B4-BE49-F238E27FC236}">
                <a16:creationId xmlns:a16="http://schemas.microsoft.com/office/drawing/2014/main" id="{561E29A2-FA59-7101-25F8-D9C76A938DE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271515" y="3323822"/>
            <a:ext cx="369333" cy="3693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F407A22-8C0F-0D35-7385-F746488F5215}"/>
                  </a:ext>
                </a:extLst>
              </p14:cNvPr>
              <p14:cNvContentPartPr/>
              <p14:nvPr/>
            </p14:nvContentPartPr>
            <p14:xfrm>
              <a:off x="6450904" y="4736403"/>
              <a:ext cx="9785" cy="9785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F407A22-8C0F-0D35-7385-F746488F52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61654" y="4247153"/>
                <a:ext cx="978500" cy="9785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24EFBEE-0291-0DF1-6701-AC26D51A67EC}"/>
              </a:ext>
            </a:extLst>
          </p:cNvPr>
          <p:cNvSpPr txBox="1"/>
          <p:nvPr/>
        </p:nvSpPr>
        <p:spPr>
          <a:xfrm>
            <a:off x="5745192" y="3324405"/>
            <a:ext cx="37136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chemeClr val="tx1"/>
                </a:solidFill>
                <a:ea typeface="Roboto"/>
                <a:cs typeface="Roboto"/>
              </a:rPr>
              <a:t>Smart Chatbot Powered by AI</a:t>
            </a:r>
            <a:endParaRPr lang="en-US" sz="1800">
              <a:solidFill>
                <a:schemeClr val="tx1"/>
              </a:solidFill>
            </a:endParaRPr>
          </a:p>
        </p:txBody>
      </p:sp>
      <p:grpSp>
        <p:nvGrpSpPr>
          <p:cNvPr id="4" name="Google Shape;516;p34">
            <a:extLst>
              <a:ext uri="{FF2B5EF4-FFF2-40B4-BE49-F238E27FC236}">
                <a16:creationId xmlns:a16="http://schemas.microsoft.com/office/drawing/2014/main" id="{606C729D-F28C-B370-25F5-AA6DA321A701}"/>
              </a:ext>
            </a:extLst>
          </p:cNvPr>
          <p:cNvGrpSpPr/>
          <p:nvPr/>
        </p:nvGrpSpPr>
        <p:grpSpPr>
          <a:xfrm>
            <a:off x="6140829" y="-890740"/>
            <a:ext cx="5490816" cy="5475238"/>
            <a:chOff x="5100984" y="-343157"/>
            <a:chExt cx="5490816" cy="5475238"/>
          </a:xfrm>
        </p:grpSpPr>
        <p:sp>
          <p:nvSpPr>
            <p:cNvPr id="5" name="Google Shape;517;p34">
              <a:extLst>
                <a:ext uri="{FF2B5EF4-FFF2-40B4-BE49-F238E27FC236}">
                  <a16:creationId xmlns:a16="http://schemas.microsoft.com/office/drawing/2014/main" id="{24A3FA31-A9D0-6CD6-589C-F39CA591DC44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4">
              <a:extLst>
                <a:ext uri="{FF2B5EF4-FFF2-40B4-BE49-F238E27FC236}">
                  <a16:creationId xmlns:a16="http://schemas.microsoft.com/office/drawing/2014/main" id="{9D636AD5-2D30-F655-E683-DA978FE82C64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19;p34">
              <a:extLst>
                <a:ext uri="{FF2B5EF4-FFF2-40B4-BE49-F238E27FC236}">
                  <a16:creationId xmlns:a16="http://schemas.microsoft.com/office/drawing/2014/main" id="{D5A85F09-AE8F-7A95-0317-DDF5DAE3407E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20;p34">
              <a:extLst>
                <a:ext uri="{FF2B5EF4-FFF2-40B4-BE49-F238E27FC236}">
                  <a16:creationId xmlns:a16="http://schemas.microsoft.com/office/drawing/2014/main" id="{C8D14D66-330C-7552-796E-264E99858AAA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21;p34">
              <a:extLst>
                <a:ext uri="{FF2B5EF4-FFF2-40B4-BE49-F238E27FC236}">
                  <a16:creationId xmlns:a16="http://schemas.microsoft.com/office/drawing/2014/main" id="{1ECFC1B6-7FA0-2359-5AE8-0FBBEDC06050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22;p34">
              <a:extLst>
                <a:ext uri="{FF2B5EF4-FFF2-40B4-BE49-F238E27FC236}">
                  <a16:creationId xmlns:a16="http://schemas.microsoft.com/office/drawing/2014/main" id="{50C71834-1670-5746-85D7-8D3F914E99F7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5730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03A5B698-C839-A151-BB72-36F599C72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A00F76-631A-1AED-1940-14111D80F9A5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standing on a computer monitor&#10;&#10;AI-generated content may be incorrect.">
            <a:extLst>
              <a:ext uri="{FF2B5EF4-FFF2-40B4-BE49-F238E27FC236}">
                <a16:creationId xmlns:a16="http://schemas.microsoft.com/office/drawing/2014/main" id="{BEB079D4-5EF3-E0FA-2F2A-3FF95E878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534" y="480060"/>
            <a:ext cx="5220999" cy="4406349"/>
          </a:xfrm>
          <a:prstGeom prst="rect">
            <a:avLst/>
          </a:prstGeom>
          <a:ln>
            <a:noFill/>
          </a:ln>
        </p:spPr>
      </p:pic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31D2894F-7A73-7ED2-67BA-A3BB0280043B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BCE63BB6-3E97-9075-8735-BD5B43C2F1CF}"/>
              </a:ext>
            </a:extLst>
          </p:cNvPr>
          <p:cNvGrpSpPr/>
          <p:nvPr/>
        </p:nvGrpSpPr>
        <p:grpSpPr>
          <a:xfrm rot="5400000">
            <a:off x="6374352" y="217844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73F476EC-4D0D-8B92-5FB4-428283E8FB67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3A3C4E00-F742-B6A5-9C5A-771FE73CA304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26A25205-D7E5-C5D5-ADFB-25B1724DCB00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BC33B5AA-9CEC-4760-3DD7-7AF747FFAE84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A9D35107-9176-026E-2946-79D676B06992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709FC2B4-9600-94B5-7B6D-178B8EB8AF7F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A4E4380A-DBDA-1022-2402-F89F2A976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948" y="13380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7200"/>
              <a:t>Market</a:t>
            </a:r>
            <a:br>
              <a:rPr lang="en" sz="7200"/>
            </a:br>
            <a:r>
              <a:rPr lang="en-US" sz="7200"/>
              <a:t>Analysis </a:t>
            </a:r>
            <a:endParaRPr lang="en" sz="7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4ADAA-5B3E-76CE-EA21-6A68432C6044}"/>
              </a:ext>
            </a:extLst>
          </p:cNvPr>
          <p:cNvSpPr/>
          <p:nvPr/>
        </p:nvSpPr>
        <p:spPr>
          <a:xfrm>
            <a:off x="1" y="284118"/>
            <a:ext cx="3425294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aseline="0" dirty="0">
                <a:solidFill>
                  <a:srgbClr val="092241"/>
                </a:solidFill>
                <a:latin typeface="Archivo Black"/>
              </a:rPr>
              <a:t>04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r>
              <a:rPr lang="en" sz="3200" b="1" dirty="0">
                <a:solidFill>
                  <a:schemeClr val="tx1"/>
                </a:solidFill>
                <a:latin typeface="Arial"/>
                <a:cs typeface="Arial"/>
              </a:rPr>
              <a:t>Global Market</a:t>
            </a: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EAA355-D225-CAC3-6D6C-1A1A5898F8AB}"/>
              </a:ext>
            </a:extLst>
          </p:cNvPr>
          <p:cNvSpPr/>
          <p:nvPr/>
        </p:nvSpPr>
        <p:spPr>
          <a:xfrm>
            <a:off x="604683" y="284118"/>
            <a:ext cx="2820612" cy="7435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19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title="Inserting image...">
            <a:extLst>
              <a:ext uri="{FF2B5EF4-FFF2-40B4-BE49-F238E27FC236}">
                <a16:creationId xmlns:a16="http://schemas.microsoft.com/office/drawing/2014/main" id="{66F62B78-B05E-E652-5EBE-925B06D3B9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73" y="1431493"/>
            <a:ext cx="3965954" cy="2571750"/>
          </a:xfrm>
          <a:prstGeom prst="rect">
            <a:avLst/>
          </a:prstGeom>
        </p:spPr>
      </p:pic>
      <p:pic>
        <p:nvPicPr>
          <p:cNvPr id="3" name="Picture 2" title="Inserting image...">
            <a:extLst>
              <a:ext uri="{FF2B5EF4-FFF2-40B4-BE49-F238E27FC236}">
                <a16:creationId xmlns:a16="http://schemas.microsoft.com/office/drawing/2014/main" id="{99FCD73B-44A7-604D-DC9A-C9C284CF8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969" y="1432293"/>
            <a:ext cx="3922923" cy="2571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F08F81-EE08-6FA7-EF10-23BCD2B995B0}"/>
              </a:ext>
            </a:extLst>
          </p:cNvPr>
          <p:cNvSpPr txBox="1"/>
          <p:nvPr/>
        </p:nvSpPr>
        <p:spPr>
          <a:xfrm>
            <a:off x="-608835" y="4117244"/>
            <a:ext cx="5591331" cy="320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685800">
              <a:lnSpc>
                <a:spcPct val="116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b="1">
                <a:solidFill>
                  <a:schemeClr val="tx1"/>
                </a:solidFill>
                <a:ea typeface="Aptos" panose="020B0004020202020204" pitchFamily="34" charset="0"/>
              </a:rPr>
              <a:t>E</a:t>
            </a:r>
            <a:r>
              <a:rPr lang="en-US" b="1">
                <a:solidFill>
                  <a:schemeClr val="tx1"/>
                </a:solidFill>
                <a:effectLst/>
                <a:ea typeface="Aptos" panose="020B0004020202020204" pitchFamily="34" charset="0"/>
              </a:rPr>
              <a:t>xpanding at a CAGR of 15.40% from 2024 to 2034.</a:t>
            </a:r>
            <a:endParaRPr lang="en-US" b="1"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B79C0-0987-E6E5-E408-A3CA82676549}"/>
              </a:ext>
            </a:extLst>
          </p:cNvPr>
          <p:cNvSpPr txBox="1"/>
          <p:nvPr/>
        </p:nvSpPr>
        <p:spPr>
          <a:xfrm>
            <a:off x="4270804" y="4120953"/>
            <a:ext cx="4611413" cy="320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>
              <a:lnSpc>
                <a:spcPct val="116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b="1">
                <a:solidFill>
                  <a:schemeClr val="tx1"/>
                </a:solidFill>
                <a:ea typeface="Aptos" panose="020B0004020202020204" pitchFamily="34" charset="0"/>
              </a:rPr>
              <a:t>R</a:t>
            </a:r>
            <a:r>
              <a:rPr lang="en-US" b="1">
                <a:solidFill>
                  <a:schemeClr val="tx1"/>
                </a:solidFill>
                <a:effectLst/>
                <a:ea typeface="Aptos" panose="020B0004020202020204" pitchFamily="34" charset="0"/>
              </a:rPr>
              <a:t>ising at a CAGR of 15.60% from 2024 to 2034.</a:t>
            </a:r>
            <a:endParaRPr lang="en-US" b="1"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041876-0B77-EAB1-6DD9-B4C68E82E30E}"/>
              </a:ext>
            </a:extLst>
          </p:cNvPr>
          <p:cNvSpPr/>
          <p:nvPr/>
        </p:nvSpPr>
        <p:spPr>
          <a:xfrm>
            <a:off x="1" y="284118"/>
            <a:ext cx="3425294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aseline="0" dirty="0">
                <a:solidFill>
                  <a:srgbClr val="092241"/>
                </a:solidFill>
                <a:latin typeface="Archivo Black"/>
              </a:rPr>
              <a:t>04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r>
              <a:rPr lang="en" sz="3200" b="1" dirty="0">
                <a:solidFill>
                  <a:schemeClr val="tx1"/>
                </a:solidFill>
                <a:latin typeface="Arial"/>
                <a:cs typeface="Arial"/>
              </a:rPr>
              <a:t>Global Market</a:t>
            </a: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FD7DF-1FE2-7E48-A854-D4DB3E3EB85C}"/>
              </a:ext>
            </a:extLst>
          </p:cNvPr>
          <p:cNvSpPr/>
          <p:nvPr/>
        </p:nvSpPr>
        <p:spPr>
          <a:xfrm>
            <a:off x="3425295" y="284118"/>
            <a:ext cx="2820612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32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8A88E8-384A-821A-33E2-A4F557E0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6" y="1323732"/>
            <a:ext cx="3972846" cy="28872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DA4D40-DF4A-F72C-E670-92AEE8876EB2}"/>
              </a:ext>
            </a:extLst>
          </p:cNvPr>
          <p:cNvSpPr txBox="1"/>
          <p:nvPr/>
        </p:nvSpPr>
        <p:spPr>
          <a:xfrm>
            <a:off x="120299" y="4326921"/>
            <a:ext cx="4572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i="0">
                <a:solidFill>
                  <a:schemeClr val="tx1"/>
                </a:solidFill>
                <a:effectLst/>
              </a:rPr>
              <a:t>MEA region accounted for 4.4% of the global livestock monitoring market in 2022.</a:t>
            </a:r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11" name="Picture 10" title="Inserting image...">
            <a:extLst>
              <a:ext uri="{FF2B5EF4-FFF2-40B4-BE49-F238E27FC236}">
                <a16:creationId xmlns:a16="http://schemas.microsoft.com/office/drawing/2014/main" id="{228299F4-4EEE-648B-9DF6-850991EE3D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94" y="1323732"/>
            <a:ext cx="4551260" cy="28872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75B7E6-79B1-1963-5F35-7A9FCACFBD3E}"/>
              </a:ext>
            </a:extLst>
          </p:cNvPr>
          <p:cNvSpPr/>
          <p:nvPr/>
        </p:nvSpPr>
        <p:spPr>
          <a:xfrm>
            <a:off x="5497158" y="4496700"/>
            <a:ext cx="2355924" cy="5163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4643E-DC0C-8029-4098-98A33B26B5C8}"/>
              </a:ext>
            </a:extLst>
          </p:cNvPr>
          <p:cNvSpPr txBox="1"/>
          <p:nvPr/>
        </p:nvSpPr>
        <p:spPr>
          <a:xfrm>
            <a:off x="4404524" y="4326921"/>
            <a:ext cx="45720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solidFill>
                  <a:schemeClr val="tx1"/>
                </a:solidFill>
                <a:effectLst/>
                <a:ea typeface="Aptos" panose="020B0004020202020204" pitchFamily="34" charset="0"/>
              </a:rPr>
              <a:t>In 2023, the cattle stock in Egypt amounted to about 3.1 million heads.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B547F-931F-2CEF-A580-477A567D5077}"/>
              </a:ext>
            </a:extLst>
          </p:cNvPr>
          <p:cNvSpPr/>
          <p:nvPr/>
        </p:nvSpPr>
        <p:spPr>
          <a:xfrm>
            <a:off x="1" y="284118"/>
            <a:ext cx="3425294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aseline="0" dirty="0">
                <a:solidFill>
                  <a:srgbClr val="092241"/>
                </a:solidFill>
                <a:latin typeface="Archivo Black"/>
              </a:rPr>
              <a:t>04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r>
              <a:rPr lang="en" sz="3200" b="1" dirty="0">
                <a:solidFill>
                  <a:schemeClr val="tx1"/>
                </a:solidFill>
                <a:latin typeface="Arial"/>
                <a:cs typeface="Arial"/>
              </a:rPr>
              <a:t>Local Market</a:t>
            </a:r>
            <a:endParaRPr lang="en-US" sz="32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44980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A02D3A04-3ED2-2B5A-2C7F-964D8578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8528E4-6D36-1E36-CDF8-E3BC7678400F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75C78792-B752-B3AB-0F90-A56ADA705511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1EA9A9F0-A6FA-949A-DCFD-739152774310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6C876F47-8818-4D3A-72FF-533031380677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CCEEDBD6-EA4D-7FE5-A264-B63A06CCB6A7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CA84EBF8-96E4-DF6F-FD93-8F6B6988A132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AE0C2A2E-2F0F-C857-6346-5CDC8CC36FFE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28C5D18B-73D8-2386-F155-E115EBF9725C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C2FE3845-AF2E-D9D9-AED5-34C80A3F00CF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34F9DF80-0694-F06A-4E54-ACBA68701FFA}"/>
              </a:ext>
            </a:extLst>
          </p:cNvPr>
          <p:cNvSpPr txBox="1">
            <a:spLocks noGrp="1"/>
          </p:cNvSpPr>
          <p:nvPr/>
        </p:nvSpPr>
        <p:spPr>
          <a:xfrm>
            <a:off x="50673" y="13336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sz="7200"/>
              <a:t>SWOT</a:t>
            </a:r>
            <a:br>
              <a:rPr lang="en" sz="7200"/>
            </a:br>
            <a:r>
              <a:rPr lang="en-US" sz="7200"/>
              <a:t>Analysis </a:t>
            </a:r>
            <a:endParaRPr lang="en" sz="7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E0D3D7-E550-4FDE-D962-0728E66195D2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dirty="0">
                <a:solidFill>
                  <a:srgbClr val="092241"/>
                </a:solidFill>
                <a:latin typeface="Archivo Black"/>
              </a:rPr>
              <a:t>05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A90F64-67DA-40A1-BD13-C268D949B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4384" y="506896"/>
            <a:ext cx="4187686" cy="415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32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CB4FC4D7-6DD0-3DD4-F9A6-E7743929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0C7094B9-F2E8-6B46-AD39-AEC33236F311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blue and white diagram with text&#10;&#10;AI-generated content may be incorrect.">
            <a:extLst>
              <a:ext uri="{FF2B5EF4-FFF2-40B4-BE49-F238E27FC236}">
                <a16:creationId xmlns:a16="http://schemas.microsoft.com/office/drawing/2014/main" id="{EDD9F5DE-DA31-DE51-D66A-CCB218D7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22" y="-77534"/>
            <a:ext cx="7174762" cy="5299192"/>
          </a:xfrm>
          <a:prstGeom prst="rect">
            <a:avLst/>
          </a:prstGeom>
          <a:ln>
            <a:noFill/>
          </a:ln>
        </p:spPr>
      </p:pic>
      <p:grpSp>
        <p:nvGrpSpPr>
          <p:cNvPr id="16" name="Google Shape;462;p30">
            <a:extLst>
              <a:ext uri="{FF2B5EF4-FFF2-40B4-BE49-F238E27FC236}">
                <a16:creationId xmlns:a16="http://schemas.microsoft.com/office/drawing/2014/main" id="{1C7B1E30-4763-9D90-BDAD-BB02793BEE20}"/>
              </a:ext>
            </a:extLst>
          </p:cNvPr>
          <p:cNvGrpSpPr/>
          <p:nvPr/>
        </p:nvGrpSpPr>
        <p:grpSpPr>
          <a:xfrm>
            <a:off x="269404" y="4190775"/>
            <a:ext cx="1309796" cy="257750"/>
            <a:chOff x="-6337521" y="4362225"/>
            <a:chExt cx="1309796" cy="257750"/>
          </a:xfrm>
        </p:grpSpPr>
        <p:sp>
          <p:nvSpPr>
            <p:cNvPr id="6" name="Google Shape;463;p30">
              <a:extLst>
                <a:ext uri="{FF2B5EF4-FFF2-40B4-BE49-F238E27FC236}">
                  <a16:creationId xmlns:a16="http://schemas.microsoft.com/office/drawing/2014/main" id="{35A80F13-9749-5ED7-4F64-212B62DD9E91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4;p30">
              <a:extLst>
                <a:ext uri="{FF2B5EF4-FFF2-40B4-BE49-F238E27FC236}">
                  <a16:creationId xmlns:a16="http://schemas.microsoft.com/office/drawing/2014/main" id="{DD1B0E1B-C589-73BB-B227-FFD72477F3AF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5;p30">
              <a:extLst>
                <a:ext uri="{FF2B5EF4-FFF2-40B4-BE49-F238E27FC236}">
                  <a16:creationId xmlns:a16="http://schemas.microsoft.com/office/drawing/2014/main" id="{9106914A-7832-4164-F150-41FE31B82385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6;p30">
              <a:extLst>
                <a:ext uri="{FF2B5EF4-FFF2-40B4-BE49-F238E27FC236}">
                  <a16:creationId xmlns:a16="http://schemas.microsoft.com/office/drawing/2014/main" id="{B273E9B4-7C04-099F-BEE9-2336CC35E10F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7;p30">
              <a:extLst>
                <a:ext uri="{FF2B5EF4-FFF2-40B4-BE49-F238E27FC236}">
                  <a16:creationId xmlns:a16="http://schemas.microsoft.com/office/drawing/2014/main" id="{1EB14B44-293B-A0E8-F18B-AABF4E3B010C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68;p30">
              <a:extLst>
                <a:ext uri="{FF2B5EF4-FFF2-40B4-BE49-F238E27FC236}">
                  <a16:creationId xmlns:a16="http://schemas.microsoft.com/office/drawing/2014/main" id="{7E7BA5D7-5A8B-6127-B11B-90F977174448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69;p30">
              <a:extLst>
                <a:ext uri="{FF2B5EF4-FFF2-40B4-BE49-F238E27FC236}">
                  <a16:creationId xmlns:a16="http://schemas.microsoft.com/office/drawing/2014/main" id="{93EEF4F2-3054-8DEB-10C8-060FDF1AE384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0;p30">
              <a:extLst>
                <a:ext uri="{FF2B5EF4-FFF2-40B4-BE49-F238E27FC236}">
                  <a16:creationId xmlns:a16="http://schemas.microsoft.com/office/drawing/2014/main" id="{A88A7E62-B484-10C2-669B-B7897F89DAD2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1;p30">
              <a:extLst>
                <a:ext uri="{FF2B5EF4-FFF2-40B4-BE49-F238E27FC236}">
                  <a16:creationId xmlns:a16="http://schemas.microsoft.com/office/drawing/2014/main" id="{56DBA731-2F46-9AA3-68C5-D563F939E025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72;p30">
              <a:extLst>
                <a:ext uri="{FF2B5EF4-FFF2-40B4-BE49-F238E27FC236}">
                  <a16:creationId xmlns:a16="http://schemas.microsoft.com/office/drawing/2014/main" id="{F4757A3C-7435-E660-6D62-F1A01BAE7699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462;p30">
            <a:extLst>
              <a:ext uri="{FF2B5EF4-FFF2-40B4-BE49-F238E27FC236}">
                <a16:creationId xmlns:a16="http://schemas.microsoft.com/office/drawing/2014/main" id="{43167E32-55E8-A474-631E-E597F281A240}"/>
              </a:ext>
            </a:extLst>
          </p:cNvPr>
          <p:cNvGrpSpPr/>
          <p:nvPr/>
        </p:nvGrpSpPr>
        <p:grpSpPr>
          <a:xfrm rot="10800000">
            <a:off x="7519290" y="802596"/>
            <a:ext cx="1309796" cy="257750"/>
            <a:chOff x="-6337521" y="4362225"/>
            <a:chExt cx="1309796" cy="257750"/>
          </a:xfrm>
        </p:grpSpPr>
        <p:sp>
          <p:nvSpPr>
            <p:cNvPr id="18" name="Google Shape;463;p30">
              <a:extLst>
                <a:ext uri="{FF2B5EF4-FFF2-40B4-BE49-F238E27FC236}">
                  <a16:creationId xmlns:a16="http://schemas.microsoft.com/office/drawing/2014/main" id="{F40EC932-ADA3-1B63-8526-81D419D91BC1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64;p30">
              <a:extLst>
                <a:ext uri="{FF2B5EF4-FFF2-40B4-BE49-F238E27FC236}">
                  <a16:creationId xmlns:a16="http://schemas.microsoft.com/office/drawing/2014/main" id="{8EF73477-06D8-BFA8-01A5-27711F338464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65;p30">
              <a:extLst>
                <a:ext uri="{FF2B5EF4-FFF2-40B4-BE49-F238E27FC236}">
                  <a16:creationId xmlns:a16="http://schemas.microsoft.com/office/drawing/2014/main" id="{02EE6440-1675-824D-3FFB-FE45E6BBCD1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66;p30">
              <a:extLst>
                <a:ext uri="{FF2B5EF4-FFF2-40B4-BE49-F238E27FC236}">
                  <a16:creationId xmlns:a16="http://schemas.microsoft.com/office/drawing/2014/main" id="{7152BC32-CFF0-5FE8-8C1A-AA67D8C56E4F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67;p30">
              <a:extLst>
                <a:ext uri="{FF2B5EF4-FFF2-40B4-BE49-F238E27FC236}">
                  <a16:creationId xmlns:a16="http://schemas.microsoft.com/office/drawing/2014/main" id="{F962F669-E7AE-61B9-5EBE-B4A8FB06E01D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68;p30">
              <a:extLst>
                <a:ext uri="{FF2B5EF4-FFF2-40B4-BE49-F238E27FC236}">
                  <a16:creationId xmlns:a16="http://schemas.microsoft.com/office/drawing/2014/main" id="{8BA53C3C-4B10-0DD7-162B-8DBFA7606A12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69;p30">
              <a:extLst>
                <a:ext uri="{FF2B5EF4-FFF2-40B4-BE49-F238E27FC236}">
                  <a16:creationId xmlns:a16="http://schemas.microsoft.com/office/drawing/2014/main" id="{69571F36-192F-A231-0BF3-648EF2A502E8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70;p30">
              <a:extLst>
                <a:ext uri="{FF2B5EF4-FFF2-40B4-BE49-F238E27FC236}">
                  <a16:creationId xmlns:a16="http://schemas.microsoft.com/office/drawing/2014/main" id="{5FF844DF-75FA-1297-203C-87482D7185D5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71;p30">
              <a:extLst>
                <a:ext uri="{FF2B5EF4-FFF2-40B4-BE49-F238E27FC236}">
                  <a16:creationId xmlns:a16="http://schemas.microsoft.com/office/drawing/2014/main" id="{163D995E-32F6-EFC2-A229-4C64871E3227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472;p30">
              <a:extLst>
                <a:ext uri="{FF2B5EF4-FFF2-40B4-BE49-F238E27FC236}">
                  <a16:creationId xmlns:a16="http://schemas.microsoft.com/office/drawing/2014/main" id="{C2ABF888-5169-2853-D39F-951EC5BADF2A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4455760-58A9-5A25-5522-280A19C40777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dirty="0">
                <a:solidFill>
                  <a:srgbClr val="092241"/>
                </a:solidFill>
                <a:latin typeface="Archivo Black"/>
              </a:rPr>
              <a:t>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8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F64E25DF-78DE-2FA6-BDCF-81510448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C0519C4-B212-9BC7-EA15-BCB7E0E2538E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7CF8EA2A-3978-39A6-9EE1-89BBA0DEFF75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0AE68D-1DF3-F485-EDBF-4C961A4D4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4294" y="398080"/>
            <a:ext cx="4731625" cy="4741478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0A080475-5902-6CE2-AF46-4243DDE9FFB4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543A3C95-2AFD-720F-2947-5F0D0AF61335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4B0CB04D-3C09-A1CC-CC4B-87933DB0DCD2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844E07F7-BF85-7F41-7321-C4A94E328B45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D15809A3-343B-E0B6-5932-4A90D4764753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7D8B11D4-AB9B-7A62-D8FA-2E610E7810EA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7EB4F801-A633-E9D6-3711-7C7F1A1E5ABE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506;p33">
            <a:extLst>
              <a:ext uri="{FF2B5EF4-FFF2-40B4-BE49-F238E27FC236}">
                <a16:creationId xmlns:a16="http://schemas.microsoft.com/office/drawing/2014/main" id="{3A8CA4BE-EA25-5FD8-2B87-515ADF0E2F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" y="10266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7200"/>
              <a:t>Competitor</a:t>
            </a:r>
            <a:br>
              <a:rPr lang="en-US" sz="7200"/>
            </a:br>
            <a:r>
              <a:rPr lang="en-US" sz="7200"/>
              <a:t>Analysis </a:t>
            </a:r>
            <a:endParaRPr lang="en" sz="7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E9839D-D258-8234-9C1E-8110FC5969BB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rgbClr val="092241"/>
                </a:solidFill>
                <a:latin typeface="Archivo Black"/>
              </a:rPr>
              <a:t>06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30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/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C6040BB-FB8C-FAE3-622C-7B39F106B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54" y="-127719"/>
            <a:ext cx="7726961" cy="1631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584" tIns="101568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ja-JP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Competitive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“We don’t have competitors in Egypt”</a:t>
            </a:r>
            <a:endParaRPr kumimoji="0" lang="en-US" altLang="ja-JP" sz="32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0C5ED2-967D-CA96-2EA2-5BC8EC6A2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2" y="1048939"/>
            <a:ext cx="7946938" cy="38797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F0FC2D-B428-BEE9-9EF6-26DC30A80D42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dirty="0">
                <a:solidFill>
                  <a:srgbClr val="092241"/>
                </a:solidFill>
                <a:latin typeface="Archivo Black"/>
              </a:rPr>
              <a:t>06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CD8564-4E9C-0E8A-5BC7-ECC2B37812A8}"/>
              </a:ext>
            </a:extLst>
          </p:cNvPr>
          <p:cNvSpPr/>
          <p:nvPr/>
        </p:nvSpPr>
        <p:spPr>
          <a:xfrm>
            <a:off x="137261" y="4500880"/>
            <a:ext cx="645026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88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0B557C35-D73C-ABC2-4E5E-A9F1774B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E0ED63-447C-B290-5214-BD3543A65433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2BC63460-5D84-AB3F-2ECD-85E6E0FE8F03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person standing next to a large piece of paper&#10;&#10;AI-generated content may be incorrect.">
            <a:extLst>
              <a:ext uri="{FF2B5EF4-FFF2-40B4-BE49-F238E27FC236}">
                <a16:creationId xmlns:a16="http://schemas.microsoft.com/office/drawing/2014/main" id="{A843A6BA-5A26-1582-6F40-8EEFCD0E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83" y="0"/>
            <a:ext cx="5821899" cy="5143500"/>
          </a:xfrm>
          <a:prstGeom prst="rect">
            <a:avLst/>
          </a:prstGeom>
          <a:ln>
            <a:noFill/>
          </a:ln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4B441D4A-05AD-057E-E554-BD9B75F4C182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2F38E6DD-CCEA-8AD6-67F2-DF34DE0CABEB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68BC9ED6-4C93-EA8B-2ACD-52394F838B57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0242CC02-3974-2CB1-6B6D-EB4829D03353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6484DC1D-8923-BA45-7330-33FFB8C876AE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00A5E3F7-467D-E6F2-2002-5CDD4F214B71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73B0A052-CFBE-83F5-C0CD-8CC747A7286F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779BB1B-A1BF-00B1-94EA-7B22831D4761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</a:rPr>
              <a:t>07</a:t>
            </a:r>
            <a:endParaRPr lang="en-US" b="1" dirty="0">
              <a:cs typeface="Arial"/>
            </a:endParaRPr>
          </a:p>
        </p:txBody>
      </p:sp>
      <p:sp>
        <p:nvSpPr>
          <p:cNvPr id="2" name="Google Shape;506;p33">
            <a:extLst>
              <a:ext uri="{FF2B5EF4-FFF2-40B4-BE49-F238E27FC236}">
                <a16:creationId xmlns:a16="http://schemas.microsoft.com/office/drawing/2014/main" id="{17FDE976-3C4D-4C22-F1DF-3D3239E6AF44}"/>
              </a:ext>
            </a:extLst>
          </p:cNvPr>
          <p:cNvSpPr txBox="1">
            <a:spLocks noGrp="1"/>
          </p:cNvSpPr>
          <p:nvPr/>
        </p:nvSpPr>
        <p:spPr>
          <a:xfrm>
            <a:off x="1004027" y="1691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r"/>
            <a:r>
              <a:rPr lang="en-US" sz="7200"/>
              <a:t>Business</a:t>
            </a:r>
            <a:br>
              <a:rPr lang="en-US" sz="7200"/>
            </a:br>
            <a:r>
              <a:rPr lang="en-US" sz="7200"/>
              <a:t>Model</a:t>
            </a:r>
            <a:endParaRPr lang="en" sz="7200"/>
          </a:p>
        </p:txBody>
      </p:sp>
    </p:spTree>
    <p:extLst>
      <p:ext uri="{BB962C8B-B14F-4D97-AF65-F5344CB8AC3E}">
        <p14:creationId xmlns:p14="http://schemas.microsoft.com/office/powerpoint/2010/main" val="358641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1A41DBC2-2831-15CB-4E73-736854B8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057B4A-759A-1B35-A01B-75AF7BF43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191327"/>
              </p:ext>
            </p:extLst>
          </p:nvPr>
        </p:nvGraphicFramePr>
        <p:xfrm>
          <a:off x="656452" y="988540"/>
          <a:ext cx="8139548" cy="4072294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1401076">
                  <a:extLst>
                    <a:ext uri="{9D8B030D-6E8A-4147-A177-3AD203B41FA5}">
                      <a16:colId xmlns:a16="http://schemas.microsoft.com/office/drawing/2014/main" val="4123672344"/>
                    </a:ext>
                  </a:extLst>
                </a:gridCol>
                <a:gridCol w="1919119">
                  <a:extLst>
                    <a:ext uri="{9D8B030D-6E8A-4147-A177-3AD203B41FA5}">
                      <a16:colId xmlns:a16="http://schemas.microsoft.com/office/drawing/2014/main" val="950248866"/>
                    </a:ext>
                  </a:extLst>
                </a:gridCol>
                <a:gridCol w="720658">
                  <a:extLst>
                    <a:ext uri="{9D8B030D-6E8A-4147-A177-3AD203B41FA5}">
                      <a16:colId xmlns:a16="http://schemas.microsoft.com/office/drawing/2014/main" val="2090448131"/>
                    </a:ext>
                  </a:extLst>
                </a:gridCol>
                <a:gridCol w="1118504">
                  <a:extLst>
                    <a:ext uri="{9D8B030D-6E8A-4147-A177-3AD203B41FA5}">
                      <a16:colId xmlns:a16="http://schemas.microsoft.com/office/drawing/2014/main" val="2641815811"/>
                    </a:ext>
                  </a:extLst>
                </a:gridCol>
                <a:gridCol w="1599692">
                  <a:extLst>
                    <a:ext uri="{9D8B030D-6E8A-4147-A177-3AD203B41FA5}">
                      <a16:colId xmlns:a16="http://schemas.microsoft.com/office/drawing/2014/main" val="2812625077"/>
                    </a:ext>
                  </a:extLst>
                </a:gridCol>
                <a:gridCol w="1380499">
                  <a:extLst>
                    <a:ext uri="{9D8B030D-6E8A-4147-A177-3AD203B41FA5}">
                      <a16:colId xmlns:a16="http://schemas.microsoft.com/office/drawing/2014/main" val="3733722304"/>
                    </a:ext>
                  </a:extLst>
                </a:gridCol>
              </a:tblGrid>
              <a:tr h="1303782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endParaRPr lang="en-US" sz="950" b="1" i="0" u="none" strike="noStrike" noProof="0">
                        <a:solidFill>
                          <a:srgbClr val="002060"/>
                        </a:solidFill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50" b="1" i="0" u="none" strike="noStrike" noProof="0">
                          <a:solidFill>
                            <a:srgbClr val="002060"/>
                          </a:solidFill>
                        </a:rPr>
                        <a:t>IoT Device Manufacturers</a:t>
                      </a:r>
                      <a:endParaRPr lang="en-US" sz="95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950" b="1" i="0" u="none" strike="noStrike" noProof="0">
                        <a:solidFill>
                          <a:srgbClr val="002060"/>
                        </a:solidFill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50" b="1" i="0" u="none" strike="noStrike" noProof="0">
                          <a:solidFill>
                            <a:srgbClr val="002060"/>
                          </a:solidFill>
                        </a:rPr>
                        <a:t>Livestock Owners</a:t>
                      </a:r>
                      <a:r>
                        <a:rPr lang="en-US" sz="950" b="1" i="0" u="none" strike="noStrike" noProof="0">
                          <a:solidFill>
                            <a:srgbClr val="002060"/>
                          </a:solidFill>
                          <a:latin typeface="Arial"/>
                        </a:rPr>
                        <a:t> </a:t>
                      </a:r>
                      <a:endParaRPr lang="en-US" sz="95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950" b="1" i="0" u="none" strike="noStrike" noProof="0">
                        <a:solidFill>
                          <a:srgbClr val="002060"/>
                        </a:solidFill>
                        <a:latin typeface="Arial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50" b="1" i="0" u="none" strike="noStrike" noProof="0">
                          <a:solidFill>
                            <a:srgbClr val="002060"/>
                          </a:solidFill>
                        </a:rPr>
                        <a:t>Agricultural Organizations</a:t>
                      </a:r>
                      <a:endParaRPr lang="en-US" sz="95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950" b="1" i="0" u="none" strike="noStrike" noProof="0">
                        <a:solidFill>
                          <a:srgbClr val="002060"/>
                        </a:solidFill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</a:rPr>
                        <a:t>Veterinary Organizations</a:t>
                      </a:r>
                      <a:endParaRPr lang="en-US" sz="95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950" b="1" i="0" u="none" strike="noStrike" cap="none" noProof="0">
                        <a:solidFill>
                          <a:srgbClr val="002060"/>
                        </a:solidFill>
                        <a:latin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Government Agencies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AI Models for Disease Detection &amp; Productivity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IoT Sensor Integration </a:t>
                      </a:r>
                      <a:endParaRPr lang="en-US" sz="9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Data Analysis</a:t>
                      </a:r>
                      <a:endParaRPr lang="en-US" sz="9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Test System on farms</a:t>
                      </a:r>
                      <a:endParaRPr lang="en-US" sz="9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9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Mobile App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Healthier Livestock &amp; Higher Profits</a:t>
                      </a:r>
                      <a:endParaRPr lang="en-US" sz="850">
                        <a:sym typeface="Arial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5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Better Livestock Productivity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5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Smarter Decisions Without Extra Effort</a:t>
                      </a:r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endParaRPr lang="en-US" sz="85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Manage Your Farm From Anywhere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5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82880" lvl="0" indent="-18288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Cost Reduction without Compromising Health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85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82880" lvl="0" indent="-182880">
                        <a:lnSpc>
                          <a:spcPct val="100000"/>
                        </a:lnSpc>
                        <a:buFont typeface="Wingdings"/>
                        <a:buChar char="§"/>
                      </a:pP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Waste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Livestock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Identification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 &amp; 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Historical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85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Records</a:t>
                      </a:r>
                      <a:endParaRPr lang="en-US" sz="85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Customer Support</a:t>
                      </a:r>
                      <a:endParaRPr lang="en-US" sz="100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     &amp; Training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Feedback Mechanism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endParaRPr lang="en-US" sz="1000" b="0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Livestock Farmers</a:t>
                      </a:r>
                      <a:endParaRPr lang="en-US" sz="10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100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Agricultural Cooperatives</a:t>
                      </a:r>
                      <a:endParaRPr lang="en-US" sz="10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100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Veterinary Clinics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endParaRPr lang="en-US" sz="100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Government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07366"/>
                  </a:ext>
                </a:extLst>
              </a:tr>
              <a:tr h="1524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Devices &amp; Sensors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Server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0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Testing Farms</a:t>
                      </a:r>
                      <a:endParaRPr lang="en-US" sz="1000" b="1" i="0" u="none" strike="noStrike" cap="none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lvl="0">
                        <a:buNone/>
                      </a:pPr>
                      <a:endParaRPr lang="en-US" sz="800"/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1000" b="1" i="0" u="none" strike="noStrike" noProof="0">
                          <a:solidFill>
                            <a:srgbClr val="002060"/>
                          </a:solidFill>
                          <a:latin typeface="Arial"/>
                        </a:rPr>
                        <a:t>Direct Sales to Farms</a:t>
                      </a:r>
                      <a:endParaRPr lang="en-US" sz="1000" b="1">
                        <a:solidFill>
                          <a:srgbClr val="002060"/>
                        </a:solidFill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1000" b="1" i="0" u="none" strike="noStrike" noProof="0">
                          <a:solidFill>
                            <a:srgbClr val="002060"/>
                          </a:solidFill>
                          <a:latin typeface="Arial"/>
                        </a:rPr>
                        <a:t>Mobile App</a:t>
                      </a:r>
                      <a:endParaRPr lang="en-US" sz="1000" b="1">
                        <a:solidFill>
                          <a:srgbClr val="002060"/>
                        </a:solidFill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1000" b="1" i="0" u="none" strike="noStrike" noProof="0">
                          <a:solidFill>
                            <a:srgbClr val="002060"/>
                          </a:solidFill>
                          <a:latin typeface="Arial"/>
                        </a:rPr>
                        <a:t>Veterinary Partnerships</a:t>
                      </a:r>
                      <a:endParaRPr lang="en-US" sz="1000" b="1">
                        <a:solidFill>
                          <a:srgbClr val="002060"/>
                        </a:solidFill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en-US" sz="1000" b="1" i="0" u="none" strike="noStrike" noProof="0">
                          <a:solidFill>
                            <a:srgbClr val="002060"/>
                          </a:solidFill>
                          <a:latin typeface="Arial"/>
                        </a:rPr>
                        <a:t>Social Media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952118"/>
                  </a:ext>
                </a:extLst>
              </a:tr>
              <a:tr h="1244512"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Devices &amp; Sensors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Maintenance and Updates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Marketing</a:t>
                      </a: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endParaRPr lang="en-US" b="1">
                        <a:sym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en-US" sz="8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Subscriptions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Premium Features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Hardware Installation </a:t>
                      </a: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</a:rPr>
                        <a:t>Fees</a:t>
                      </a:r>
                      <a:endParaRPr lang="en-US" sz="1200" b="1" i="0" u="none" strike="noStrike" cap="none" noProof="0">
                        <a:solidFill>
                          <a:srgbClr val="00206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Char char="§"/>
                      </a:pPr>
                      <a:r>
                        <a:rPr lang="en-US" sz="1200" b="1" i="0" u="none" strike="noStrike" cap="none" noProof="0">
                          <a:solidFill>
                            <a:srgbClr val="002060"/>
                          </a:solidFill>
                          <a:latin typeface="Arial"/>
                          <a:cs typeface="Arial"/>
                          <a:sym typeface="Arial"/>
                        </a:rPr>
                        <a:t>Sponsorships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9943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BB356A1-34A1-03F3-DA5E-89536FC5A62F}"/>
              </a:ext>
            </a:extLst>
          </p:cNvPr>
          <p:cNvSpPr txBox="1"/>
          <p:nvPr/>
        </p:nvSpPr>
        <p:spPr>
          <a:xfrm>
            <a:off x="1985177" y="316678"/>
            <a:ext cx="536803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Our Business Model Canvas​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D36FFB-86EF-6563-20FA-70B238B2F822}"/>
              </a:ext>
            </a:extLst>
          </p:cNvPr>
          <p:cNvSpPr/>
          <p:nvPr/>
        </p:nvSpPr>
        <p:spPr>
          <a:xfrm>
            <a:off x="770728" y="1033243"/>
            <a:ext cx="1205465" cy="295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Key partners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0CD7DB-E86F-DF80-D325-4C90134F8ECC}"/>
              </a:ext>
            </a:extLst>
          </p:cNvPr>
          <p:cNvSpPr/>
          <p:nvPr/>
        </p:nvSpPr>
        <p:spPr>
          <a:xfrm>
            <a:off x="5884265" y="2345679"/>
            <a:ext cx="1469687" cy="2515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Channels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67363F-E35E-4CAF-CEDB-8C24640A70EF}"/>
              </a:ext>
            </a:extLst>
          </p:cNvPr>
          <p:cNvSpPr/>
          <p:nvPr/>
        </p:nvSpPr>
        <p:spPr>
          <a:xfrm>
            <a:off x="2124349" y="1030200"/>
            <a:ext cx="1796858" cy="2988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Key Activities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687493-2E73-4247-4F6E-79CFB17F34A7}"/>
              </a:ext>
            </a:extLst>
          </p:cNvPr>
          <p:cNvSpPr/>
          <p:nvPr/>
        </p:nvSpPr>
        <p:spPr>
          <a:xfrm>
            <a:off x="2124348" y="2345679"/>
            <a:ext cx="1781411" cy="29014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Key Resorces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69063D-93F0-364C-A488-ABF4D1493634}"/>
              </a:ext>
            </a:extLst>
          </p:cNvPr>
          <p:cNvSpPr/>
          <p:nvPr/>
        </p:nvSpPr>
        <p:spPr>
          <a:xfrm>
            <a:off x="4029114" y="1030200"/>
            <a:ext cx="1749116" cy="2988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Value Proposal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22C0D8-F01F-1C4B-D81E-0F8A0D2ACF48}"/>
              </a:ext>
            </a:extLst>
          </p:cNvPr>
          <p:cNvSpPr/>
          <p:nvPr/>
        </p:nvSpPr>
        <p:spPr>
          <a:xfrm>
            <a:off x="4731903" y="3856807"/>
            <a:ext cx="4021309" cy="2641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Revenue Stream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B0EA7E-6352-9819-CD5D-F989DAD9A832}"/>
              </a:ext>
            </a:extLst>
          </p:cNvPr>
          <p:cNvSpPr/>
          <p:nvPr/>
        </p:nvSpPr>
        <p:spPr>
          <a:xfrm>
            <a:off x="717600" y="3856808"/>
            <a:ext cx="3916230" cy="2641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Cost Structure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DCD6F5-B2D9-74C2-A390-C5BE51ED2746}"/>
              </a:ext>
            </a:extLst>
          </p:cNvPr>
          <p:cNvSpPr/>
          <p:nvPr/>
        </p:nvSpPr>
        <p:spPr>
          <a:xfrm>
            <a:off x="5876541" y="1030199"/>
            <a:ext cx="1485133" cy="2988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Customer Relationship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151BF4-A7D2-34D3-582E-52822ECECA2D}"/>
              </a:ext>
            </a:extLst>
          </p:cNvPr>
          <p:cNvSpPr/>
          <p:nvPr/>
        </p:nvSpPr>
        <p:spPr>
          <a:xfrm>
            <a:off x="7439621" y="1031136"/>
            <a:ext cx="1328334" cy="30559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800" b="1">
                <a:solidFill>
                  <a:schemeClr val="accent1"/>
                </a:solidFill>
                <a:cs typeface="Arial"/>
              </a:rPr>
              <a:t>Customer Segments</a:t>
            </a:r>
            <a:endParaRPr lang="en-US" sz="800">
              <a:solidFill>
                <a:schemeClr val="accent1"/>
              </a:solidFill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2FB0B0-D5F6-4602-9B29-C80E7260B35F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</a:rPr>
              <a:t>07</a:t>
            </a:r>
            <a:endParaRPr lang="en-US" b="1" dirty="0">
              <a:cs typeface="Arial"/>
            </a:endParaRPr>
          </a:p>
        </p:txBody>
      </p:sp>
      <p:grpSp>
        <p:nvGrpSpPr>
          <p:cNvPr id="15" name="Google Shape;462;p30">
            <a:extLst>
              <a:ext uri="{FF2B5EF4-FFF2-40B4-BE49-F238E27FC236}">
                <a16:creationId xmlns:a16="http://schemas.microsoft.com/office/drawing/2014/main" id="{76820DB8-2693-F032-8D58-07DE8FD8E6DC}"/>
              </a:ext>
            </a:extLst>
          </p:cNvPr>
          <p:cNvGrpSpPr/>
          <p:nvPr/>
        </p:nvGrpSpPr>
        <p:grpSpPr>
          <a:xfrm>
            <a:off x="7553540" y="341232"/>
            <a:ext cx="1309796" cy="257750"/>
            <a:chOff x="-6337521" y="4362225"/>
            <a:chExt cx="1309796" cy="257750"/>
          </a:xfrm>
        </p:grpSpPr>
        <p:sp>
          <p:nvSpPr>
            <p:cNvPr id="5" name="Google Shape;463;p30">
              <a:extLst>
                <a:ext uri="{FF2B5EF4-FFF2-40B4-BE49-F238E27FC236}">
                  <a16:creationId xmlns:a16="http://schemas.microsoft.com/office/drawing/2014/main" id="{3FCCAE4C-1263-6C6D-08EA-E5226D60020E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64;p30">
              <a:extLst>
                <a:ext uri="{FF2B5EF4-FFF2-40B4-BE49-F238E27FC236}">
                  <a16:creationId xmlns:a16="http://schemas.microsoft.com/office/drawing/2014/main" id="{853E6744-C53B-2C7F-1D17-6104F5F9AA8C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65;p30">
              <a:extLst>
                <a:ext uri="{FF2B5EF4-FFF2-40B4-BE49-F238E27FC236}">
                  <a16:creationId xmlns:a16="http://schemas.microsoft.com/office/drawing/2014/main" id="{B296CDA7-387D-102B-DF28-4DA30615E7CD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66;p30">
              <a:extLst>
                <a:ext uri="{FF2B5EF4-FFF2-40B4-BE49-F238E27FC236}">
                  <a16:creationId xmlns:a16="http://schemas.microsoft.com/office/drawing/2014/main" id="{67AF3602-A15F-286F-36DE-221A50693672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67;p30">
              <a:extLst>
                <a:ext uri="{FF2B5EF4-FFF2-40B4-BE49-F238E27FC236}">
                  <a16:creationId xmlns:a16="http://schemas.microsoft.com/office/drawing/2014/main" id="{1F8460F2-AA5E-A49C-9B97-624F487A7DA4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68;p30">
              <a:extLst>
                <a:ext uri="{FF2B5EF4-FFF2-40B4-BE49-F238E27FC236}">
                  <a16:creationId xmlns:a16="http://schemas.microsoft.com/office/drawing/2014/main" id="{FA9F87AD-B008-F81D-13AC-8ED3A08C7C40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69;p30">
              <a:extLst>
                <a:ext uri="{FF2B5EF4-FFF2-40B4-BE49-F238E27FC236}">
                  <a16:creationId xmlns:a16="http://schemas.microsoft.com/office/drawing/2014/main" id="{2AA4E3FE-F041-BFDB-C62A-C2A2DE258F6B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70;p30">
              <a:extLst>
                <a:ext uri="{FF2B5EF4-FFF2-40B4-BE49-F238E27FC236}">
                  <a16:creationId xmlns:a16="http://schemas.microsoft.com/office/drawing/2014/main" id="{D8C34B2E-794D-3FE1-30DA-873229538A6A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71;p30">
              <a:extLst>
                <a:ext uri="{FF2B5EF4-FFF2-40B4-BE49-F238E27FC236}">
                  <a16:creationId xmlns:a16="http://schemas.microsoft.com/office/drawing/2014/main" id="{3EFF877A-1AD0-EF4D-92CE-78F4E8DB9227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72;p30">
              <a:extLst>
                <a:ext uri="{FF2B5EF4-FFF2-40B4-BE49-F238E27FC236}">
                  <a16:creationId xmlns:a16="http://schemas.microsoft.com/office/drawing/2014/main" id="{D0206EF1-FF7C-B1F0-DEFA-D4DAB85AF588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1305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4B25B8FF-C9AD-2852-3C8E-2C2913B4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32DE9B-7134-5B98-FF3C-2FE57B177277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6EE7F81D-B3FC-1F7B-540C-85F2F0B7209C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0B0094-A0C3-BA76-2D1B-E7D8F7ED3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4745" y="171450"/>
            <a:ext cx="4688031" cy="4688031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302539D0-A3A1-C5C3-9B6F-0DA93EE87753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5E4AA697-E865-418D-1BD9-D734686BB854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5689A712-D8AB-266D-A17C-47058CE10945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01DFA9FE-2DCA-7A60-78D9-E51ADA8FD102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C0FB3D0F-E64B-9584-80F8-5307B205C9F9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FD81F7EC-16C7-936A-DB4F-0CA7B5EF352F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15F90D80-DF20-8B9C-FEA8-A5BA3E88433A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C9BD21FD-0EAC-0148-937E-E70BFFFCC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354" y="164163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7200" dirty="0"/>
              <a:t>Our</a:t>
            </a:r>
            <a:br>
              <a:rPr lang="en" sz="7200" dirty="0"/>
            </a:br>
            <a:r>
              <a:rPr lang="en" sz="7200" dirty="0"/>
              <a:t>Roadmap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0BBC5-7D47-A107-CD09-50180CDCA0E0}"/>
              </a:ext>
            </a:extLst>
          </p:cNvPr>
          <p:cNvSpPr/>
          <p:nvPr/>
        </p:nvSpPr>
        <p:spPr>
          <a:xfrm>
            <a:off x="1" y="305684"/>
            <a:ext cx="3261124" cy="7771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08 Our Roadmap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BDBC72-AC78-5D0E-8667-8F9490C10825}"/>
              </a:ext>
            </a:extLst>
          </p:cNvPr>
          <p:cNvSpPr/>
          <p:nvPr/>
        </p:nvSpPr>
        <p:spPr>
          <a:xfrm>
            <a:off x="629844" y="285625"/>
            <a:ext cx="3176628" cy="850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78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080DB29C-CC10-5DCF-C84A-BCAD4EE1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7D92CC-A458-13FE-ACC2-B8603A8E62EC}"/>
              </a:ext>
            </a:extLst>
          </p:cNvPr>
          <p:cNvSpPr/>
          <p:nvPr/>
        </p:nvSpPr>
        <p:spPr>
          <a:xfrm>
            <a:off x="1" y="305684"/>
            <a:ext cx="3261124" cy="7771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08 Our Roadmap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3" name="Google Shape;52;p15">
            <a:extLst>
              <a:ext uri="{FF2B5EF4-FFF2-40B4-BE49-F238E27FC236}">
                <a16:creationId xmlns:a16="http://schemas.microsoft.com/office/drawing/2014/main" id="{35B1923F-922A-FFE2-9736-CA1B8F69C39B}"/>
              </a:ext>
            </a:extLst>
          </p:cNvPr>
          <p:cNvGrpSpPr/>
          <p:nvPr/>
        </p:nvGrpSpPr>
        <p:grpSpPr>
          <a:xfrm rot="5400000">
            <a:off x="3830120" y="-1913252"/>
            <a:ext cx="1672285" cy="9671533"/>
            <a:chOff x="5991590" y="-119050"/>
            <a:chExt cx="1713726" cy="5143491"/>
          </a:xfrm>
        </p:grpSpPr>
        <p:sp>
          <p:nvSpPr>
            <p:cNvPr id="27" name="Google Shape;53;p15">
              <a:extLst>
                <a:ext uri="{FF2B5EF4-FFF2-40B4-BE49-F238E27FC236}">
                  <a16:creationId xmlns:a16="http://schemas.microsoft.com/office/drawing/2014/main" id="{3B6E0FE3-C9DB-0E6B-29DE-1DC26C3FD0CA}"/>
                </a:ext>
              </a:extLst>
            </p:cNvPr>
            <p:cNvSpPr/>
            <p:nvPr/>
          </p:nvSpPr>
          <p:spPr>
            <a:xfrm rot="5400000">
              <a:off x="4279111" y="1598236"/>
              <a:ext cx="5138684" cy="1713726"/>
            </a:xfrm>
            <a:custGeom>
              <a:avLst/>
              <a:gdLst/>
              <a:ahLst/>
              <a:cxnLst/>
              <a:rect l="l" t="t" r="r" b="b"/>
              <a:pathLst>
                <a:path w="9428" h="3145" extrusionOk="0">
                  <a:moveTo>
                    <a:pt x="9427" y="2737"/>
                  </a:moveTo>
                  <a:cubicBezTo>
                    <a:pt x="9077" y="2737"/>
                    <a:pt x="8766" y="2592"/>
                    <a:pt x="8502" y="2307"/>
                  </a:cubicBezTo>
                  <a:cubicBezTo>
                    <a:pt x="8293" y="2081"/>
                    <a:pt x="8134" y="1794"/>
                    <a:pt x="7980" y="1518"/>
                  </a:cubicBezTo>
                  <a:cubicBezTo>
                    <a:pt x="7668" y="955"/>
                    <a:pt x="7451" y="614"/>
                    <a:pt x="7070" y="614"/>
                  </a:cubicBezTo>
                  <a:cubicBezTo>
                    <a:pt x="6704" y="614"/>
                    <a:pt x="6476" y="1045"/>
                    <a:pt x="6170" y="1702"/>
                  </a:cubicBezTo>
                  <a:cubicBezTo>
                    <a:pt x="6018" y="2028"/>
                    <a:pt x="5861" y="2366"/>
                    <a:pt x="5656" y="2631"/>
                  </a:cubicBezTo>
                  <a:cubicBezTo>
                    <a:pt x="5391" y="2971"/>
                    <a:pt x="5074" y="3144"/>
                    <a:pt x="4714" y="3144"/>
                  </a:cubicBezTo>
                  <a:cubicBezTo>
                    <a:pt x="4363" y="3144"/>
                    <a:pt x="4063" y="3012"/>
                    <a:pt x="3795" y="2742"/>
                  </a:cubicBezTo>
                  <a:cubicBezTo>
                    <a:pt x="3585" y="2528"/>
                    <a:pt x="3425" y="2259"/>
                    <a:pt x="3271" y="1998"/>
                  </a:cubicBezTo>
                  <a:cubicBezTo>
                    <a:pt x="2960" y="1472"/>
                    <a:pt x="2743" y="1152"/>
                    <a:pt x="2357" y="1152"/>
                  </a:cubicBezTo>
                  <a:cubicBezTo>
                    <a:pt x="1970" y="1152"/>
                    <a:pt x="1753" y="1469"/>
                    <a:pt x="1442" y="1992"/>
                  </a:cubicBezTo>
                  <a:cubicBezTo>
                    <a:pt x="1288" y="2251"/>
                    <a:pt x="1129" y="2519"/>
                    <a:pt x="918" y="2731"/>
                  </a:cubicBezTo>
                  <a:cubicBezTo>
                    <a:pt x="651" y="2999"/>
                    <a:pt x="351" y="3130"/>
                    <a:pt x="0" y="3130"/>
                  </a:cubicBezTo>
                  <a:lnTo>
                    <a:pt x="0" y="2517"/>
                  </a:lnTo>
                  <a:cubicBezTo>
                    <a:pt x="387" y="2517"/>
                    <a:pt x="604" y="2200"/>
                    <a:pt x="915" y="1678"/>
                  </a:cubicBezTo>
                  <a:cubicBezTo>
                    <a:pt x="1069" y="1419"/>
                    <a:pt x="1229" y="1151"/>
                    <a:pt x="1440" y="938"/>
                  </a:cubicBezTo>
                  <a:cubicBezTo>
                    <a:pt x="1707" y="669"/>
                    <a:pt x="2007" y="538"/>
                    <a:pt x="2357" y="538"/>
                  </a:cubicBezTo>
                  <a:cubicBezTo>
                    <a:pt x="2708" y="538"/>
                    <a:pt x="3008" y="670"/>
                    <a:pt x="3275" y="941"/>
                  </a:cubicBezTo>
                  <a:cubicBezTo>
                    <a:pt x="3486" y="1155"/>
                    <a:pt x="3645" y="1425"/>
                    <a:pt x="3799" y="1685"/>
                  </a:cubicBezTo>
                  <a:cubicBezTo>
                    <a:pt x="4110" y="2212"/>
                    <a:pt x="4327" y="2531"/>
                    <a:pt x="4714" y="2531"/>
                  </a:cubicBezTo>
                  <a:cubicBezTo>
                    <a:pt x="5080" y="2531"/>
                    <a:pt x="5308" y="2100"/>
                    <a:pt x="5614" y="1443"/>
                  </a:cubicBezTo>
                  <a:cubicBezTo>
                    <a:pt x="5766" y="1117"/>
                    <a:pt x="5923" y="779"/>
                    <a:pt x="6128" y="514"/>
                  </a:cubicBezTo>
                  <a:cubicBezTo>
                    <a:pt x="6393" y="173"/>
                    <a:pt x="6710" y="0"/>
                    <a:pt x="7070" y="0"/>
                  </a:cubicBezTo>
                  <a:cubicBezTo>
                    <a:pt x="7420" y="0"/>
                    <a:pt x="7731" y="145"/>
                    <a:pt x="7995" y="431"/>
                  </a:cubicBezTo>
                  <a:cubicBezTo>
                    <a:pt x="8204" y="657"/>
                    <a:pt x="8363" y="943"/>
                    <a:pt x="8517" y="1220"/>
                  </a:cubicBezTo>
                  <a:cubicBezTo>
                    <a:pt x="8829" y="1782"/>
                    <a:pt x="9045" y="2123"/>
                    <a:pt x="9426" y="2123"/>
                  </a:cubicBezTo>
                  <a:lnTo>
                    <a:pt x="9427" y="2737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54;p15">
              <a:extLst>
                <a:ext uri="{FF2B5EF4-FFF2-40B4-BE49-F238E27FC236}">
                  <a16:creationId xmlns:a16="http://schemas.microsoft.com/office/drawing/2014/main" id="{7A5B5F0E-18D6-0C55-70D1-800789059764}"/>
                </a:ext>
              </a:extLst>
            </p:cNvPr>
            <p:cNvSpPr/>
            <p:nvPr/>
          </p:nvSpPr>
          <p:spPr>
            <a:xfrm rot="5400000">
              <a:off x="4277905" y="1659520"/>
              <a:ext cx="5138681" cy="1591156"/>
            </a:xfrm>
            <a:custGeom>
              <a:avLst/>
              <a:gdLst/>
              <a:ahLst/>
              <a:cxnLst/>
              <a:rect l="l" t="t" r="r" b="b"/>
              <a:pathLst>
                <a:path w="9427" h="2918" extrusionOk="0">
                  <a:moveTo>
                    <a:pt x="9426" y="2510"/>
                  </a:moveTo>
                  <a:cubicBezTo>
                    <a:pt x="8722" y="2510"/>
                    <a:pt x="8380" y="1893"/>
                    <a:pt x="8078" y="1349"/>
                  </a:cubicBezTo>
                  <a:cubicBezTo>
                    <a:pt x="7792" y="832"/>
                    <a:pt x="7544" y="387"/>
                    <a:pt x="7069" y="387"/>
                  </a:cubicBezTo>
                  <a:cubicBezTo>
                    <a:pt x="6603" y="387"/>
                    <a:pt x="6343" y="947"/>
                    <a:pt x="6066" y="1540"/>
                  </a:cubicBezTo>
                  <a:cubicBezTo>
                    <a:pt x="5917" y="1861"/>
                    <a:pt x="5763" y="2193"/>
                    <a:pt x="5565" y="2447"/>
                  </a:cubicBezTo>
                  <a:cubicBezTo>
                    <a:pt x="5320" y="2764"/>
                    <a:pt x="5041" y="2917"/>
                    <a:pt x="4713" y="2917"/>
                  </a:cubicBezTo>
                  <a:cubicBezTo>
                    <a:pt x="4013" y="2917"/>
                    <a:pt x="3670" y="2338"/>
                    <a:pt x="3368" y="1826"/>
                  </a:cubicBezTo>
                  <a:cubicBezTo>
                    <a:pt x="3082" y="1342"/>
                    <a:pt x="2835" y="925"/>
                    <a:pt x="2356" y="925"/>
                  </a:cubicBezTo>
                  <a:cubicBezTo>
                    <a:pt x="1877" y="925"/>
                    <a:pt x="1630" y="1340"/>
                    <a:pt x="1344" y="1820"/>
                  </a:cubicBezTo>
                  <a:cubicBezTo>
                    <a:pt x="1042" y="2328"/>
                    <a:pt x="699" y="2903"/>
                    <a:pt x="0" y="2903"/>
                  </a:cubicBezTo>
                  <a:lnTo>
                    <a:pt x="0" y="2517"/>
                  </a:lnTo>
                  <a:cubicBezTo>
                    <a:pt x="479" y="2517"/>
                    <a:pt x="726" y="2102"/>
                    <a:pt x="1012" y="1622"/>
                  </a:cubicBezTo>
                  <a:cubicBezTo>
                    <a:pt x="1314" y="1114"/>
                    <a:pt x="1657" y="538"/>
                    <a:pt x="2356" y="538"/>
                  </a:cubicBezTo>
                  <a:cubicBezTo>
                    <a:pt x="3055" y="538"/>
                    <a:pt x="3399" y="1117"/>
                    <a:pt x="3701" y="1629"/>
                  </a:cubicBezTo>
                  <a:cubicBezTo>
                    <a:pt x="3987" y="2113"/>
                    <a:pt x="4234" y="2530"/>
                    <a:pt x="4713" y="2530"/>
                  </a:cubicBezTo>
                  <a:cubicBezTo>
                    <a:pt x="5178" y="2530"/>
                    <a:pt x="5439" y="1970"/>
                    <a:pt x="5715" y="1377"/>
                  </a:cubicBezTo>
                  <a:cubicBezTo>
                    <a:pt x="5865" y="1056"/>
                    <a:pt x="6019" y="724"/>
                    <a:pt x="6217" y="470"/>
                  </a:cubicBezTo>
                  <a:cubicBezTo>
                    <a:pt x="6462" y="153"/>
                    <a:pt x="6741" y="0"/>
                    <a:pt x="7069" y="0"/>
                  </a:cubicBezTo>
                  <a:cubicBezTo>
                    <a:pt x="7772" y="0"/>
                    <a:pt x="8114" y="616"/>
                    <a:pt x="8417" y="1161"/>
                  </a:cubicBezTo>
                  <a:cubicBezTo>
                    <a:pt x="8703" y="1677"/>
                    <a:pt x="8950" y="2123"/>
                    <a:pt x="9425" y="2123"/>
                  </a:cubicBezTo>
                  <a:lnTo>
                    <a:pt x="9426" y="251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55;p15">
              <a:extLst>
                <a:ext uri="{FF2B5EF4-FFF2-40B4-BE49-F238E27FC236}">
                  <a16:creationId xmlns:a16="http://schemas.microsoft.com/office/drawing/2014/main" id="{326CDC61-55DB-8D02-E4C8-0214407A8C68}"/>
                </a:ext>
              </a:extLst>
            </p:cNvPr>
            <p:cNvSpPr/>
            <p:nvPr/>
          </p:nvSpPr>
          <p:spPr>
            <a:xfrm rot="5400000">
              <a:off x="4310347" y="1723223"/>
              <a:ext cx="5073801" cy="1389255"/>
            </a:xfrm>
            <a:custGeom>
              <a:avLst/>
              <a:gdLst/>
              <a:ahLst/>
              <a:cxnLst/>
              <a:rect l="l" t="t" r="r" b="b"/>
              <a:pathLst>
                <a:path w="9309" h="2551" extrusionOk="0">
                  <a:moveTo>
                    <a:pt x="7071" y="0"/>
                  </a:moveTo>
                  <a:lnTo>
                    <a:pt x="7071" y="0"/>
                  </a:lnTo>
                  <a:cubicBezTo>
                    <a:pt x="7072" y="0"/>
                    <a:pt x="7073" y="1"/>
                    <a:pt x="7075" y="2"/>
                  </a:cubicBezTo>
                  <a:cubicBezTo>
                    <a:pt x="7076" y="2"/>
                    <a:pt x="7077" y="4"/>
                    <a:pt x="7078" y="5"/>
                  </a:cubicBezTo>
                  <a:cubicBezTo>
                    <a:pt x="7079" y="6"/>
                    <a:pt x="7080" y="8"/>
                    <a:pt x="7080" y="10"/>
                  </a:cubicBezTo>
                  <a:cubicBezTo>
                    <a:pt x="7080" y="12"/>
                    <a:pt x="7079" y="13"/>
                    <a:pt x="7078" y="15"/>
                  </a:cubicBezTo>
                  <a:cubicBezTo>
                    <a:pt x="7077" y="16"/>
                    <a:pt x="7076" y="17"/>
                    <a:pt x="7075" y="18"/>
                  </a:cubicBezTo>
                  <a:cubicBezTo>
                    <a:pt x="7074" y="19"/>
                    <a:pt x="7072" y="19"/>
                    <a:pt x="7071" y="19"/>
                  </a:cubicBezTo>
                  <a:lnTo>
                    <a:pt x="7071" y="19"/>
                  </a:lnTo>
                  <a:cubicBezTo>
                    <a:pt x="7033" y="20"/>
                    <a:pt x="6995" y="23"/>
                    <a:pt x="6958" y="29"/>
                  </a:cubicBezTo>
                  <a:lnTo>
                    <a:pt x="6958" y="29"/>
                  </a:lnTo>
                  <a:lnTo>
                    <a:pt x="6957" y="29"/>
                  </a:lnTo>
                  <a:cubicBezTo>
                    <a:pt x="6955" y="29"/>
                    <a:pt x="6953" y="27"/>
                    <a:pt x="6952" y="27"/>
                  </a:cubicBezTo>
                  <a:cubicBezTo>
                    <a:pt x="6950" y="26"/>
                    <a:pt x="6948" y="25"/>
                    <a:pt x="6948" y="24"/>
                  </a:cubicBezTo>
                  <a:cubicBezTo>
                    <a:pt x="6947" y="22"/>
                    <a:pt x="6947" y="21"/>
                    <a:pt x="6947" y="19"/>
                  </a:cubicBezTo>
                  <a:cubicBezTo>
                    <a:pt x="6947" y="17"/>
                    <a:pt x="6947" y="15"/>
                    <a:pt x="6948" y="14"/>
                  </a:cubicBezTo>
                  <a:cubicBezTo>
                    <a:pt x="6948" y="12"/>
                    <a:pt x="6950" y="12"/>
                    <a:pt x="6952" y="11"/>
                  </a:cubicBezTo>
                  <a:cubicBezTo>
                    <a:pt x="6953" y="10"/>
                    <a:pt x="6954" y="10"/>
                    <a:pt x="6955" y="10"/>
                  </a:cubicBezTo>
                  <a:lnTo>
                    <a:pt x="6955" y="10"/>
                  </a:lnTo>
                  <a:cubicBezTo>
                    <a:pt x="6993" y="4"/>
                    <a:pt x="7032" y="1"/>
                    <a:pt x="7070" y="0"/>
                  </a:cubicBezTo>
                  <a:lnTo>
                    <a:pt x="7071" y="0"/>
                  </a:lnTo>
                  <a:close/>
                  <a:moveTo>
                    <a:pt x="7185" y="6"/>
                  </a:moveTo>
                  <a:cubicBezTo>
                    <a:pt x="7186" y="6"/>
                    <a:pt x="7186" y="6"/>
                    <a:pt x="7186" y="6"/>
                  </a:cubicBezTo>
                  <a:lnTo>
                    <a:pt x="7186" y="6"/>
                  </a:lnTo>
                  <a:cubicBezTo>
                    <a:pt x="7225" y="11"/>
                    <a:pt x="7263" y="18"/>
                    <a:pt x="7300" y="27"/>
                  </a:cubicBezTo>
                  <a:lnTo>
                    <a:pt x="7300" y="27"/>
                  </a:lnTo>
                  <a:cubicBezTo>
                    <a:pt x="7301" y="27"/>
                    <a:pt x="7301" y="27"/>
                    <a:pt x="7302" y="28"/>
                  </a:cubicBezTo>
                  <a:cubicBezTo>
                    <a:pt x="7303" y="28"/>
                    <a:pt x="7304" y="30"/>
                    <a:pt x="7305" y="32"/>
                  </a:cubicBezTo>
                  <a:cubicBezTo>
                    <a:pt x="7305" y="33"/>
                    <a:pt x="7307" y="34"/>
                    <a:pt x="7307" y="36"/>
                  </a:cubicBezTo>
                  <a:cubicBezTo>
                    <a:pt x="7307" y="37"/>
                    <a:pt x="7305" y="39"/>
                    <a:pt x="7305" y="41"/>
                  </a:cubicBezTo>
                  <a:cubicBezTo>
                    <a:pt x="7304" y="42"/>
                    <a:pt x="7303" y="44"/>
                    <a:pt x="7302" y="45"/>
                  </a:cubicBezTo>
                  <a:cubicBezTo>
                    <a:pt x="7300" y="45"/>
                    <a:pt x="7299" y="46"/>
                    <a:pt x="7297" y="46"/>
                  </a:cubicBezTo>
                  <a:cubicBezTo>
                    <a:pt x="7296" y="46"/>
                    <a:pt x="7296" y="46"/>
                    <a:pt x="7295" y="46"/>
                  </a:cubicBezTo>
                  <a:lnTo>
                    <a:pt x="7295" y="46"/>
                  </a:lnTo>
                  <a:cubicBezTo>
                    <a:pt x="7259" y="36"/>
                    <a:pt x="7222" y="30"/>
                    <a:pt x="7184" y="25"/>
                  </a:cubicBezTo>
                  <a:lnTo>
                    <a:pt x="7184" y="25"/>
                  </a:lnTo>
                  <a:cubicBezTo>
                    <a:pt x="7183" y="25"/>
                    <a:pt x="7181" y="24"/>
                    <a:pt x="7180" y="24"/>
                  </a:cubicBezTo>
                  <a:cubicBezTo>
                    <a:pt x="7178" y="22"/>
                    <a:pt x="7177" y="22"/>
                    <a:pt x="7176" y="21"/>
                  </a:cubicBezTo>
                  <a:cubicBezTo>
                    <a:pt x="7175" y="19"/>
                    <a:pt x="7175" y="17"/>
                    <a:pt x="7175" y="16"/>
                  </a:cubicBezTo>
                  <a:cubicBezTo>
                    <a:pt x="7175" y="14"/>
                    <a:pt x="7175" y="12"/>
                    <a:pt x="7176" y="11"/>
                  </a:cubicBezTo>
                  <a:cubicBezTo>
                    <a:pt x="7177" y="10"/>
                    <a:pt x="7178" y="7"/>
                    <a:pt x="7180" y="7"/>
                  </a:cubicBezTo>
                  <a:cubicBezTo>
                    <a:pt x="7181" y="6"/>
                    <a:pt x="7183" y="6"/>
                    <a:pt x="7185" y="6"/>
                  </a:cubicBezTo>
                  <a:close/>
                  <a:moveTo>
                    <a:pt x="6846" y="36"/>
                  </a:moveTo>
                  <a:lnTo>
                    <a:pt x="6846" y="36"/>
                  </a:lnTo>
                  <a:lnTo>
                    <a:pt x="6846" y="36"/>
                  </a:lnTo>
                  <a:cubicBezTo>
                    <a:pt x="6848" y="36"/>
                    <a:pt x="6849" y="36"/>
                    <a:pt x="6851" y="37"/>
                  </a:cubicBezTo>
                  <a:cubicBezTo>
                    <a:pt x="6852" y="38"/>
                    <a:pt x="6853" y="39"/>
                    <a:pt x="6854" y="41"/>
                  </a:cubicBezTo>
                  <a:cubicBezTo>
                    <a:pt x="6855" y="42"/>
                    <a:pt x="6856" y="44"/>
                    <a:pt x="6856" y="46"/>
                  </a:cubicBezTo>
                  <a:cubicBezTo>
                    <a:pt x="6856" y="47"/>
                    <a:pt x="6855" y="48"/>
                    <a:pt x="6854" y="50"/>
                  </a:cubicBezTo>
                  <a:cubicBezTo>
                    <a:pt x="6853" y="51"/>
                    <a:pt x="6852" y="53"/>
                    <a:pt x="6851" y="54"/>
                  </a:cubicBezTo>
                  <a:cubicBezTo>
                    <a:pt x="6850" y="54"/>
                    <a:pt x="6849" y="55"/>
                    <a:pt x="6849" y="55"/>
                  </a:cubicBezTo>
                  <a:lnTo>
                    <a:pt x="6849" y="55"/>
                  </a:lnTo>
                  <a:cubicBezTo>
                    <a:pt x="6813" y="66"/>
                    <a:pt x="6778" y="81"/>
                    <a:pt x="6745" y="98"/>
                  </a:cubicBezTo>
                  <a:lnTo>
                    <a:pt x="6745" y="98"/>
                  </a:lnTo>
                  <a:cubicBezTo>
                    <a:pt x="6743" y="98"/>
                    <a:pt x="6742" y="99"/>
                    <a:pt x="6740" y="99"/>
                  </a:cubicBezTo>
                  <a:cubicBezTo>
                    <a:pt x="6739" y="99"/>
                    <a:pt x="6736" y="98"/>
                    <a:pt x="6735" y="97"/>
                  </a:cubicBezTo>
                  <a:cubicBezTo>
                    <a:pt x="6733" y="96"/>
                    <a:pt x="6733" y="95"/>
                    <a:pt x="6732" y="94"/>
                  </a:cubicBezTo>
                  <a:cubicBezTo>
                    <a:pt x="6731" y="92"/>
                    <a:pt x="6731" y="91"/>
                    <a:pt x="6731" y="89"/>
                  </a:cubicBezTo>
                  <a:cubicBezTo>
                    <a:pt x="6731" y="87"/>
                    <a:pt x="6731" y="85"/>
                    <a:pt x="6732" y="84"/>
                  </a:cubicBezTo>
                  <a:cubicBezTo>
                    <a:pt x="6733" y="82"/>
                    <a:pt x="6734" y="82"/>
                    <a:pt x="6735" y="81"/>
                  </a:cubicBezTo>
                  <a:cubicBezTo>
                    <a:pt x="6736" y="81"/>
                    <a:pt x="6736" y="81"/>
                    <a:pt x="6736" y="80"/>
                  </a:cubicBezTo>
                  <a:lnTo>
                    <a:pt x="6736" y="80"/>
                  </a:lnTo>
                  <a:cubicBezTo>
                    <a:pt x="6770" y="63"/>
                    <a:pt x="6806" y="48"/>
                    <a:pt x="6843" y="36"/>
                  </a:cubicBezTo>
                  <a:lnTo>
                    <a:pt x="6843" y="36"/>
                  </a:lnTo>
                  <a:cubicBezTo>
                    <a:pt x="6844" y="36"/>
                    <a:pt x="6845" y="36"/>
                    <a:pt x="6846" y="36"/>
                  </a:cubicBezTo>
                  <a:close/>
                  <a:moveTo>
                    <a:pt x="7406" y="63"/>
                  </a:moveTo>
                  <a:lnTo>
                    <a:pt x="7406" y="63"/>
                  </a:lnTo>
                  <a:cubicBezTo>
                    <a:pt x="7407" y="63"/>
                    <a:pt x="7409" y="63"/>
                    <a:pt x="7410" y="63"/>
                  </a:cubicBezTo>
                  <a:lnTo>
                    <a:pt x="7410" y="63"/>
                  </a:lnTo>
                  <a:cubicBezTo>
                    <a:pt x="7445" y="78"/>
                    <a:pt x="7480" y="95"/>
                    <a:pt x="7514" y="114"/>
                  </a:cubicBezTo>
                  <a:lnTo>
                    <a:pt x="7514" y="114"/>
                  </a:lnTo>
                  <a:lnTo>
                    <a:pt x="7514" y="114"/>
                  </a:lnTo>
                  <a:cubicBezTo>
                    <a:pt x="7515" y="115"/>
                    <a:pt x="7516" y="116"/>
                    <a:pt x="7517" y="118"/>
                  </a:cubicBezTo>
                  <a:cubicBezTo>
                    <a:pt x="7518" y="119"/>
                    <a:pt x="7519" y="120"/>
                    <a:pt x="7519" y="122"/>
                  </a:cubicBezTo>
                  <a:cubicBezTo>
                    <a:pt x="7519" y="123"/>
                    <a:pt x="7518" y="125"/>
                    <a:pt x="7517" y="127"/>
                  </a:cubicBezTo>
                  <a:cubicBezTo>
                    <a:pt x="7516" y="128"/>
                    <a:pt x="7515" y="130"/>
                    <a:pt x="7514" y="131"/>
                  </a:cubicBezTo>
                  <a:cubicBezTo>
                    <a:pt x="7512" y="131"/>
                    <a:pt x="7511" y="132"/>
                    <a:pt x="7509" y="132"/>
                  </a:cubicBezTo>
                  <a:cubicBezTo>
                    <a:pt x="7507" y="132"/>
                    <a:pt x="7506" y="131"/>
                    <a:pt x="7504" y="131"/>
                  </a:cubicBezTo>
                  <a:lnTo>
                    <a:pt x="7504" y="131"/>
                  </a:lnTo>
                  <a:cubicBezTo>
                    <a:pt x="7471" y="112"/>
                    <a:pt x="7438" y="95"/>
                    <a:pt x="7403" y="81"/>
                  </a:cubicBezTo>
                  <a:lnTo>
                    <a:pt x="7403" y="81"/>
                  </a:lnTo>
                  <a:cubicBezTo>
                    <a:pt x="7402" y="81"/>
                    <a:pt x="7402" y="81"/>
                    <a:pt x="7401" y="81"/>
                  </a:cubicBezTo>
                  <a:cubicBezTo>
                    <a:pt x="7399" y="80"/>
                    <a:pt x="7399" y="78"/>
                    <a:pt x="7398" y="77"/>
                  </a:cubicBezTo>
                  <a:cubicBezTo>
                    <a:pt x="7397" y="75"/>
                    <a:pt x="7397" y="73"/>
                    <a:pt x="7397" y="72"/>
                  </a:cubicBezTo>
                  <a:cubicBezTo>
                    <a:pt x="7397" y="70"/>
                    <a:pt x="7397" y="68"/>
                    <a:pt x="7398" y="67"/>
                  </a:cubicBezTo>
                  <a:cubicBezTo>
                    <a:pt x="7399" y="65"/>
                    <a:pt x="7399" y="64"/>
                    <a:pt x="7401" y="64"/>
                  </a:cubicBezTo>
                  <a:cubicBezTo>
                    <a:pt x="7403" y="62"/>
                    <a:pt x="7404" y="63"/>
                    <a:pt x="7406" y="63"/>
                  </a:cubicBezTo>
                  <a:close/>
                  <a:moveTo>
                    <a:pt x="6642" y="138"/>
                  </a:moveTo>
                  <a:lnTo>
                    <a:pt x="6642" y="138"/>
                  </a:lnTo>
                  <a:cubicBezTo>
                    <a:pt x="6643" y="138"/>
                    <a:pt x="6645" y="137"/>
                    <a:pt x="6647" y="139"/>
                  </a:cubicBezTo>
                  <a:cubicBezTo>
                    <a:pt x="6648" y="139"/>
                    <a:pt x="6649" y="141"/>
                    <a:pt x="6650" y="143"/>
                  </a:cubicBezTo>
                  <a:cubicBezTo>
                    <a:pt x="6651" y="144"/>
                    <a:pt x="6651" y="146"/>
                    <a:pt x="6651" y="148"/>
                  </a:cubicBezTo>
                  <a:cubicBezTo>
                    <a:pt x="6651" y="149"/>
                    <a:pt x="6650" y="150"/>
                    <a:pt x="6650" y="152"/>
                  </a:cubicBezTo>
                  <a:cubicBezTo>
                    <a:pt x="6648" y="153"/>
                    <a:pt x="6648" y="155"/>
                    <a:pt x="6647" y="155"/>
                  </a:cubicBezTo>
                  <a:lnTo>
                    <a:pt x="6647" y="155"/>
                  </a:lnTo>
                  <a:cubicBezTo>
                    <a:pt x="6616" y="177"/>
                    <a:pt x="6586" y="200"/>
                    <a:pt x="6558" y="225"/>
                  </a:cubicBezTo>
                  <a:lnTo>
                    <a:pt x="6558" y="225"/>
                  </a:lnTo>
                  <a:cubicBezTo>
                    <a:pt x="6557" y="226"/>
                    <a:pt x="6557" y="226"/>
                    <a:pt x="6556" y="227"/>
                  </a:cubicBezTo>
                  <a:cubicBezTo>
                    <a:pt x="6555" y="227"/>
                    <a:pt x="6552" y="228"/>
                    <a:pt x="6551" y="228"/>
                  </a:cubicBezTo>
                  <a:cubicBezTo>
                    <a:pt x="6549" y="228"/>
                    <a:pt x="6548" y="227"/>
                    <a:pt x="6547" y="227"/>
                  </a:cubicBezTo>
                  <a:cubicBezTo>
                    <a:pt x="6545" y="226"/>
                    <a:pt x="6544" y="224"/>
                    <a:pt x="6543" y="223"/>
                  </a:cubicBezTo>
                  <a:cubicBezTo>
                    <a:pt x="6542" y="221"/>
                    <a:pt x="6542" y="219"/>
                    <a:pt x="6542" y="218"/>
                  </a:cubicBezTo>
                  <a:cubicBezTo>
                    <a:pt x="6542" y="216"/>
                    <a:pt x="6541" y="214"/>
                    <a:pt x="6543" y="213"/>
                  </a:cubicBezTo>
                  <a:cubicBezTo>
                    <a:pt x="6543" y="212"/>
                    <a:pt x="6544" y="212"/>
                    <a:pt x="6545" y="211"/>
                  </a:cubicBezTo>
                  <a:lnTo>
                    <a:pt x="6545" y="211"/>
                  </a:lnTo>
                  <a:cubicBezTo>
                    <a:pt x="6574" y="186"/>
                    <a:pt x="6605" y="162"/>
                    <a:pt x="6636" y="140"/>
                  </a:cubicBezTo>
                  <a:lnTo>
                    <a:pt x="6636" y="140"/>
                  </a:lnTo>
                  <a:lnTo>
                    <a:pt x="6637" y="139"/>
                  </a:lnTo>
                  <a:cubicBezTo>
                    <a:pt x="6638" y="138"/>
                    <a:pt x="6640" y="138"/>
                    <a:pt x="6642" y="138"/>
                  </a:cubicBezTo>
                  <a:close/>
                  <a:moveTo>
                    <a:pt x="7605" y="176"/>
                  </a:moveTo>
                  <a:lnTo>
                    <a:pt x="7605" y="176"/>
                  </a:lnTo>
                  <a:lnTo>
                    <a:pt x="7605" y="176"/>
                  </a:lnTo>
                  <a:cubicBezTo>
                    <a:pt x="7607" y="176"/>
                    <a:pt x="7608" y="176"/>
                    <a:pt x="7610" y="177"/>
                  </a:cubicBezTo>
                  <a:lnTo>
                    <a:pt x="7611" y="177"/>
                  </a:lnTo>
                  <a:lnTo>
                    <a:pt x="7611" y="177"/>
                  </a:lnTo>
                  <a:cubicBezTo>
                    <a:pt x="7642" y="200"/>
                    <a:pt x="7672" y="225"/>
                    <a:pt x="7700" y="251"/>
                  </a:cubicBezTo>
                  <a:lnTo>
                    <a:pt x="7700" y="251"/>
                  </a:lnTo>
                  <a:cubicBezTo>
                    <a:pt x="7701" y="252"/>
                    <a:pt x="7701" y="251"/>
                    <a:pt x="7702" y="253"/>
                  </a:cubicBezTo>
                  <a:cubicBezTo>
                    <a:pt x="7703" y="254"/>
                    <a:pt x="7703" y="256"/>
                    <a:pt x="7703" y="258"/>
                  </a:cubicBezTo>
                  <a:cubicBezTo>
                    <a:pt x="7703" y="260"/>
                    <a:pt x="7703" y="261"/>
                    <a:pt x="7702" y="263"/>
                  </a:cubicBezTo>
                  <a:cubicBezTo>
                    <a:pt x="7701" y="264"/>
                    <a:pt x="7699" y="265"/>
                    <a:pt x="7698" y="266"/>
                  </a:cubicBezTo>
                  <a:cubicBezTo>
                    <a:pt x="7696" y="267"/>
                    <a:pt x="7695" y="268"/>
                    <a:pt x="7694" y="268"/>
                  </a:cubicBezTo>
                  <a:cubicBezTo>
                    <a:pt x="7692" y="268"/>
                    <a:pt x="7690" y="266"/>
                    <a:pt x="7689" y="266"/>
                  </a:cubicBezTo>
                  <a:cubicBezTo>
                    <a:pt x="7688" y="265"/>
                    <a:pt x="7688" y="266"/>
                    <a:pt x="7687" y="265"/>
                  </a:cubicBezTo>
                  <a:lnTo>
                    <a:pt x="7687" y="265"/>
                  </a:lnTo>
                  <a:cubicBezTo>
                    <a:pt x="7659" y="240"/>
                    <a:pt x="7630" y="215"/>
                    <a:pt x="7599" y="193"/>
                  </a:cubicBezTo>
                  <a:lnTo>
                    <a:pt x="7599" y="193"/>
                  </a:lnTo>
                  <a:cubicBezTo>
                    <a:pt x="7598" y="192"/>
                    <a:pt x="7597" y="191"/>
                    <a:pt x="7597" y="190"/>
                  </a:cubicBezTo>
                  <a:cubicBezTo>
                    <a:pt x="7596" y="187"/>
                    <a:pt x="7595" y="187"/>
                    <a:pt x="7595" y="185"/>
                  </a:cubicBezTo>
                  <a:cubicBezTo>
                    <a:pt x="7595" y="183"/>
                    <a:pt x="7596" y="181"/>
                    <a:pt x="7597" y="180"/>
                  </a:cubicBezTo>
                  <a:cubicBezTo>
                    <a:pt x="7598" y="178"/>
                    <a:pt x="7598" y="178"/>
                    <a:pt x="7600" y="177"/>
                  </a:cubicBezTo>
                  <a:cubicBezTo>
                    <a:pt x="7601" y="176"/>
                    <a:pt x="7603" y="176"/>
                    <a:pt x="7605" y="176"/>
                  </a:cubicBezTo>
                  <a:close/>
                  <a:moveTo>
                    <a:pt x="6469" y="289"/>
                  </a:moveTo>
                  <a:lnTo>
                    <a:pt x="6469" y="289"/>
                  </a:lnTo>
                  <a:lnTo>
                    <a:pt x="6469" y="289"/>
                  </a:lnTo>
                  <a:cubicBezTo>
                    <a:pt x="6471" y="289"/>
                    <a:pt x="6472" y="289"/>
                    <a:pt x="6474" y="290"/>
                  </a:cubicBezTo>
                  <a:cubicBezTo>
                    <a:pt x="6475" y="291"/>
                    <a:pt x="6477" y="292"/>
                    <a:pt x="6478" y="294"/>
                  </a:cubicBezTo>
                  <a:cubicBezTo>
                    <a:pt x="6478" y="295"/>
                    <a:pt x="6479" y="296"/>
                    <a:pt x="6479" y="298"/>
                  </a:cubicBezTo>
                  <a:cubicBezTo>
                    <a:pt x="6479" y="299"/>
                    <a:pt x="6478" y="302"/>
                    <a:pt x="6478" y="303"/>
                  </a:cubicBezTo>
                  <a:cubicBezTo>
                    <a:pt x="6477" y="304"/>
                    <a:pt x="6477" y="305"/>
                    <a:pt x="6476" y="305"/>
                  </a:cubicBezTo>
                  <a:cubicBezTo>
                    <a:pt x="6451" y="332"/>
                    <a:pt x="6426" y="361"/>
                    <a:pt x="6402" y="392"/>
                  </a:cubicBezTo>
                  <a:lnTo>
                    <a:pt x="6402" y="392"/>
                  </a:lnTo>
                  <a:cubicBezTo>
                    <a:pt x="6401" y="393"/>
                    <a:pt x="6400" y="393"/>
                    <a:pt x="6399" y="394"/>
                  </a:cubicBezTo>
                  <a:cubicBezTo>
                    <a:pt x="6397" y="394"/>
                    <a:pt x="6396" y="396"/>
                    <a:pt x="6394" y="396"/>
                  </a:cubicBezTo>
                  <a:cubicBezTo>
                    <a:pt x="6392" y="396"/>
                    <a:pt x="6390" y="395"/>
                    <a:pt x="6389" y="394"/>
                  </a:cubicBezTo>
                  <a:cubicBezTo>
                    <a:pt x="6388" y="393"/>
                    <a:pt x="6386" y="392"/>
                    <a:pt x="6386" y="391"/>
                  </a:cubicBezTo>
                  <a:cubicBezTo>
                    <a:pt x="6385" y="389"/>
                    <a:pt x="6384" y="388"/>
                    <a:pt x="6384" y="386"/>
                  </a:cubicBezTo>
                  <a:cubicBezTo>
                    <a:pt x="6384" y="384"/>
                    <a:pt x="6385" y="383"/>
                    <a:pt x="6386" y="381"/>
                  </a:cubicBezTo>
                  <a:cubicBezTo>
                    <a:pt x="6386" y="381"/>
                    <a:pt x="6386" y="380"/>
                    <a:pt x="6387" y="380"/>
                  </a:cubicBezTo>
                  <a:cubicBezTo>
                    <a:pt x="6411" y="349"/>
                    <a:pt x="6437" y="319"/>
                    <a:pt x="6462" y="292"/>
                  </a:cubicBezTo>
                  <a:lnTo>
                    <a:pt x="6462" y="292"/>
                  </a:lnTo>
                  <a:cubicBezTo>
                    <a:pt x="6463" y="291"/>
                    <a:pt x="6464" y="291"/>
                    <a:pt x="6465" y="290"/>
                  </a:cubicBezTo>
                  <a:cubicBezTo>
                    <a:pt x="6466" y="289"/>
                    <a:pt x="6468" y="289"/>
                    <a:pt x="6469" y="289"/>
                  </a:cubicBezTo>
                  <a:close/>
                  <a:moveTo>
                    <a:pt x="7775" y="329"/>
                  </a:moveTo>
                  <a:lnTo>
                    <a:pt x="7775" y="329"/>
                  </a:lnTo>
                  <a:lnTo>
                    <a:pt x="7775" y="329"/>
                  </a:lnTo>
                  <a:cubicBezTo>
                    <a:pt x="7777" y="329"/>
                    <a:pt x="7778" y="330"/>
                    <a:pt x="7780" y="331"/>
                  </a:cubicBezTo>
                  <a:cubicBezTo>
                    <a:pt x="7781" y="331"/>
                    <a:pt x="7782" y="332"/>
                    <a:pt x="7782" y="332"/>
                  </a:cubicBezTo>
                  <a:cubicBezTo>
                    <a:pt x="7807" y="359"/>
                    <a:pt x="7833" y="389"/>
                    <a:pt x="7858" y="420"/>
                  </a:cubicBezTo>
                  <a:lnTo>
                    <a:pt x="7858" y="420"/>
                  </a:lnTo>
                  <a:lnTo>
                    <a:pt x="7859" y="421"/>
                  </a:lnTo>
                  <a:cubicBezTo>
                    <a:pt x="7860" y="423"/>
                    <a:pt x="7860" y="424"/>
                    <a:pt x="7860" y="426"/>
                  </a:cubicBezTo>
                  <a:cubicBezTo>
                    <a:pt x="7860" y="428"/>
                    <a:pt x="7860" y="429"/>
                    <a:pt x="7859" y="431"/>
                  </a:cubicBezTo>
                  <a:cubicBezTo>
                    <a:pt x="7858" y="432"/>
                    <a:pt x="7856" y="433"/>
                    <a:pt x="7855" y="434"/>
                  </a:cubicBezTo>
                  <a:cubicBezTo>
                    <a:pt x="7853" y="435"/>
                    <a:pt x="7852" y="435"/>
                    <a:pt x="7851" y="435"/>
                  </a:cubicBezTo>
                  <a:cubicBezTo>
                    <a:pt x="7849" y="435"/>
                    <a:pt x="7847" y="434"/>
                    <a:pt x="7846" y="434"/>
                  </a:cubicBezTo>
                  <a:cubicBezTo>
                    <a:pt x="7845" y="433"/>
                    <a:pt x="7844" y="433"/>
                    <a:pt x="7843" y="432"/>
                  </a:cubicBezTo>
                  <a:cubicBezTo>
                    <a:pt x="7818" y="401"/>
                    <a:pt x="7793" y="372"/>
                    <a:pt x="7768" y="345"/>
                  </a:cubicBezTo>
                  <a:lnTo>
                    <a:pt x="7768" y="345"/>
                  </a:lnTo>
                  <a:cubicBezTo>
                    <a:pt x="7768" y="345"/>
                    <a:pt x="7767" y="344"/>
                    <a:pt x="7767" y="343"/>
                  </a:cubicBezTo>
                  <a:cubicBezTo>
                    <a:pt x="7766" y="341"/>
                    <a:pt x="7766" y="340"/>
                    <a:pt x="7766" y="339"/>
                  </a:cubicBezTo>
                  <a:cubicBezTo>
                    <a:pt x="7766" y="337"/>
                    <a:pt x="7766" y="335"/>
                    <a:pt x="7767" y="334"/>
                  </a:cubicBezTo>
                  <a:cubicBezTo>
                    <a:pt x="7768" y="332"/>
                    <a:pt x="7768" y="330"/>
                    <a:pt x="7770" y="330"/>
                  </a:cubicBezTo>
                  <a:cubicBezTo>
                    <a:pt x="7771" y="329"/>
                    <a:pt x="7773" y="329"/>
                    <a:pt x="7775" y="329"/>
                  </a:cubicBezTo>
                  <a:close/>
                  <a:moveTo>
                    <a:pt x="6325" y="468"/>
                  </a:moveTo>
                  <a:lnTo>
                    <a:pt x="6325" y="468"/>
                  </a:lnTo>
                  <a:cubicBezTo>
                    <a:pt x="6327" y="468"/>
                    <a:pt x="6328" y="468"/>
                    <a:pt x="6330" y="469"/>
                  </a:cubicBezTo>
                  <a:cubicBezTo>
                    <a:pt x="6331" y="469"/>
                    <a:pt x="6330" y="470"/>
                    <a:pt x="6331" y="470"/>
                  </a:cubicBezTo>
                  <a:lnTo>
                    <a:pt x="6331" y="470"/>
                  </a:lnTo>
                  <a:cubicBezTo>
                    <a:pt x="6332" y="471"/>
                    <a:pt x="6332" y="472"/>
                    <a:pt x="6333" y="473"/>
                  </a:cubicBezTo>
                  <a:cubicBezTo>
                    <a:pt x="6333" y="474"/>
                    <a:pt x="6335" y="476"/>
                    <a:pt x="6335" y="478"/>
                  </a:cubicBezTo>
                  <a:cubicBezTo>
                    <a:pt x="6335" y="479"/>
                    <a:pt x="6334" y="481"/>
                    <a:pt x="6333" y="482"/>
                  </a:cubicBezTo>
                  <a:cubicBezTo>
                    <a:pt x="6333" y="483"/>
                    <a:pt x="6333" y="483"/>
                    <a:pt x="6333" y="483"/>
                  </a:cubicBezTo>
                  <a:cubicBezTo>
                    <a:pt x="6312" y="513"/>
                    <a:pt x="6291" y="545"/>
                    <a:pt x="6269" y="579"/>
                  </a:cubicBezTo>
                  <a:lnTo>
                    <a:pt x="6269" y="579"/>
                  </a:lnTo>
                  <a:cubicBezTo>
                    <a:pt x="6269" y="580"/>
                    <a:pt x="6267" y="581"/>
                    <a:pt x="6266" y="582"/>
                  </a:cubicBezTo>
                  <a:cubicBezTo>
                    <a:pt x="6264" y="583"/>
                    <a:pt x="6263" y="583"/>
                    <a:pt x="6261" y="583"/>
                  </a:cubicBezTo>
                  <a:cubicBezTo>
                    <a:pt x="6259" y="583"/>
                    <a:pt x="6257" y="583"/>
                    <a:pt x="6256" y="582"/>
                  </a:cubicBezTo>
                  <a:cubicBezTo>
                    <a:pt x="6254" y="581"/>
                    <a:pt x="6254" y="580"/>
                    <a:pt x="6253" y="579"/>
                  </a:cubicBezTo>
                  <a:cubicBezTo>
                    <a:pt x="6252" y="577"/>
                    <a:pt x="6251" y="575"/>
                    <a:pt x="6251" y="574"/>
                  </a:cubicBezTo>
                  <a:cubicBezTo>
                    <a:pt x="6251" y="572"/>
                    <a:pt x="6252" y="570"/>
                    <a:pt x="6253" y="569"/>
                  </a:cubicBezTo>
                  <a:lnTo>
                    <a:pt x="6253" y="568"/>
                  </a:lnTo>
                  <a:cubicBezTo>
                    <a:pt x="6274" y="535"/>
                    <a:pt x="6296" y="502"/>
                    <a:pt x="6317" y="472"/>
                  </a:cubicBezTo>
                  <a:lnTo>
                    <a:pt x="6317" y="472"/>
                  </a:lnTo>
                  <a:cubicBezTo>
                    <a:pt x="6318" y="471"/>
                    <a:pt x="6319" y="469"/>
                    <a:pt x="6320" y="469"/>
                  </a:cubicBezTo>
                  <a:cubicBezTo>
                    <a:pt x="6322" y="467"/>
                    <a:pt x="6323" y="468"/>
                    <a:pt x="6325" y="468"/>
                  </a:cubicBezTo>
                  <a:close/>
                  <a:moveTo>
                    <a:pt x="7920" y="508"/>
                  </a:moveTo>
                  <a:lnTo>
                    <a:pt x="7920" y="508"/>
                  </a:lnTo>
                  <a:lnTo>
                    <a:pt x="7920" y="508"/>
                  </a:lnTo>
                  <a:cubicBezTo>
                    <a:pt x="7922" y="508"/>
                    <a:pt x="7924" y="508"/>
                    <a:pt x="7925" y="509"/>
                  </a:cubicBezTo>
                  <a:cubicBezTo>
                    <a:pt x="7926" y="510"/>
                    <a:pt x="7927" y="511"/>
                    <a:pt x="7928" y="512"/>
                  </a:cubicBezTo>
                  <a:cubicBezTo>
                    <a:pt x="7950" y="541"/>
                    <a:pt x="7972" y="573"/>
                    <a:pt x="7994" y="607"/>
                  </a:cubicBezTo>
                  <a:lnTo>
                    <a:pt x="7994" y="607"/>
                  </a:lnTo>
                  <a:lnTo>
                    <a:pt x="7994" y="607"/>
                  </a:lnTo>
                  <a:cubicBezTo>
                    <a:pt x="7995" y="609"/>
                    <a:pt x="7995" y="610"/>
                    <a:pt x="7995" y="612"/>
                  </a:cubicBezTo>
                  <a:cubicBezTo>
                    <a:pt x="7995" y="614"/>
                    <a:pt x="7995" y="615"/>
                    <a:pt x="7994" y="617"/>
                  </a:cubicBezTo>
                  <a:cubicBezTo>
                    <a:pt x="7993" y="618"/>
                    <a:pt x="7992" y="619"/>
                    <a:pt x="7991" y="620"/>
                  </a:cubicBezTo>
                  <a:cubicBezTo>
                    <a:pt x="7989" y="621"/>
                    <a:pt x="7988" y="621"/>
                    <a:pt x="7986" y="621"/>
                  </a:cubicBezTo>
                  <a:cubicBezTo>
                    <a:pt x="7984" y="621"/>
                    <a:pt x="7982" y="621"/>
                    <a:pt x="7981" y="620"/>
                  </a:cubicBezTo>
                  <a:cubicBezTo>
                    <a:pt x="7980" y="619"/>
                    <a:pt x="7979" y="618"/>
                    <a:pt x="7978" y="617"/>
                  </a:cubicBezTo>
                  <a:cubicBezTo>
                    <a:pt x="7956" y="584"/>
                    <a:pt x="7934" y="552"/>
                    <a:pt x="7913" y="523"/>
                  </a:cubicBezTo>
                  <a:lnTo>
                    <a:pt x="7913" y="523"/>
                  </a:lnTo>
                  <a:cubicBezTo>
                    <a:pt x="7912" y="523"/>
                    <a:pt x="7912" y="522"/>
                    <a:pt x="7912" y="522"/>
                  </a:cubicBezTo>
                  <a:cubicBezTo>
                    <a:pt x="7911" y="521"/>
                    <a:pt x="7911" y="518"/>
                    <a:pt x="7911" y="517"/>
                  </a:cubicBezTo>
                  <a:cubicBezTo>
                    <a:pt x="7911" y="515"/>
                    <a:pt x="7911" y="513"/>
                    <a:pt x="7912" y="512"/>
                  </a:cubicBezTo>
                  <a:cubicBezTo>
                    <a:pt x="7913" y="510"/>
                    <a:pt x="7914" y="510"/>
                    <a:pt x="7916" y="509"/>
                  </a:cubicBezTo>
                  <a:cubicBezTo>
                    <a:pt x="7917" y="508"/>
                    <a:pt x="7919" y="508"/>
                    <a:pt x="7920" y="508"/>
                  </a:cubicBezTo>
                  <a:close/>
                  <a:moveTo>
                    <a:pt x="2365" y="538"/>
                  </a:moveTo>
                  <a:lnTo>
                    <a:pt x="2374" y="538"/>
                  </a:lnTo>
                  <a:lnTo>
                    <a:pt x="2374" y="538"/>
                  </a:lnTo>
                  <a:cubicBezTo>
                    <a:pt x="2376" y="538"/>
                    <a:pt x="2378" y="539"/>
                    <a:pt x="2379" y="540"/>
                  </a:cubicBezTo>
                  <a:cubicBezTo>
                    <a:pt x="2381" y="541"/>
                    <a:pt x="2382" y="541"/>
                    <a:pt x="2383" y="543"/>
                  </a:cubicBezTo>
                  <a:cubicBezTo>
                    <a:pt x="2383" y="544"/>
                    <a:pt x="2384" y="546"/>
                    <a:pt x="2384" y="548"/>
                  </a:cubicBezTo>
                  <a:cubicBezTo>
                    <a:pt x="2384" y="550"/>
                    <a:pt x="2383" y="551"/>
                    <a:pt x="2383" y="553"/>
                  </a:cubicBezTo>
                  <a:cubicBezTo>
                    <a:pt x="2382" y="554"/>
                    <a:pt x="2381" y="554"/>
                    <a:pt x="2379" y="556"/>
                  </a:cubicBezTo>
                  <a:cubicBezTo>
                    <a:pt x="2378" y="556"/>
                    <a:pt x="2376" y="558"/>
                    <a:pt x="2374" y="558"/>
                  </a:cubicBezTo>
                  <a:lnTo>
                    <a:pt x="2365" y="558"/>
                  </a:lnTo>
                  <a:lnTo>
                    <a:pt x="2365" y="558"/>
                  </a:lnTo>
                  <a:lnTo>
                    <a:pt x="2365" y="558"/>
                  </a:lnTo>
                  <a:cubicBezTo>
                    <a:pt x="2330" y="558"/>
                    <a:pt x="2295" y="559"/>
                    <a:pt x="2261" y="563"/>
                  </a:cubicBezTo>
                  <a:lnTo>
                    <a:pt x="2261" y="563"/>
                  </a:lnTo>
                  <a:lnTo>
                    <a:pt x="2260" y="563"/>
                  </a:lnTo>
                  <a:cubicBezTo>
                    <a:pt x="2258" y="563"/>
                    <a:pt x="2256" y="563"/>
                    <a:pt x="2255" y="562"/>
                  </a:cubicBezTo>
                  <a:cubicBezTo>
                    <a:pt x="2253" y="561"/>
                    <a:pt x="2253" y="559"/>
                    <a:pt x="2252" y="558"/>
                  </a:cubicBezTo>
                  <a:cubicBezTo>
                    <a:pt x="2251" y="556"/>
                    <a:pt x="2251" y="556"/>
                    <a:pt x="2250" y="554"/>
                  </a:cubicBezTo>
                  <a:lnTo>
                    <a:pt x="2250" y="554"/>
                  </a:lnTo>
                  <a:lnTo>
                    <a:pt x="2250" y="553"/>
                  </a:lnTo>
                  <a:cubicBezTo>
                    <a:pt x="2250" y="552"/>
                    <a:pt x="2251" y="550"/>
                    <a:pt x="2252" y="549"/>
                  </a:cubicBezTo>
                  <a:cubicBezTo>
                    <a:pt x="2252" y="547"/>
                    <a:pt x="2254" y="546"/>
                    <a:pt x="2255" y="545"/>
                  </a:cubicBezTo>
                  <a:cubicBezTo>
                    <a:pt x="2256" y="544"/>
                    <a:pt x="2258" y="544"/>
                    <a:pt x="2259" y="544"/>
                  </a:cubicBezTo>
                  <a:lnTo>
                    <a:pt x="2259" y="544"/>
                  </a:lnTo>
                  <a:cubicBezTo>
                    <a:pt x="2294" y="540"/>
                    <a:pt x="2330" y="538"/>
                    <a:pt x="2365" y="538"/>
                  </a:cubicBezTo>
                  <a:close/>
                  <a:moveTo>
                    <a:pt x="2489" y="546"/>
                  </a:moveTo>
                  <a:lnTo>
                    <a:pt x="2489" y="546"/>
                  </a:lnTo>
                  <a:lnTo>
                    <a:pt x="2489" y="546"/>
                  </a:lnTo>
                  <a:lnTo>
                    <a:pt x="2490" y="546"/>
                  </a:lnTo>
                  <a:lnTo>
                    <a:pt x="2490" y="546"/>
                  </a:lnTo>
                  <a:cubicBezTo>
                    <a:pt x="2528" y="551"/>
                    <a:pt x="2566" y="558"/>
                    <a:pt x="2603" y="568"/>
                  </a:cubicBezTo>
                  <a:lnTo>
                    <a:pt x="2603" y="568"/>
                  </a:lnTo>
                  <a:cubicBezTo>
                    <a:pt x="2604" y="568"/>
                    <a:pt x="2605" y="568"/>
                    <a:pt x="2606" y="569"/>
                  </a:cubicBezTo>
                  <a:cubicBezTo>
                    <a:pt x="2607" y="569"/>
                    <a:pt x="2608" y="570"/>
                    <a:pt x="2609" y="572"/>
                  </a:cubicBezTo>
                  <a:cubicBezTo>
                    <a:pt x="2609" y="573"/>
                    <a:pt x="2611" y="575"/>
                    <a:pt x="2611" y="577"/>
                  </a:cubicBezTo>
                  <a:cubicBezTo>
                    <a:pt x="2611" y="579"/>
                    <a:pt x="2609" y="580"/>
                    <a:pt x="2609" y="582"/>
                  </a:cubicBezTo>
                  <a:cubicBezTo>
                    <a:pt x="2608" y="583"/>
                    <a:pt x="2607" y="584"/>
                    <a:pt x="2606" y="585"/>
                  </a:cubicBezTo>
                  <a:cubicBezTo>
                    <a:pt x="2604" y="586"/>
                    <a:pt x="2603" y="587"/>
                    <a:pt x="2601" y="587"/>
                  </a:cubicBezTo>
                  <a:cubicBezTo>
                    <a:pt x="2600" y="587"/>
                    <a:pt x="2599" y="586"/>
                    <a:pt x="2599" y="586"/>
                  </a:cubicBezTo>
                  <a:lnTo>
                    <a:pt x="2599" y="586"/>
                  </a:lnTo>
                  <a:cubicBezTo>
                    <a:pt x="2562" y="577"/>
                    <a:pt x="2525" y="570"/>
                    <a:pt x="2488" y="565"/>
                  </a:cubicBezTo>
                  <a:lnTo>
                    <a:pt x="2488" y="565"/>
                  </a:lnTo>
                  <a:cubicBezTo>
                    <a:pt x="2486" y="565"/>
                    <a:pt x="2485" y="564"/>
                    <a:pt x="2484" y="564"/>
                  </a:cubicBezTo>
                  <a:cubicBezTo>
                    <a:pt x="2483" y="563"/>
                    <a:pt x="2481" y="561"/>
                    <a:pt x="2481" y="560"/>
                  </a:cubicBezTo>
                  <a:cubicBezTo>
                    <a:pt x="2480" y="558"/>
                    <a:pt x="2479" y="556"/>
                    <a:pt x="2479" y="555"/>
                  </a:cubicBezTo>
                  <a:cubicBezTo>
                    <a:pt x="2479" y="553"/>
                    <a:pt x="2480" y="552"/>
                    <a:pt x="2481" y="551"/>
                  </a:cubicBezTo>
                  <a:cubicBezTo>
                    <a:pt x="2481" y="549"/>
                    <a:pt x="2483" y="548"/>
                    <a:pt x="2484" y="547"/>
                  </a:cubicBezTo>
                  <a:cubicBezTo>
                    <a:pt x="2485" y="546"/>
                    <a:pt x="2487" y="546"/>
                    <a:pt x="2489" y="546"/>
                  </a:cubicBezTo>
                  <a:close/>
                  <a:moveTo>
                    <a:pt x="2147" y="563"/>
                  </a:moveTo>
                  <a:lnTo>
                    <a:pt x="2147" y="563"/>
                  </a:lnTo>
                  <a:cubicBezTo>
                    <a:pt x="2149" y="563"/>
                    <a:pt x="2150" y="562"/>
                    <a:pt x="2152" y="564"/>
                  </a:cubicBezTo>
                  <a:cubicBezTo>
                    <a:pt x="2153" y="564"/>
                    <a:pt x="2154" y="566"/>
                    <a:pt x="2155" y="568"/>
                  </a:cubicBezTo>
                  <a:cubicBezTo>
                    <a:pt x="2156" y="569"/>
                    <a:pt x="2157" y="571"/>
                    <a:pt x="2157" y="573"/>
                  </a:cubicBezTo>
                  <a:cubicBezTo>
                    <a:pt x="2157" y="574"/>
                    <a:pt x="2156" y="575"/>
                    <a:pt x="2155" y="577"/>
                  </a:cubicBezTo>
                  <a:cubicBezTo>
                    <a:pt x="2154" y="578"/>
                    <a:pt x="2153" y="580"/>
                    <a:pt x="2152" y="581"/>
                  </a:cubicBezTo>
                  <a:cubicBezTo>
                    <a:pt x="2151" y="581"/>
                    <a:pt x="2150" y="582"/>
                    <a:pt x="2149" y="582"/>
                  </a:cubicBezTo>
                  <a:lnTo>
                    <a:pt x="2149" y="582"/>
                  </a:lnTo>
                  <a:cubicBezTo>
                    <a:pt x="2113" y="591"/>
                    <a:pt x="2076" y="602"/>
                    <a:pt x="2041" y="615"/>
                  </a:cubicBezTo>
                  <a:lnTo>
                    <a:pt x="2041" y="615"/>
                  </a:lnTo>
                  <a:cubicBezTo>
                    <a:pt x="2040" y="615"/>
                    <a:pt x="2039" y="616"/>
                    <a:pt x="2038" y="616"/>
                  </a:cubicBezTo>
                  <a:cubicBezTo>
                    <a:pt x="2036" y="616"/>
                    <a:pt x="2034" y="615"/>
                    <a:pt x="2033" y="614"/>
                  </a:cubicBezTo>
                  <a:cubicBezTo>
                    <a:pt x="2031" y="613"/>
                    <a:pt x="2029" y="612"/>
                    <a:pt x="2029" y="611"/>
                  </a:cubicBezTo>
                  <a:cubicBezTo>
                    <a:pt x="2028" y="609"/>
                    <a:pt x="2028" y="608"/>
                    <a:pt x="2028" y="606"/>
                  </a:cubicBezTo>
                  <a:cubicBezTo>
                    <a:pt x="2028" y="604"/>
                    <a:pt x="2028" y="602"/>
                    <a:pt x="2029" y="601"/>
                  </a:cubicBezTo>
                  <a:cubicBezTo>
                    <a:pt x="2029" y="599"/>
                    <a:pt x="2031" y="599"/>
                    <a:pt x="2033" y="598"/>
                  </a:cubicBezTo>
                  <a:cubicBezTo>
                    <a:pt x="2034" y="597"/>
                    <a:pt x="2034" y="597"/>
                    <a:pt x="2034" y="597"/>
                  </a:cubicBezTo>
                  <a:lnTo>
                    <a:pt x="2034" y="597"/>
                  </a:lnTo>
                  <a:cubicBezTo>
                    <a:pt x="2070" y="583"/>
                    <a:pt x="2107" y="572"/>
                    <a:pt x="2145" y="563"/>
                  </a:cubicBezTo>
                  <a:lnTo>
                    <a:pt x="2145" y="563"/>
                  </a:lnTo>
                  <a:cubicBezTo>
                    <a:pt x="2146" y="563"/>
                    <a:pt x="2146" y="563"/>
                    <a:pt x="2147" y="563"/>
                  </a:cubicBezTo>
                  <a:close/>
                  <a:moveTo>
                    <a:pt x="2710" y="604"/>
                  </a:moveTo>
                  <a:lnTo>
                    <a:pt x="2710" y="604"/>
                  </a:lnTo>
                  <a:cubicBezTo>
                    <a:pt x="2711" y="604"/>
                    <a:pt x="2712" y="604"/>
                    <a:pt x="2713" y="604"/>
                  </a:cubicBezTo>
                  <a:lnTo>
                    <a:pt x="2713" y="604"/>
                  </a:lnTo>
                  <a:cubicBezTo>
                    <a:pt x="2749" y="619"/>
                    <a:pt x="2784" y="636"/>
                    <a:pt x="2817" y="654"/>
                  </a:cubicBezTo>
                  <a:lnTo>
                    <a:pt x="2817" y="654"/>
                  </a:lnTo>
                  <a:cubicBezTo>
                    <a:pt x="2818" y="654"/>
                    <a:pt x="2818" y="654"/>
                    <a:pt x="2818" y="655"/>
                  </a:cubicBezTo>
                  <a:cubicBezTo>
                    <a:pt x="2819" y="655"/>
                    <a:pt x="2820" y="657"/>
                    <a:pt x="2821" y="658"/>
                  </a:cubicBezTo>
                  <a:cubicBezTo>
                    <a:pt x="2822" y="659"/>
                    <a:pt x="2822" y="661"/>
                    <a:pt x="2822" y="663"/>
                  </a:cubicBezTo>
                  <a:cubicBezTo>
                    <a:pt x="2822" y="664"/>
                    <a:pt x="2822" y="666"/>
                    <a:pt x="2821" y="668"/>
                  </a:cubicBezTo>
                  <a:cubicBezTo>
                    <a:pt x="2820" y="669"/>
                    <a:pt x="2819" y="670"/>
                    <a:pt x="2818" y="671"/>
                  </a:cubicBezTo>
                  <a:cubicBezTo>
                    <a:pt x="2816" y="672"/>
                    <a:pt x="2814" y="672"/>
                    <a:pt x="2813" y="672"/>
                  </a:cubicBezTo>
                  <a:cubicBezTo>
                    <a:pt x="2811" y="672"/>
                    <a:pt x="2810" y="672"/>
                    <a:pt x="2808" y="671"/>
                  </a:cubicBezTo>
                  <a:lnTo>
                    <a:pt x="2808" y="671"/>
                  </a:lnTo>
                  <a:cubicBezTo>
                    <a:pt x="2775" y="653"/>
                    <a:pt x="2741" y="636"/>
                    <a:pt x="2706" y="622"/>
                  </a:cubicBezTo>
                  <a:lnTo>
                    <a:pt x="2706" y="622"/>
                  </a:lnTo>
                  <a:cubicBezTo>
                    <a:pt x="2706" y="622"/>
                    <a:pt x="2706" y="621"/>
                    <a:pt x="2705" y="621"/>
                  </a:cubicBezTo>
                  <a:cubicBezTo>
                    <a:pt x="2703" y="620"/>
                    <a:pt x="2701" y="619"/>
                    <a:pt x="2701" y="618"/>
                  </a:cubicBezTo>
                  <a:cubicBezTo>
                    <a:pt x="2700" y="617"/>
                    <a:pt x="2700" y="615"/>
                    <a:pt x="2700" y="613"/>
                  </a:cubicBezTo>
                  <a:cubicBezTo>
                    <a:pt x="2700" y="611"/>
                    <a:pt x="2700" y="609"/>
                    <a:pt x="2701" y="608"/>
                  </a:cubicBezTo>
                  <a:cubicBezTo>
                    <a:pt x="2701" y="606"/>
                    <a:pt x="2703" y="606"/>
                    <a:pt x="2705" y="605"/>
                  </a:cubicBezTo>
                  <a:cubicBezTo>
                    <a:pt x="2706" y="604"/>
                    <a:pt x="2708" y="604"/>
                    <a:pt x="2710" y="604"/>
                  </a:cubicBezTo>
                  <a:close/>
                  <a:moveTo>
                    <a:pt x="1933" y="644"/>
                  </a:moveTo>
                  <a:lnTo>
                    <a:pt x="1933" y="644"/>
                  </a:lnTo>
                  <a:cubicBezTo>
                    <a:pt x="1935" y="644"/>
                    <a:pt x="1937" y="644"/>
                    <a:pt x="1938" y="645"/>
                  </a:cubicBezTo>
                  <a:cubicBezTo>
                    <a:pt x="1940" y="646"/>
                    <a:pt x="1941" y="647"/>
                    <a:pt x="1942" y="649"/>
                  </a:cubicBezTo>
                  <a:cubicBezTo>
                    <a:pt x="1943" y="650"/>
                    <a:pt x="1943" y="651"/>
                    <a:pt x="1943" y="653"/>
                  </a:cubicBezTo>
                  <a:cubicBezTo>
                    <a:pt x="1943" y="654"/>
                    <a:pt x="1943" y="656"/>
                    <a:pt x="1942" y="658"/>
                  </a:cubicBezTo>
                  <a:cubicBezTo>
                    <a:pt x="1941" y="659"/>
                    <a:pt x="1940" y="661"/>
                    <a:pt x="1938" y="662"/>
                  </a:cubicBezTo>
                  <a:lnTo>
                    <a:pt x="1938" y="662"/>
                  </a:lnTo>
                  <a:lnTo>
                    <a:pt x="1938" y="662"/>
                  </a:lnTo>
                  <a:cubicBezTo>
                    <a:pt x="1928" y="667"/>
                    <a:pt x="1919" y="672"/>
                    <a:pt x="1910" y="678"/>
                  </a:cubicBezTo>
                  <a:cubicBezTo>
                    <a:pt x="1886" y="691"/>
                    <a:pt x="1863" y="706"/>
                    <a:pt x="1841" y="721"/>
                  </a:cubicBezTo>
                  <a:lnTo>
                    <a:pt x="1841" y="721"/>
                  </a:lnTo>
                  <a:lnTo>
                    <a:pt x="1840" y="722"/>
                  </a:lnTo>
                  <a:cubicBezTo>
                    <a:pt x="1839" y="723"/>
                    <a:pt x="1836" y="723"/>
                    <a:pt x="1835" y="723"/>
                  </a:cubicBezTo>
                  <a:cubicBezTo>
                    <a:pt x="1833" y="723"/>
                    <a:pt x="1831" y="723"/>
                    <a:pt x="1830" y="722"/>
                  </a:cubicBezTo>
                  <a:cubicBezTo>
                    <a:pt x="1828" y="721"/>
                    <a:pt x="1828" y="719"/>
                    <a:pt x="1827" y="718"/>
                  </a:cubicBezTo>
                  <a:cubicBezTo>
                    <a:pt x="1826" y="716"/>
                    <a:pt x="1826" y="714"/>
                    <a:pt x="1826" y="713"/>
                  </a:cubicBezTo>
                  <a:cubicBezTo>
                    <a:pt x="1826" y="711"/>
                    <a:pt x="1826" y="710"/>
                    <a:pt x="1827" y="709"/>
                  </a:cubicBezTo>
                  <a:cubicBezTo>
                    <a:pt x="1828" y="707"/>
                    <a:pt x="1829" y="706"/>
                    <a:pt x="1830" y="705"/>
                  </a:cubicBezTo>
                  <a:lnTo>
                    <a:pt x="1830" y="705"/>
                  </a:lnTo>
                  <a:cubicBezTo>
                    <a:pt x="1853" y="689"/>
                    <a:pt x="1876" y="675"/>
                    <a:pt x="1900" y="661"/>
                  </a:cubicBezTo>
                  <a:cubicBezTo>
                    <a:pt x="1910" y="655"/>
                    <a:pt x="1919" y="650"/>
                    <a:pt x="1929" y="645"/>
                  </a:cubicBezTo>
                  <a:lnTo>
                    <a:pt x="1929" y="645"/>
                  </a:lnTo>
                  <a:lnTo>
                    <a:pt x="1929" y="645"/>
                  </a:lnTo>
                  <a:cubicBezTo>
                    <a:pt x="1930" y="644"/>
                    <a:pt x="1932" y="644"/>
                    <a:pt x="1933" y="644"/>
                  </a:cubicBezTo>
                  <a:close/>
                  <a:moveTo>
                    <a:pt x="6202" y="662"/>
                  </a:moveTo>
                  <a:lnTo>
                    <a:pt x="6202" y="662"/>
                  </a:lnTo>
                  <a:cubicBezTo>
                    <a:pt x="6204" y="662"/>
                    <a:pt x="6205" y="663"/>
                    <a:pt x="6207" y="664"/>
                  </a:cubicBezTo>
                  <a:cubicBezTo>
                    <a:pt x="6208" y="664"/>
                    <a:pt x="6209" y="665"/>
                    <a:pt x="6210" y="667"/>
                  </a:cubicBezTo>
                  <a:cubicBezTo>
                    <a:pt x="6211" y="668"/>
                    <a:pt x="6211" y="670"/>
                    <a:pt x="6211" y="672"/>
                  </a:cubicBezTo>
                  <a:cubicBezTo>
                    <a:pt x="6211" y="674"/>
                    <a:pt x="6211" y="675"/>
                    <a:pt x="6210" y="677"/>
                  </a:cubicBezTo>
                  <a:cubicBezTo>
                    <a:pt x="6192" y="708"/>
                    <a:pt x="6173" y="742"/>
                    <a:pt x="6154" y="777"/>
                  </a:cubicBezTo>
                  <a:lnTo>
                    <a:pt x="6154" y="777"/>
                  </a:lnTo>
                  <a:lnTo>
                    <a:pt x="6154" y="777"/>
                  </a:lnTo>
                  <a:cubicBezTo>
                    <a:pt x="6153" y="779"/>
                    <a:pt x="6151" y="780"/>
                    <a:pt x="6150" y="781"/>
                  </a:cubicBezTo>
                  <a:cubicBezTo>
                    <a:pt x="6148" y="782"/>
                    <a:pt x="6147" y="782"/>
                    <a:pt x="6146" y="782"/>
                  </a:cubicBezTo>
                  <a:cubicBezTo>
                    <a:pt x="6144" y="782"/>
                    <a:pt x="6142" y="782"/>
                    <a:pt x="6141" y="781"/>
                  </a:cubicBezTo>
                  <a:cubicBezTo>
                    <a:pt x="6139" y="780"/>
                    <a:pt x="6137" y="778"/>
                    <a:pt x="6137" y="777"/>
                  </a:cubicBezTo>
                  <a:cubicBezTo>
                    <a:pt x="6136" y="775"/>
                    <a:pt x="6136" y="774"/>
                    <a:pt x="6136" y="772"/>
                  </a:cubicBezTo>
                  <a:cubicBezTo>
                    <a:pt x="6136" y="771"/>
                    <a:pt x="6136" y="769"/>
                    <a:pt x="6137" y="768"/>
                  </a:cubicBezTo>
                  <a:cubicBezTo>
                    <a:pt x="6156" y="733"/>
                    <a:pt x="6175" y="699"/>
                    <a:pt x="6194" y="667"/>
                  </a:cubicBezTo>
                  <a:lnTo>
                    <a:pt x="6194" y="667"/>
                  </a:lnTo>
                  <a:cubicBezTo>
                    <a:pt x="6194" y="666"/>
                    <a:pt x="6196" y="664"/>
                    <a:pt x="6197" y="664"/>
                  </a:cubicBezTo>
                  <a:cubicBezTo>
                    <a:pt x="6198" y="663"/>
                    <a:pt x="6200" y="662"/>
                    <a:pt x="6202" y="662"/>
                  </a:cubicBezTo>
                  <a:close/>
                  <a:moveTo>
                    <a:pt x="8048" y="699"/>
                  </a:moveTo>
                  <a:lnTo>
                    <a:pt x="8048" y="699"/>
                  </a:lnTo>
                  <a:cubicBezTo>
                    <a:pt x="8050" y="699"/>
                    <a:pt x="8051" y="699"/>
                    <a:pt x="8053" y="700"/>
                  </a:cubicBezTo>
                  <a:cubicBezTo>
                    <a:pt x="8054" y="700"/>
                    <a:pt x="8055" y="702"/>
                    <a:pt x="8056" y="704"/>
                  </a:cubicBezTo>
                  <a:cubicBezTo>
                    <a:pt x="8075" y="735"/>
                    <a:pt x="8095" y="767"/>
                    <a:pt x="8115" y="803"/>
                  </a:cubicBezTo>
                  <a:lnTo>
                    <a:pt x="8115" y="803"/>
                  </a:lnTo>
                  <a:lnTo>
                    <a:pt x="8116" y="803"/>
                  </a:lnTo>
                  <a:cubicBezTo>
                    <a:pt x="8116" y="804"/>
                    <a:pt x="8117" y="805"/>
                    <a:pt x="8117" y="807"/>
                  </a:cubicBezTo>
                  <a:cubicBezTo>
                    <a:pt x="8117" y="808"/>
                    <a:pt x="8116" y="810"/>
                    <a:pt x="8116" y="812"/>
                  </a:cubicBezTo>
                  <a:cubicBezTo>
                    <a:pt x="8115" y="813"/>
                    <a:pt x="8113" y="815"/>
                    <a:pt x="8112" y="816"/>
                  </a:cubicBezTo>
                  <a:cubicBezTo>
                    <a:pt x="8111" y="817"/>
                    <a:pt x="8108" y="817"/>
                    <a:pt x="8107" y="817"/>
                  </a:cubicBezTo>
                  <a:cubicBezTo>
                    <a:pt x="8105" y="817"/>
                    <a:pt x="8103" y="817"/>
                    <a:pt x="8102" y="816"/>
                  </a:cubicBezTo>
                  <a:cubicBezTo>
                    <a:pt x="8100" y="815"/>
                    <a:pt x="8100" y="814"/>
                    <a:pt x="8099" y="812"/>
                  </a:cubicBezTo>
                  <a:cubicBezTo>
                    <a:pt x="8078" y="777"/>
                    <a:pt x="8059" y="745"/>
                    <a:pt x="8040" y="714"/>
                  </a:cubicBezTo>
                  <a:lnTo>
                    <a:pt x="8040" y="714"/>
                  </a:lnTo>
                  <a:lnTo>
                    <a:pt x="8040" y="714"/>
                  </a:lnTo>
                  <a:cubicBezTo>
                    <a:pt x="8039" y="712"/>
                    <a:pt x="8038" y="710"/>
                    <a:pt x="8038" y="709"/>
                  </a:cubicBezTo>
                  <a:cubicBezTo>
                    <a:pt x="8038" y="707"/>
                    <a:pt x="8039" y="705"/>
                    <a:pt x="8040" y="704"/>
                  </a:cubicBezTo>
                  <a:cubicBezTo>
                    <a:pt x="8040" y="703"/>
                    <a:pt x="8041" y="700"/>
                    <a:pt x="8043" y="700"/>
                  </a:cubicBezTo>
                  <a:cubicBezTo>
                    <a:pt x="8045" y="699"/>
                    <a:pt x="8046" y="699"/>
                    <a:pt x="8048" y="699"/>
                  </a:cubicBezTo>
                  <a:close/>
                  <a:moveTo>
                    <a:pt x="2909" y="715"/>
                  </a:moveTo>
                  <a:lnTo>
                    <a:pt x="2909" y="715"/>
                  </a:lnTo>
                  <a:cubicBezTo>
                    <a:pt x="2911" y="715"/>
                    <a:pt x="2913" y="715"/>
                    <a:pt x="2914" y="716"/>
                  </a:cubicBezTo>
                  <a:cubicBezTo>
                    <a:pt x="2914" y="716"/>
                    <a:pt x="2915" y="716"/>
                    <a:pt x="2915" y="717"/>
                  </a:cubicBezTo>
                  <a:cubicBezTo>
                    <a:pt x="2945" y="739"/>
                    <a:pt x="2975" y="763"/>
                    <a:pt x="3005" y="789"/>
                  </a:cubicBezTo>
                  <a:lnTo>
                    <a:pt x="3005" y="789"/>
                  </a:lnTo>
                  <a:cubicBezTo>
                    <a:pt x="3006" y="790"/>
                    <a:pt x="3006" y="790"/>
                    <a:pt x="3007" y="791"/>
                  </a:cubicBezTo>
                  <a:cubicBezTo>
                    <a:pt x="3008" y="792"/>
                    <a:pt x="3008" y="794"/>
                    <a:pt x="3008" y="796"/>
                  </a:cubicBezTo>
                  <a:cubicBezTo>
                    <a:pt x="3008" y="797"/>
                    <a:pt x="3008" y="799"/>
                    <a:pt x="3007" y="801"/>
                  </a:cubicBezTo>
                  <a:cubicBezTo>
                    <a:pt x="3006" y="802"/>
                    <a:pt x="3004" y="804"/>
                    <a:pt x="3003" y="805"/>
                  </a:cubicBezTo>
                  <a:cubicBezTo>
                    <a:pt x="3001" y="805"/>
                    <a:pt x="3000" y="806"/>
                    <a:pt x="2999" y="806"/>
                  </a:cubicBezTo>
                  <a:cubicBezTo>
                    <a:pt x="2997" y="806"/>
                    <a:pt x="2995" y="805"/>
                    <a:pt x="2994" y="805"/>
                  </a:cubicBezTo>
                  <a:cubicBezTo>
                    <a:pt x="2993" y="804"/>
                    <a:pt x="2993" y="804"/>
                    <a:pt x="2992" y="803"/>
                  </a:cubicBezTo>
                  <a:cubicBezTo>
                    <a:pt x="2963" y="778"/>
                    <a:pt x="2933" y="754"/>
                    <a:pt x="2904" y="732"/>
                  </a:cubicBezTo>
                  <a:lnTo>
                    <a:pt x="2904" y="732"/>
                  </a:lnTo>
                  <a:cubicBezTo>
                    <a:pt x="2902" y="731"/>
                    <a:pt x="2902" y="730"/>
                    <a:pt x="2901" y="729"/>
                  </a:cubicBezTo>
                  <a:cubicBezTo>
                    <a:pt x="2900" y="728"/>
                    <a:pt x="2900" y="725"/>
                    <a:pt x="2900" y="724"/>
                  </a:cubicBezTo>
                  <a:cubicBezTo>
                    <a:pt x="2900" y="722"/>
                    <a:pt x="2900" y="721"/>
                    <a:pt x="2901" y="720"/>
                  </a:cubicBezTo>
                  <a:cubicBezTo>
                    <a:pt x="2902" y="718"/>
                    <a:pt x="2903" y="716"/>
                    <a:pt x="2904" y="716"/>
                  </a:cubicBezTo>
                  <a:cubicBezTo>
                    <a:pt x="2906" y="714"/>
                    <a:pt x="2908" y="715"/>
                    <a:pt x="2909" y="715"/>
                  </a:cubicBezTo>
                  <a:close/>
                  <a:moveTo>
                    <a:pt x="1745" y="773"/>
                  </a:moveTo>
                  <a:lnTo>
                    <a:pt x="1745" y="773"/>
                  </a:lnTo>
                  <a:cubicBezTo>
                    <a:pt x="1747" y="773"/>
                    <a:pt x="1748" y="773"/>
                    <a:pt x="1750" y="775"/>
                  </a:cubicBezTo>
                  <a:cubicBezTo>
                    <a:pt x="1751" y="775"/>
                    <a:pt x="1752" y="776"/>
                    <a:pt x="1753" y="778"/>
                  </a:cubicBezTo>
                  <a:cubicBezTo>
                    <a:pt x="1754" y="779"/>
                    <a:pt x="1755" y="781"/>
                    <a:pt x="1755" y="783"/>
                  </a:cubicBezTo>
                  <a:cubicBezTo>
                    <a:pt x="1755" y="785"/>
                    <a:pt x="1754" y="785"/>
                    <a:pt x="1753" y="788"/>
                  </a:cubicBezTo>
                  <a:cubicBezTo>
                    <a:pt x="1753" y="789"/>
                    <a:pt x="1752" y="790"/>
                    <a:pt x="1751" y="790"/>
                  </a:cubicBezTo>
                  <a:cubicBezTo>
                    <a:pt x="1723" y="814"/>
                    <a:pt x="1695" y="840"/>
                    <a:pt x="1668" y="868"/>
                  </a:cubicBezTo>
                  <a:lnTo>
                    <a:pt x="1668" y="868"/>
                  </a:lnTo>
                  <a:cubicBezTo>
                    <a:pt x="1667" y="869"/>
                    <a:pt x="1667" y="869"/>
                    <a:pt x="1666" y="870"/>
                  </a:cubicBezTo>
                  <a:cubicBezTo>
                    <a:pt x="1664" y="871"/>
                    <a:pt x="1663" y="871"/>
                    <a:pt x="1661" y="871"/>
                  </a:cubicBezTo>
                  <a:cubicBezTo>
                    <a:pt x="1659" y="871"/>
                    <a:pt x="1657" y="871"/>
                    <a:pt x="1656" y="870"/>
                  </a:cubicBezTo>
                  <a:cubicBezTo>
                    <a:pt x="1654" y="869"/>
                    <a:pt x="1654" y="867"/>
                    <a:pt x="1653" y="866"/>
                  </a:cubicBezTo>
                  <a:cubicBezTo>
                    <a:pt x="1652" y="864"/>
                    <a:pt x="1651" y="862"/>
                    <a:pt x="1651" y="861"/>
                  </a:cubicBezTo>
                  <a:cubicBezTo>
                    <a:pt x="1651" y="859"/>
                    <a:pt x="1652" y="858"/>
                    <a:pt x="1653" y="857"/>
                  </a:cubicBezTo>
                  <a:cubicBezTo>
                    <a:pt x="1653" y="856"/>
                    <a:pt x="1654" y="855"/>
                    <a:pt x="1654" y="855"/>
                  </a:cubicBezTo>
                  <a:cubicBezTo>
                    <a:pt x="1682" y="826"/>
                    <a:pt x="1711" y="800"/>
                    <a:pt x="1739" y="776"/>
                  </a:cubicBezTo>
                  <a:lnTo>
                    <a:pt x="1739" y="776"/>
                  </a:lnTo>
                  <a:cubicBezTo>
                    <a:pt x="1739" y="775"/>
                    <a:pt x="1740" y="775"/>
                    <a:pt x="1740" y="775"/>
                  </a:cubicBezTo>
                  <a:cubicBezTo>
                    <a:pt x="1742" y="774"/>
                    <a:pt x="1743" y="774"/>
                    <a:pt x="1745" y="774"/>
                  </a:cubicBezTo>
                  <a:lnTo>
                    <a:pt x="1745" y="774"/>
                  </a:lnTo>
                  <a:lnTo>
                    <a:pt x="1745" y="773"/>
                  </a:lnTo>
                  <a:close/>
                  <a:moveTo>
                    <a:pt x="6092" y="865"/>
                  </a:moveTo>
                  <a:lnTo>
                    <a:pt x="6092" y="865"/>
                  </a:lnTo>
                  <a:cubicBezTo>
                    <a:pt x="6094" y="865"/>
                    <a:pt x="6096" y="865"/>
                    <a:pt x="6097" y="866"/>
                  </a:cubicBezTo>
                  <a:cubicBezTo>
                    <a:pt x="6098" y="867"/>
                    <a:pt x="6099" y="868"/>
                    <a:pt x="6100" y="870"/>
                  </a:cubicBezTo>
                  <a:cubicBezTo>
                    <a:pt x="6100" y="871"/>
                    <a:pt x="6102" y="873"/>
                    <a:pt x="6102" y="875"/>
                  </a:cubicBezTo>
                  <a:cubicBezTo>
                    <a:pt x="6102" y="876"/>
                    <a:pt x="6101" y="878"/>
                    <a:pt x="6101" y="879"/>
                  </a:cubicBezTo>
                  <a:cubicBezTo>
                    <a:pt x="6083" y="913"/>
                    <a:pt x="6066" y="947"/>
                    <a:pt x="6049" y="982"/>
                  </a:cubicBezTo>
                  <a:lnTo>
                    <a:pt x="6049" y="982"/>
                  </a:lnTo>
                  <a:lnTo>
                    <a:pt x="6049" y="982"/>
                  </a:lnTo>
                  <a:cubicBezTo>
                    <a:pt x="6048" y="984"/>
                    <a:pt x="6047" y="985"/>
                    <a:pt x="6046" y="986"/>
                  </a:cubicBezTo>
                  <a:cubicBezTo>
                    <a:pt x="6044" y="987"/>
                    <a:pt x="6042" y="987"/>
                    <a:pt x="6041" y="987"/>
                  </a:cubicBezTo>
                  <a:cubicBezTo>
                    <a:pt x="6039" y="987"/>
                    <a:pt x="6037" y="987"/>
                    <a:pt x="6036" y="986"/>
                  </a:cubicBezTo>
                  <a:cubicBezTo>
                    <a:pt x="6034" y="985"/>
                    <a:pt x="6032" y="983"/>
                    <a:pt x="6032" y="982"/>
                  </a:cubicBezTo>
                  <a:cubicBezTo>
                    <a:pt x="6031" y="980"/>
                    <a:pt x="6031" y="979"/>
                    <a:pt x="6031" y="978"/>
                  </a:cubicBezTo>
                  <a:cubicBezTo>
                    <a:pt x="6031" y="976"/>
                    <a:pt x="6031" y="975"/>
                    <a:pt x="6032" y="973"/>
                  </a:cubicBezTo>
                  <a:cubicBezTo>
                    <a:pt x="6049" y="939"/>
                    <a:pt x="6066" y="904"/>
                    <a:pt x="6084" y="870"/>
                  </a:cubicBezTo>
                  <a:lnTo>
                    <a:pt x="6084" y="870"/>
                  </a:lnTo>
                  <a:lnTo>
                    <a:pt x="6084" y="870"/>
                  </a:lnTo>
                  <a:cubicBezTo>
                    <a:pt x="6085" y="868"/>
                    <a:pt x="6085" y="867"/>
                    <a:pt x="6087" y="866"/>
                  </a:cubicBezTo>
                  <a:cubicBezTo>
                    <a:pt x="6088" y="865"/>
                    <a:pt x="6090" y="865"/>
                    <a:pt x="6092" y="865"/>
                  </a:cubicBezTo>
                  <a:close/>
                  <a:moveTo>
                    <a:pt x="3081" y="867"/>
                  </a:moveTo>
                  <a:lnTo>
                    <a:pt x="3081" y="867"/>
                  </a:lnTo>
                  <a:lnTo>
                    <a:pt x="3081" y="867"/>
                  </a:lnTo>
                  <a:cubicBezTo>
                    <a:pt x="3083" y="867"/>
                    <a:pt x="3085" y="867"/>
                    <a:pt x="3086" y="868"/>
                  </a:cubicBezTo>
                  <a:cubicBezTo>
                    <a:pt x="3087" y="868"/>
                    <a:pt x="3088" y="869"/>
                    <a:pt x="3088" y="869"/>
                  </a:cubicBezTo>
                  <a:cubicBezTo>
                    <a:pt x="3114" y="896"/>
                    <a:pt x="3140" y="925"/>
                    <a:pt x="3165" y="956"/>
                  </a:cubicBezTo>
                  <a:lnTo>
                    <a:pt x="3165" y="956"/>
                  </a:lnTo>
                  <a:lnTo>
                    <a:pt x="3166" y="957"/>
                  </a:lnTo>
                  <a:cubicBezTo>
                    <a:pt x="3167" y="959"/>
                    <a:pt x="3167" y="960"/>
                    <a:pt x="3167" y="962"/>
                  </a:cubicBezTo>
                  <a:cubicBezTo>
                    <a:pt x="3167" y="964"/>
                    <a:pt x="3167" y="965"/>
                    <a:pt x="3166" y="967"/>
                  </a:cubicBezTo>
                  <a:cubicBezTo>
                    <a:pt x="3165" y="968"/>
                    <a:pt x="3163" y="969"/>
                    <a:pt x="3162" y="970"/>
                  </a:cubicBezTo>
                  <a:cubicBezTo>
                    <a:pt x="3160" y="971"/>
                    <a:pt x="3159" y="972"/>
                    <a:pt x="3158" y="972"/>
                  </a:cubicBezTo>
                  <a:cubicBezTo>
                    <a:pt x="3156" y="972"/>
                    <a:pt x="3154" y="970"/>
                    <a:pt x="3153" y="970"/>
                  </a:cubicBezTo>
                  <a:cubicBezTo>
                    <a:pt x="3152" y="969"/>
                    <a:pt x="3151" y="969"/>
                    <a:pt x="3150" y="968"/>
                  </a:cubicBezTo>
                  <a:cubicBezTo>
                    <a:pt x="3125" y="938"/>
                    <a:pt x="3100" y="909"/>
                    <a:pt x="3074" y="883"/>
                  </a:cubicBezTo>
                  <a:lnTo>
                    <a:pt x="3074" y="883"/>
                  </a:lnTo>
                  <a:cubicBezTo>
                    <a:pt x="3074" y="882"/>
                    <a:pt x="3073" y="882"/>
                    <a:pt x="3073" y="881"/>
                  </a:cubicBezTo>
                  <a:cubicBezTo>
                    <a:pt x="3072" y="878"/>
                    <a:pt x="3072" y="878"/>
                    <a:pt x="3072" y="876"/>
                  </a:cubicBezTo>
                  <a:cubicBezTo>
                    <a:pt x="3072" y="874"/>
                    <a:pt x="3072" y="872"/>
                    <a:pt x="3073" y="871"/>
                  </a:cubicBezTo>
                  <a:cubicBezTo>
                    <a:pt x="3074" y="869"/>
                    <a:pt x="3074" y="869"/>
                    <a:pt x="3076" y="868"/>
                  </a:cubicBezTo>
                  <a:cubicBezTo>
                    <a:pt x="3077" y="867"/>
                    <a:pt x="3079" y="866"/>
                    <a:pt x="3081" y="866"/>
                  </a:cubicBezTo>
                  <a:lnTo>
                    <a:pt x="3081" y="866"/>
                  </a:lnTo>
                  <a:lnTo>
                    <a:pt x="3081" y="867"/>
                  </a:lnTo>
                  <a:close/>
                  <a:moveTo>
                    <a:pt x="8165" y="898"/>
                  </a:moveTo>
                  <a:lnTo>
                    <a:pt x="8165" y="898"/>
                  </a:lnTo>
                  <a:lnTo>
                    <a:pt x="8165" y="898"/>
                  </a:lnTo>
                  <a:cubicBezTo>
                    <a:pt x="8166" y="898"/>
                    <a:pt x="8167" y="898"/>
                    <a:pt x="8169" y="899"/>
                  </a:cubicBezTo>
                  <a:cubicBezTo>
                    <a:pt x="8170" y="900"/>
                    <a:pt x="8172" y="901"/>
                    <a:pt x="8173" y="902"/>
                  </a:cubicBezTo>
                  <a:lnTo>
                    <a:pt x="8173" y="903"/>
                  </a:lnTo>
                  <a:cubicBezTo>
                    <a:pt x="8192" y="936"/>
                    <a:pt x="8211" y="969"/>
                    <a:pt x="8229" y="1003"/>
                  </a:cubicBezTo>
                  <a:lnTo>
                    <a:pt x="8229" y="1003"/>
                  </a:lnTo>
                  <a:cubicBezTo>
                    <a:pt x="8230" y="1004"/>
                    <a:pt x="8231" y="1006"/>
                    <a:pt x="8231" y="1008"/>
                  </a:cubicBezTo>
                  <a:cubicBezTo>
                    <a:pt x="8231" y="1009"/>
                    <a:pt x="8229" y="1010"/>
                    <a:pt x="8229" y="1012"/>
                  </a:cubicBezTo>
                  <a:cubicBezTo>
                    <a:pt x="8228" y="1013"/>
                    <a:pt x="8227" y="1015"/>
                    <a:pt x="8226" y="1016"/>
                  </a:cubicBezTo>
                  <a:cubicBezTo>
                    <a:pt x="8224" y="1017"/>
                    <a:pt x="8223" y="1017"/>
                    <a:pt x="8221" y="1017"/>
                  </a:cubicBezTo>
                  <a:cubicBezTo>
                    <a:pt x="8219" y="1017"/>
                    <a:pt x="8217" y="1017"/>
                    <a:pt x="8216" y="1016"/>
                  </a:cubicBezTo>
                  <a:cubicBezTo>
                    <a:pt x="8214" y="1015"/>
                    <a:pt x="8214" y="1014"/>
                    <a:pt x="8213" y="1012"/>
                  </a:cubicBezTo>
                  <a:lnTo>
                    <a:pt x="8213" y="1012"/>
                  </a:lnTo>
                  <a:cubicBezTo>
                    <a:pt x="8194" y="979"/>
                    <a:pt x="8175" y="945"/>
                    <a:pt x="8156" y="912"/>
                  </a:cubicBezTo>
                  <a:lnTo>
                    <a:pt x="8156" y="912"/>
                  </a:lnTo>
                  <a:cubicBezTo>
                    <a:pt x="8156" y="911"/>
                    <a:pt x="8155" y="909"/>
                    <a:pt x="8155" y="907"/>
                  </a:cubicBezTo>
                  <a:cubicBezTo>
                    <a:pt x="8155" y="906"/>
                    <a:pt x="8155" y="903"/>
                    <a:pt x="8156" y="902"/>
                  </a:cubicBezTo>
                  <a:cubicBezTo>
                    <a:pt x="8156" y="900"/>
                    <a:pt x="8158" y="900"/>
                    <a:pt x="8160" y="899"/>
                  </a:cubicBezTo>
                  <a:cubicBezTo>
                    <a:pt x="8161" y="898"/>
                    <a:pt x="8163" y="898"/>
                    <a:pt x="8165" y="898"/>
                  </a:cubicBezTo>
                  <a:close/>
                  <a:moveTo>
                    <a:pt x="1583" y="937"/>
                  </a:moveTo>
                  <a:lnTo>
                    <a:pt x="1583" y="937"/>
                  </a:lnTo>
                  <a:lnTo>
                    <a:pt x="1583" y="937"/>
                  </a:lnTo>
                  <a:cubicBezTo>
                    <a:pt x="1585" y="937"/>
                    <a:pt x="1586" y="937"/>
                    <a:pt x="1588" y="938"/>
                  </a:cubicBezTo>
                  <a:cubicBezTo>
                    <a:pt x="1589" y="939"/>
                    <a:pt x="1591" y="940"/>
                    <a:pt x="1592" y="942"/>
                  </a:cubicBezTo>
                  <a:cubicBezTo>
                    <a:pt x="1593" y="943"/>
                    <a:pt x="1593" y="944"/>
                    <a:pt x="1593" y="946"/>
                  </a:cubicBezTo>
                  <a:cubicBezTo>
                    <a:pt x="1593" y="947"/>
                    <a:pt x="1593" y="950"/>
                    <a:pt x="1592" y="951"/>
                  </a:cubicBezTo>
                  <a:cubicBezTo>
                    <a:pt x="1591" y="952"/>
                    <a:pt x="1591" y="952"/>
                    <a:pt x="1591" y="953"/>
                  </a:cubicBezTo>
                  <a:cubicBezTo>
                    <a:pt x="1567" y="980"/>
                    <a:pt x="1543" y="1010"/>
                    <a:pt x="1519" y="1042"/>
                  </a:cubicBezTo>
                  <a:lnTo>
                    <a:pt x="1519" y="1042"/>
                  </a:lnTo>
                  <a:cubicBezTo>
                    <a:pt x="1518" y="1043"/>
                    <a:pt x="1517" y="1043"/>
                    <a:pt x="1516" y="1044"/>
                  </a:cubicBezTo>
                  <a:cubicBezTo>
                    <a:pt x="1515" y="1044"/>
                    <a:pt x="1513" y="1046"/>
                    <a:pt x="1511" y="1046"/>
                  </a:cubicBezTo>
                  <a:cubicBezTo>
                    <a:pt x="1509" y="1046"/>
                    <a:pt x="1507" y="1044"/>
                    <a:pt x="1506" y="1044"/>
                  </a:cubicBezTo>
                  <a:cubicBezTo>
                    <a:pt x="1504" y="1043"/>
                    <a:pt x="1504" y="1042"/>
                    <a:pt x="1503" y="1041"/>
                  </a:cubicBezTo>
                  <a:cubicBezTo>
                    <a:pt x="1502" y="1039"/>
                    <a:pt x="1502" y="1038"/>
                    <a:pt x="1502" y="1036"/>
                  </a:cubicBezTo>
                  <a:cubicBezTo>
                    <a:pt x="1502" y="1034"/>
                    <a:pt x="1502" y="1033"/>
                    <a:pt x="1503" y="1031"/>
                  </a:cubicBezTo>
                  <a:lnTo>
                    <a:pt x="1504" y="1030"/>
                  </a:lnTo>
                  <a:cubicBezTo>
                    <a:pt x="1528" y="998"/>
                    <a:pt x="1552" y="968"/>
                    <a:pt x="1576" y="940"/>
                  </a:cubicBezTo>
                  <a:lnTo>
                    <a:pt x="1576" y="940"/>
                  </a:lnTo>
                  <a:cubicBezTo>
                    <a:pt x="1577" y="939"/>
                    <a:pt x="1578" y="939"/>
                    <a:pt x="1579" y="938"/>
                  </a:cubicBezTo>
                  <a:cubicBezTo>
                    <a:pt x="1580" y="937"/>
                    <a:pt x="1582" y="937"/>
                    <a:pt x="1583" y="937"/>
                  </a:cubicBezTo>
                  <a:close/>
                  <a:moveTo>
                    <a:pt x="3229" y="1043"/>
                  </a:moveTo>
                  <a:lnTo>
                    <a:pt x="3229" y="1043"/>
                  </a:lnTo>
                  <a:lnTo>
                    <a:pt x="3229" y="1043"/>
                  </a:lnTo>
                  <a:cubicBezTo>
                    <a:pt x="3231" y="1043"/>
                    <a:pt x="3232" y="1042"/>
                    <a:pt x="3234" y="1044"/>
                  </a:cubicBezTo>
                  <a:cubicBezTo>
                    <a:pt x="3235" y="1044"/>
                    <a:pt x="3236" y="1046"/>
                    <a:pt x="3237" y="1047"/>
                  </a:cubicBezTo>
                  <a:cubicBezTo>
                    <a:pt x="3258" y="1076"/>
                    <a:pt x="3281" y="1107"/>
                    <a:pt x="3304" y="1141"/>
                  </a:cubicBezTo>
                  <a:lnTo>
                    <a:pt x="3304" y="1141"/>
                  </a:lnTo>
                  <a:lnTo>
                    <a:pt x="3304" y="1141"/>
                  </a:lnTo>
                  <a:cubicBezTo>
                    <a:pt x="3305" y="1143"/>
                    <a:pt x="3306" y="1144"/>
                    <a:pt x="3306" y="1146"/>
                  </a:cubicBezTo>
                  <a:cubicBezTo>
                    <a:pt x="3306" y="1148"/>
                    <a:pt x="3305" y="1149"/>
                    <a:pt x="3304" y="1151"/>
                  </a:cubicBezTo>
                  <a:cubicBezTo>
                    <a:pt x="3303" y="1152"/>
                    <a:pt x="3302" y="1153"/>
                    <a:pt x="3301" y="1154"/>
                  </a:cubicBezTo>
                  <a:cubicBezTo>
                    <a:pt x="3299" y="1154"/>
                    <a:pt x="3298" y="1156"/>
                    <a:pt x="3296" y="1156"/>
                  </a:cubicBezTo>
                  <a:cubicBezTo>
                    <a:pt x="3294" y="1156"/>
                    <a:pt x="3293" y="1154"/>
                    <a:pt x="3291" y="1154"/>
                  </a:cubicBezTo>
                  <a:cubicBezTo>
                    <a:pt x="3290" y="1153"/>
                    <a:pt x="3289" y="1153"/>
                    <a:pt x="3288" y="1151"/>
                  </a:cubicBezTo>
                  <a:cubicBezTo>
                    <a:pt x="3265" y="1118"/>
                    <a:pt x="3243" y="1087"/>
                    <a:pt x="3221" y="1058"/>
                  </a:cubicBezTo>
                  <a:lnTo>
                    <a:pt x="3221" y="1058"/>
                  </a:lnTo>
                  <a:lnTo>
                    <a:pt x="3221" y="1057"/>
                  </a:lnTo>
                  <a:cubicBezTo>
                    <a:pt x="3220" y="1056"/>
                    <a:pt x="3219" y="1053"/>
                    <a:pt x="3219" y="1052"/>
                  </a:cubicBezTo>
                  <a:cubicBezTo>
                    <a:pt x="3219" y="1050"/>
                    <a:pt x="3220" y="1049"/>
                    <a:pt x="3221" y="1048"/>
                  </a:cubicBezTo>
                  <a:cubicBezTo>
                    <a:pt x="3221" y="1046"/>
                    <a:pt x="3222" y="1045"/>
                    <a:pt x="3224" y="1044"/>
                  </a:cubicBezTo>
                  <a:cubicBezTo>
                    <a:pt x="3225" y="1043"/>
                    <a:pt x="3227" y="1043"/>
                    <a:pt x="3229" y="1043"/>
                  </a:cubicBezTo>
                  <a:close/>
                  <a:moveTo>
                    <a:pt x="5991" y="1072"/>
                  </a:moveTo>
                  <a:lnTo>
                    <a:pt x="5991" y="1072"/>
                  </a:lnTo>
                  <a:cubicBezTo>
                    <a:pt x="5992" y="1072"/>
                    <a:pt x="5994" y="1072"/>
                    <a:pt x="5995" y="1073"/>
                  </a:cubicBezTo>
                  <a:cubicBezTo>
                    <a:pt x="5997" y="1074"/>
                    <a:pt x="5998" y="1075"/>
                    <a:pt x="5999" y="1077"/>
                  </a:cubicBezTo>
                  <a:cubicBezTo>
                    <a:pt x="6000" y="1078"/>
                    <a:pt x="6000" y="1080"/>
                    <a:pt x="6000" y="1081"/>
                  </a:cubicBezTo>
                  <a:cubicBezTo>
                    <a:pt x="6000" y="1083"/>
                    <a:pt x="6000" y="1084"/>
                    <a:pt x="5999" y="1086"/>
                  </a:cubicBezTo>
                  <a:cubicBezTo>
                    <a:pt x="5983" y="1120"/>
                    <a:pt x="5967" y="1155"/>
                    <a:pt x="5950" y="1190"/>
                  </a:cubicBezTo>
                  <a:lnTo>
                    <a:pt x="5950" y="1190"/>
                  </a:lnTo>
                  <a:lnTo>
                    <a:pt x="5950" y="1190"/>
                  </a:lnTo>
                  <a:cubicBezTo>
                    <a:pt x="5949" y="1192"/>
                    <a:pt x="5947" y="1193"/>
                    <a:pt x="5946" y="1194"/>
                  </a:cubicBezTo>
                  <a:cubicBezTo>
                    <a:pt x="5944" y="1195"/>
                    <a:pt x="5943" y="1195"/>
                    <a:pt x="5942" y="1195"/>
                  </a:cubicBezTo>
                  <a:cubicBezTo>
                    <a:pt x="5940" y="1195"/>
                    <a:pt x="5938" y="1195"/>
                    <a:pt x="5937" y="1194"/>
                  </a:cubicBezTo>
                  <a:cubicBezTo>
                    <a:pt x="5935" y="1193"/>
                    <a:pt x="5934" y="1191"/>
                    <a:pt x="5933" y="1190"/>
                  </a:cubicBezTo>
                  <a:cubicBezTo>
                    <a:pt x="5932" y="1188"/>
                    <a:pt x="5932" y="1187"/>
                    <a:pt x="5932" y="1186"/>
                  </a:cubicBezTo>
                  <a:cubicBezTo>
                    <a:pt x="5932" y="1184"/>
                    <a:pt x="5932" y="1183"/>
                    <a:pt x="5933" y="1182"/>
                  </a:cubicBezTo>
                  <a:cubicBezTo>
                    <a:pt x="5949" y="1147"/>
                    <a:pt x="5966" y="1112"/>
                    <a:pt x="5982" y="1077"/>
                  </a:cubicBezTo>
                  <a:lnTo>
                    <a:pt x="5982" y="1077"/>
                  </a:lnTo>
                  <a:lnTo>
                    <a:pt x="5982" y="1077"/>
                  </a:lnTo>
                  <a:cubicBezTo>
                    <a:pt x="5983" y="1075"/>
                    <a:pt x="5984" y="1074"/>
                    <a:pt x="5986" y="1073"/>
                  </a:cubicBezTo>
                  <a:cubicBezTo>
                    <a:pt x="5987" y="1072"/>
                    <a:pt x="5989" y="1072"/>
                    <a:pt x="5991" y="1072"/>
                  </a:cubicBezTo>
                  <a:close/>
                  <a:moveTo>
                    <a:pt x="8277" y="1099"/>
                  </a:moveTo>
                  <a:lnTo>
                    <a:pt x="8277" y="1099"/>
                  </a:lnTo>
                  <a:lnTo>
                    <a:pt x="8277" y="1099"/>
                  </a:lnTo>
                  <a:cubicBezTo>
                    <a:pt x="8279" y="1099"/>
                    <a:pt x="8280" y="1099"/>
                    <a:pt x="8282" y="1100"/>
                  </a:cubicBezTo>
                  <a:cubicBezTo>
                    <a:pt x="8283" y="1101"/>
                    <a:pt x="8285" y="1102"/>
                    <a:pt x="8285" y="1104"/>
                  </a:cubicBezTo>
                  <a:lnTo>
                    <a:pt x="8285" y="1104"/>
                  </a:lnTo>
                  <a:cubicBezTo>
                    <a:pt x="8304" y="1137"/>
                    <a:pt x="8323" y="1171"/>
                    <a:pt x="8342" y="1204"/>
                  </a:cubicBezTo>
                  <a:lnTo>
                    <a:pt x="8342" y="1204"/>
                  </a:lnTo>
                  <a:lnTo>
                    <a:pt x="8342" y="1205"/>
                  </a:lnTo>
                  <a:cubicBezTo>
                    <a:pt x="8343" y="1206"/>
                    <a:pt x="8343" y="1207"/>
                    <a:pt x="8343" y="1209"/>
                  </a:cubicBezTo>
                  <a:cubicBezTo>
                    <a:pt x="8343" y="1210"/>
                    <a:pt x="8343" y="1212"/>
                    <a:pt x="8342" y="1214"/>
                  </a:cubicBezTo>
                  <a:cubicBezTo>
                    <a:pt x="8341" y="1215"/>
                    <a:pt x="8339" y="1217"/>
                    <a:pt x="8338" y="1218"/>
                  </a:cubicBezTo>
                  <a:cubicBezTo>
                    <a:pt x="8336" y="1219"/>
                    <a:pt x="8334" y="1219"/>
                    <a:pt x="8333" y="1219"/>
                  </a:cubicBezTo>
                  <a:cubicBezTo>
                    <a:pt x="8331" y="1219"/>
                    <a:pt x="8330" y="1219"/>
                    <a:pt x="8329" y="1218"/>
                  </a:cubicBezTo>
                  <a:cubicBezTo>
                    <a:pt x="8327" y="1217"/>
                    <a:pt x="8326" y="1216"/>
                    <a:pt x="8325" y="1214"/>
                  </a:cubicBezTo>
                  <a:lnTo>
                    <a:pt x="8325" y="1214"/>
                  </a:lnTo>
                  <a:cubicBezTo>
                    <a:pt x="8306" y="1180"/>
                    <a:pt x="8287" y="1147"/>
                    <a:pt x="8269" y="1113"/>
                  </a:cubicBezTo>
                  <a:lnTo>
                    <a:pt x="8269" y="1113"/>
                  </a:lnTo>
                  <a:cubicBezTo>
                    <a:pt x="8268" y="1112"/>
                    <a:pt x="8268" y="1110"/>
                    <a:pt x="8268" y="1109"/>
                  </a:cubicBezTo>
                  <a:cubicBezTo>
                    <a:pt x="8268" y="1107"/>
                    <a:pt x="8268" y="1105"/>
                    <a:pt x="8269" y="1104"/>
                  </a:cubicBezTo>
                  <a:cubicBezTo>
                    <a:pt x="8270" y="1102"/>
                    <a:pt x="8270" y="1100"/>
                    <a:pt x="8272" y="1100"/>
                  </a:cubicBezTo>
                  <a:cubicBezTo>
                    <a:pt x="8273" y="1098"/>
                    <a:pt x="8275" y="1099"/>
                    <a:pt x="8277" y="1099"/>
                  </a:cubicBezTo>
                  <a:close/>
                  <a:moveTo>
                    <a:pt x="1443" y="1119"/>
                  </a:moveTo>
                  <a:lnTo>
                    <a:pt x="1443" y="1119"/>
                  </a:lnTo>
                  <a:cubicBezTo>
                    <a:pt x="1445" y="1119"/>
                    <a:pt x="1447" y="1120"/>
                    <a:pt x="1448" y="1121"/>
                  </a:cubicBezTo>
                  <a:cubicBezTo>
                    <a:pt x="1450" y="1122"/>
                    <a:pt x="1451" y="1122"/>
                    <a:pt x="1452" y="1124"/>
                  </a:cubicBezTo>
                  <a:cubicBezTo>
                    <a:pt x="1452" y="1125"/>
                    <a:pt x="1453" y="1127"/>
                    <a:pt x="1453" y="1129"/>
                  </a:cubicBezTo>
                  <a:cubicBezTo>
                    <a:pt x="1453" y="1131"/>
                    <a:pt x="1453" y="1132"/>
                    <a:pt x="1452" y="1134"/>
                  </a:cubicBezTo>
                  <a:cubicBezTo>
                    <a:pt x="1451" y="1134"/>
                    <a:pt x="1451" y="1134"/>
                    <a:pt x="1451" y="1134"/>
                  </a:cubicBezTo>
                  <a:cubicBezTo>
                    <a:pt x="1430" y="1164"/>
                    <a:pt x="1409" y="1196"/>
                    <a:pt x="1387" y="1230"/>
                  </a:cubicBezTo>
                  <a:lnTo>
                    <a:pt x="1387" y="1230"/>
                  </a:lnTo>
                  <a:cubicBezTo>
                    <a:pt x="1386" y="1231"/>
                    <a:pt x="1385" y="1232"/>
                    <a:pt x="1384" y="1233"/>
                  </a:cubicBezTo>
                  <a:cubicBezTo>
                    <a:pt x="1382" y="1234"/>
                    <a:pt x="1381" y="1234"/>
                    <a:pt x="1379" y="1234"/>
                  </a:cubicBezTo>
                  <a:cubicBezTo>
                    <a:pt x="1377" y="1234"/>
                    <a:pt x="1375" y="1234"/>
                    <a:pt x="1374" y="1233"/>
                  </a:cubicBezTo>
                  <a:cubicBezTo>
                    <a:pt x="1372" y="1232"/>
                    <a:pt x="1371" y="1230"/>
                    <a:pt x="1371" y="1229"/>
                  </a:cubicBezTo>
                  <a:cubicBezTo>
                    <a:pt x="1370" y="1227"/>
                    <a:pt x="1369" y="1225"/>
                    <a:pt x="1369" y="1224"/>
                  </a:cubicBezTo>
                  <a:cubicBezTo>
                    <a:pt x="1369" y="1222"/>
                    <a:pt x="1370" y="1221"/>
                    <a:pt x="1371" y="1220"/>
                  </a:cubicBezTo>
                  <a:lnTo>
                    <a:pt x="1371" y="1219"/>
                  </a:lnTo>
                  <a:cubicBezTo>
                    <a:pt x="1393" y="1186"/>
                    <a:pt x="1415" y="1153"/>
                    <a:pt x="1435" y="1123"/>
                  </a:cubicBezTo>
                  <a:lnTo>
                    <a:pt x="1435" y="1123"/>
                  </a:lnTo>
                  <a:cubicBezTo>
                    <a:pt x="1436" y="1122"/>
                    <a:pt x="1437" y="1121"/>
                    <a:pt x="1438" y="1121"/>
                  </a:cubicBezTo>
                  <a:cubicBezTo>
                    <a:pt x="1440" y="1120"/>
                    <a:pt x="1442" y="1119"/>
                    <a:pt x="1443" y="1119"/>
                  </a:cubicBezTo>
                  <a:close/>
                  <a:moveTo>
                    <a:pt x="3360" y="1232"/>
                  </a:moveTo>
                  <a:lnTo>
                    <a:pt x="3360" y="1232"/>
                  </a:lnTo>
                  <a:lnTo>
                    <a:pt x="3360" y="1232"/>
                  </a:lnTo>
                  <a:cubicBezTo>
                    <a:pt x="3361" y="1232"/>
                    <a:pt x="3363" y="1233"/>
                    <a:pt x="3364" y="1234"/>
                  </a:cubicBezTo>
                  <a:cubicBezTo>
                    <a:pt x="3366" y="1234"/>
                    <a:pt x="3367" y="1235"/>
                    <a:pt x="3368" y="1237"/>
                  </a:cubicBezTo>
                  <a:cubicBezTo>
                    <a:pt x="3387" y="1267"/>
                    <a:pt x="3407" y="1299"/>
                    <a:pt x="3429" y="1334"/>
                  </a:cubicBezTo>
                  <a:lnTo>
                    <a:pt x="3429" y="1334"/>
                  </a:lnTo>
                  <a:cubicBezTo>
                    <a:pt x="3429" y="1335"/>
                    <a:pt x="3429" y="1335"/>
                    <a:pt x="3430" y="1336"/>
                  </a:cubicBezTo>
                  <a:cubicBezTo>
                    <a:pt x="3430" y="1337"/>
                    <a:pt x="3431" y="1338"/>
                    <a:pt x="3431" y="1340"/>
                  </a:cubicBezTo>
                  <a:cubicBezTo>
                    <a:pt x="3431" y="1341"/>
                    <a:pt x="3431" y="1343"/>
                    <a:pt x="3430" y="1345"/>
                  </a:cubicBezTo>
                  <a:cubicBezTo>
                    <a:pt x="3429" y="1346"/>
                    <a:pt x="3427" y="1348"/>
                    <a:pt x="3426" y="1349"/>
                  </a:cubicBezTo>
                  <a:cubicBezTo>
                    <a:pt x="3424" y="1349"/>
                    <a:pt x="3422" y="1350"/>
                    <a:pt x="3421" y="1350"/>
                  </a:cubicBezTo>
                  <a:cubicBezTo>
                    <a:pt x="3419" y="1350"/>
                    <a:pt x="3418" y="1349"/>
                    <a:pt x="3417" y="1349"/>
                  </a:cubicBezTo>
                  <a:cubicBezTo>
                    <a:pt x="3415" y="1348"/>
                    <a:pt x="3414" y="1347"/>
                    <a:pt x="3413" y="1345"/>
                  </a:cubicBezTo>
                  <a:lnTo>
                    <a:pt x="3413" y="1344"/>
                  </a:lnTo>
                  <a:cubicBezTo>
                    <a:pt x="3391" y="1309"/>
                    <a:pt x="3371" y="1277"/>
                    <a:pt x="3352" y="1247"/>
                  </a:cubicBezTo>
                  <a:lnTo>
                    <a:pt x="3352" y="1247"/>
                  </a:lnTo>
                  <a:lnTo>
                    <a:pt x="3351" y="1247"/>
                  </a:lnTo>
                  <a:cubicBezTo>
                    <a:pt x="3351" y="1245"/>
                    <a:pt x="3350" y="1244"/>
                    <a:pt x="3350" y="1242"/>
                  </a:cubicBezTo>
                  <a:cubicBezTo>
                    <a:pt x="3350" y="1240"/>
                    <a:pt x="3350" y="1238"/>
                    <a:pt x="3351" y="1237"/>
                  </a:cubicBezTo>
                  <a:cubicBezTo>
                    <a:pt x="3351" y="1235"/>
                    <a:pt x="3353" y="1234"/>
                    <a:pt x="3355" y="1234"/>
                  </a:cubicBezTo>
                  <a:cubicBezTo>
                    <a:pt x="3356" y="1233"/>
                    <a:pt x="3358" y="1232"/>
                    <a:pt x="3360" y="1232"/>
                  </a:cubicBezTo>
                  <a:close/>
                  <a:moveTo>
                    <a:pt x="5893" y="1280"/>
                  </a:moveTo>
                  <a:lnTo>
                    <a:pt x="5893" y="1280"/>
                  </a:lnTo>
                  <a:cubicBezTo>
                    <a:pt x="5895" y="1281"/>
                    <a:pt x="5896" y="1280"/>
                    <a:pt x="5898" y="1282"/>
                  </a:cubicBezTo>
                  <a:cubicBezTo>
                    <a:pt x="5899" y="1282"/>
                    <a:pt x="5900" y="1283"/>
                    <a:pt x="5901" y="1285"/>
                  </a:cubicBezTo>
                  <a:cubicBezTo>
                    <a:pt x="5902" y="1286"/>
                    <a:pt x="5902" y="1288"/>
                    <a:pt x="5902" y="1290"/>
                  </a:cubicBezTo>
                  <a:cubicBezTo>
                    <a:pt x="5902" y="1291"/>
                    <a:pt x="5902" y="1293"/>
                    <a:pt x="5902" y="1294"/>
                  </a:cubicBezTo>
                  <a:cubicBezTo>
                    <a:pt x="5885" y="1329"/>
                    <a:pt x="5869" y="1364"/>
                    <a:pt x="5853" y="1398"/>
                  </a:cubicBezTo>
                  <a:lnTo>
                    <a:pt x="5853" y="1398"/>
                  </a:lnTo>
                  <a:cubicBezTo>
                    <a:pt x="5853" y="1399"/>
                    <a:pt x="5853" y="1399"/>
                    <a:pt x="5853" y="1399"/>
                  </a:cubicBezTo>
                  <a:cubicBezTo>
                    <a:pt x="5852" y="1401"/>
                    <a:pt x="5850" y="1402"/>
                    <a:pt x="5849" y="1403"/>
                  </a:cubicBezTo>
                  <a:cubicBezTo>
                    <a:pt x="5848" y="1404"/>
                    <a:pt x="5845" y="1404"/>
                    <a:pt x="5844" y="1404"/>
                  </a:cubicBezTo>
                  <a:cubicBezTo>
                    <a:pt x="5842" y="1404"/>
                    <a:pt x="5840" y="1404"/>
                    <a:pt x="5839" y="1403"/>
                  </a:cubicBezTo>
                  <a:cubicBezTo>
                    <a:pt x="5837" y="1402"/>
                    <a:pt x="5837" y="1400"/>
                    <a:pt x="5836" y="1399"/>
                  </a:cubicBezTo>
                  <a:cubicBezTo>
                    <a:pt x="5835" y="1397"/>
                    <a:pt x="5835" y="1396"/>
                    <a:pt x="5835" y="1394"/>
                  </a:cubicBezTo>
                  <a:cubicBezTo>
                    <a:pt x="5835" y="1393"/>
                    <a:pt x="5835" y="1392"/>
                    <a:pt x="5836" y="1390"/>
                  </a:cubicBezTo>
                  <a:cubicBezTo>
                    <a:pt x="5852" y="1356"/>
                    <a:pt x="5868" y="1321"/>
                    <a:pt x="5884" y="1286"/>
                  </a:cubicBezTo>
                  <a:lnTo>
                    <a:pt x="5884" y="1286"/>
                  </a:lnTo>
                  <a:lnTo>
                    <a:pt x="5885" y="1285"/>
                  </a:lnTo>
                  <a:cubicBezTo>
                    <a:pt x="5885" y="1284"/>
                    <a:pt x="5886" y="1283"/>
                    <a:pt x="5888" y="1282"/>
                  </a:cubicBezTo>
                  <a:cubicBezTo>
                    <a:pt x="5889" y="1281"/>
                    <a:pt x="5891" y="1280"/>
                    <a:pt x="5893" y="1280"/>
                  </a:cubicBezTo>
                  <a:close/>
                  <a:moveTo>
                    <a:pt x="8390" y="1300"/>
                  </a:moveTo>
                  <a:lnTo>
                    <a:pt x="8390" y="1300"/>
                  </a:lnTo>
                  <a:cubicBezTo>
                    <a:pt x="8392" y="1300"/>
                    <a:pt x="8393" y="1300"/>
                    <a:pt x="8395" y="1301"/>
                  </a:cubicBezTo>
                  <a:cubicBezTo>
                    <a:pt x="8396" y="1302"/>
                    <a:pt x="8398" y="1303"/>
                    <a:pt x="8399" y="1304"/>
                  </a:cubicBezTo>
                  <a:cubicBezTo>
                    <a:pt x="8419" y="1340"/>
                    <a:pt x="8439" y="1372"/>
                    <a:pt x="8457" y="1403"/>
                  </a:cubicBezTo>
                  <a:lnTo>
                    <a:pt x="8457" y="1403"/>
                  </a:lnTo>
                  <a:cubicBezTo>
                    <a:pt x="8458" y="1405"/>
                    <a:pt x="8459" y="1406"/>
                    <a:pt x="8459" y="1408"/>
                  </a:cubicBezTo>
                  <a:cubicBezTo>
                    <a:pt x="8459" y="1410"/>
                    <a:pt x="8458" y="1411"/>
                    <a:pt x="8457" y="1413"/>
                  </a:cubicBezTo>
                  <a:cubicBezTo>
                    <a:pt x="8456" y="1414"/>
                    <a:pt x="8455" y="1415"/>
                    <a:pt x="8454" y="1416"/>
                  </a:cubicBezTo>
                  <a:cubicBezTo>
                    <a:pt x="8452" y="1417"/>
                    <a:pt x="8451" y="1418"/>
                    <a:pt x="8449" y="1418"/>
                  </a:cubicBezTo>
                  <a:cubicBezTo>
                    <a:pt x="8447" y="1418"/>
                    <a:pt x="8446" y="1416"/>
                    <a:pt x="8444" y="1416"/>
                  </a:cubicBezTo>
                  <a:cubicBezTo>
                    <a:pt x="8443" y="1415"/>
                    <a:pt x="8442" y="1415"/>
                    <a:pt x="8441" y="1413"/>
                  </a:cubicBezTo>
                  <a:cubicBezTo>
                    <a:pt x="8422" y="1382"/>
                    <a:pt x="8403" y="1350"/>
                    <a:pt x="8382" y="1314"/>
                  </a:cubicBezTo>
                  <a:lnTo>
                    <a:pt x="8382" y="1314"/>
                  </a:lnTo>
                  <a:lnTo>
                    <a:pt x="8382" y="1314"/>
                  </a:lnTo>
                  <a:cubicBezTo>
                    <a:pt x="8381" y="1313"/>
                    <a:pt x="8381" y="1310"/>
                    <a:pt x="8381" y="1309"/>
                  </a:cubicBezTo>
                  <a:cubicBezTo>
                    <a:pt x="8381" y="1307"/>
                    <a:pt x="8381" y="1305"/>
                    <a:pt x="8382" y="1304"/>
                  </a:cubicBezTo>
                  <a:cubicBezTo>
                    <a:pt x="8383" y="1302"/>
                    <a:pt x="8384" y="1302"/>
                    <a:pt x="8386" y="1301"/>
                  </a:cubicBezTo>
                  <a:cubicBezTo>
                    <a:pt x="8387" y="1300"/>
                    <a:pt x="8389" y="1300"/>
                    <a:pt x="8390" y="1300"/>
                  </a:cubicBezTo>
                  <a:close/>
                  <a:moveTo>
                    <a:pt x="1317" y="1312"/>
                  </a:moveTo>
                  <a:lnTo>
                    <a:pt x="1317" y="1312"/>
                  </a:lnTo>
                  <a:cubicBezTo>
                    <a:pt x="1319" y="1312"/>
                    <a:pt x="1320" y="1313"/>
                    <a:pt x="1322" y="1313"/>
                  </a:cubicBezTo>
                  <a:lnTo>
                    <a:pt x="1322" y="1314"/>
                  </a:lnTo>
                  <a:lnTo>
                    <a:pt x="1322" y="1314"/>
                  </a:lnTo>
                  <a:cubicBezTo>
                    <a:pt x="1324" y="1314"/>
                    <a:pt x="1324" y="1316"/>
                    <a:pt x="1325" y="1317"/>
                  </a:cubicBezTo>
                  <a:cubicBezTo>
                    <a:pt x="1326" y="1318"/>
                    <a:pt x="1327" y="1320"/>
                    <a:pt x="1327" y="1322"/>
                  </a:cubicBezTo>
                  <a:cubicBezTo>
                    <a:pt x="1327" y="1323"/>
                    <a:pt x="1326" y="1325"/>
                    <a:pt x="1325" y="1327"/>
                  </a:cubicBezTo>
                  <a:lnTo>
                    <a:pt x="1325" y="1327"/>
                  </a:lnTo>
                  <a:cubicBezTo>
                    <a:pt x="1305" y="1359"/>
                    <a:pt x="1285" y="1392"/>
                    <a:pt x="1265" y="1425"/>
                  </a:cubicBezTo>
                  <a:lnTo>
                    <a:pt x="1265" y="1425"/>
                  </a:lnTo>
                  <a:cubicBezTo>
                    <a:pt x="1265" y="1426"/>
                    <a:pt x="1264" y="1426"/>
                    <a:pt x="1262" y="1428"/>
                  </a:cubicBezTo>
                  <a:cubicBezTo>
                    <a:pt x="1261" y="1428"/>
                    <a:pt x="1258" y="1429"/>
                    <a:pt x="1257" y="1429"/>
                  </a:cubicBezTo>
                  <a:cubicBezTo>
                    <a:pt x="1255" y="1429"/>
                    <a:pt x="1254" y="1429"/>
                    <a:pt x="1253" y="1428"/>
                  </a:cubicBezTo>
                  <a:cubicBezTo>
                    <a:pt x="1251" y="1427"/>
                    <a:pt x="1250" y="1425"/>
                    <a:pt x="1249" y="1424"/>
                  </a:cubicBezTo>
                  <a:cubicBezTo>
                    <a:pt x="1248" y="1422"/>
                    <a:pt x="1248" y="1421"/>
                    <a:pt x="1248" y="1419"/>
                  </a:cubicBezTo>
                  <a:cubicBezTo>
                    <a:pt x="1248" y="1418"/>
                    <a:pt x="1248" y="1416"/>
                    <a:pt x="1249" y="1415"/>
                  </a:cubicBezTo>
                  <a:cubicBezTo>
                    <a:pt x="1269" y="1382"/>
                    <a:pt x="1289" y="1349"/>
                    <a:pt x="1309" y="1317"/>
                  </a:cubicBezTo>
                  <a:lnTo>
                    <a:pt x="1309" y="1317"/>
                  </a:lnTo>
                  <a:cubicBezTo>
                    <a:pt x="1310" y="1315"/>
                    <a:pt x="1311" y="1313"/>
                    <a:pt x="1312" y="1313"/>
                  </a:cubicBezTo>
                  <a:cubicBezTo>
                    <a:pt x="1314" y="1312"/>
                    <a:pt x="1315" y="1312"/>
                    <a:pt x="1317" y="1312"/>
                  </a:cubicBezTo>
                  <a:close/>
                  <a:moveTo>
                    <a:pt x="3480" y="1428"/>
                  </a:moveTo>
                  <a:lnTo>
                    <a:pt x="3480" y="1428"/>
                  </a:lnTo>
                  <a:cubicBezTo>
                    <a:pt x="3482" y="1428"/>
                    <a:pt x="3484" y="1429"/>
                    <a:pt x="3485" y="1430"/>
                  </a:cubicBezTo>
                  <a:cubicBezTo>
                    <a:pt x="3487" y="1431"/>
                    <a:pt x="3488" y="1432"/>
                    <a:pt x="3489" y="1433"/>
                  </a:cubicBezTo>
                  <a:cubicBezTo>
                    <a:pt x="3508" y="1466"/>
                    <a:pt x="3528" y="1499"/>
                    <a:pt x="3547" y="1532"/>
                  </a:cubicBezTo>
                  <a:lnTo>
                    <a:pt x="3547" y="1532"/>
                  </a:lnTo>
                  <a:cubicBezTo>
                    <a:pt x="3548" y="1533"/>
                    <a:pt x="3548" y="1533"/>
                    <a:pt x="3548" y="1533"/>
                  </a:cubicBezTo>
                  <a:cubicBezTo>
                    <a:pt x="3549" y="1534"/>
                    <a:pt x="3549" y="1536"/>
                    <a:pt x="3549" y="1538"/>
                  </a:cubicBezTo>
                  <a:cubicBezTo>
                    <a:pt x="3549" y="1539"/>
                    <a:pt x="3549" y="1540"/>
                    <a:pt x="3548" y="1542"/>
                  </a:cubicBezTo>
                  <a:cubicBezTo>
                    <a:pt x="3547" y="1543"/>
                    <a:pt x="3545" y="1545"/>
                    <a:pt x="3544" y="1546"/>
                  </a:cubicBezTo>
                  <a:cubicBezTo>
                    <a:pt x="3542" y="1547"/>
                    <a:pt x="3540" y="1547"/>
                    <a:pt x="3539" y="1547"/>
                  </a:cubicBezTo>
                  <a:cubicBezTo>
                    <a:pt x="3537" y="1547"/>
                    <a:pt x="3536" y="1547"/>
                    <a:pt x="3535" y="1546"/>
                  </a:cubicBezTo>
                  <a:cubicBezTo>
                    <a:pt x="3533" y="1545"/>
                    <a:pt x="3532" y="1544"/>
                    <a:pt x="3531" y="1542"/>
                  </a:cubicBezTo>
                  <a:lnTo>
                    <a:pt x="3531" y="1542"/>
                  </a:lnTo>
                  <a:cubicBezTo>
                    <a:pt x="3511" y="1509"/>
                    <a:pt x="3492" y="1476"/>
                    <a:pt x="3472" y="1443"/>
                  </a:cubicBezTo>
                  <a:lnTo>
                    <a:pt x="3472" y="1443"/>
                  </a:lnTo>
                  <a:lnTo>
                    <a:pt x="3472" y="1443"/>
                  </a:lnTo>
                  <a:cubicBezTo>
                    <a:pt x="3471" y="1441"/>
                    <a:pt x="3471" y="1440"/>
                    <a:pt x="3471" y="1438"/>
                  </a:cubicBezTo>
                  <a:cubicBezTo>
                    <a:pt x="3471" y="1436"/>
                    <a:pt x="3471" y="1434"/>
                    <a:pt x="3472" y="1433"/>
                  </a:cubicBezTo>
                  <a:cubicBezTo>
                    <a:pt x="3473" y="1431"/>
                    <a:pt x="3474" y="1431"/>
                    <a:pt x="3476" y="1430"/>
                  </a:cubicBezTo>
                  <a:cubicBezTo>
                    <a:pt x="3477" y="1429"/>
                    <a:pt x="3479" y="1428"/>
                    <a:pt x="3480" y="1428"/>
                  </a:cubicBezTo>
                  <a:close/>
                  <a:moveTo>
                    <a:pt x="5795" y="1489"/>
                  </a:moveTo>
                  <a:lnTo>
                    <a:pt x="5795" y="1489"/>
                  </a:lnTo>
                  <a:lnTo>
                    <a:pt x="5795" y="1489"/>
                  </a:lnTo>
                  <a:cubicBezTo>
                    <a:pt x="5796" y="1489"/>
                    <a:pt x="5798" y="1489"/>
                    <a:pt x="5799" y="1490"/>
                  </a:cubicBezTo>
                  <a:lnTo>
                    <a:pt x="5799" y="1490"/>
                  </a:lnTo>
                  <a:lnTo>
                    <a:pt x="5800" y="1490"/>
                  </a:lnTo>
                  <a:cubicBezTo>
                    <a:pt x="5801" y="1491"/>
                    <a:pt x="5802" y="1492"/>
                    <a:pt x="5803" y="1494"/>
                  </a:cubicBezTo>
                  <a:cubicBezTo>
                    <a:pt x="5804" y="1495"/>
                    <a:pt x="5805" y="1497"/>
                    <a:pt x="5805" y="1499"/>
                  </a:cubicBezTo>
                  <a:cubicBezTo>
                    <a:pt x="5805" y="1500"/>
                    <a:pt x="5804" y="1501"/>
                    <a:pt x="5804" y="1503"/>
                  </a:cubicBezTo>
                  <a:cubicBezTo>
                    <a:pt x="5787" y="1538"/>
                    <a:pt x="5770" y="1572"/>
                    <a:pt x="5753" y="1606"/>
                  </a:cubicBezTo>
                  <a:lnTo>
                    <a:pt x="5753" y="1606"/>
                  </a:lnTo>
                  <a:cubicBezTo>
                    <a:pt x="5753" y="1607"/>
                    <a:pt x="5753" y="1607"/>
                    <a:pt x="5753" y="1607"/>
                  </a:cubicBezTo>
                  <a:cubicBezTo>
                    <a:pt x="5752" y="1608"/>
                    <a:pt x="5750" y="1610"/>
                    <a:pt x="5749" y="1611"/>
                  </a:cubicBezTo>
                  <a:cubicBezTo>
                    <a:pt x="5747" y="1611"/>
                    <a:pt x="5746" y="1612"/>
                    <a:pt x="5745" y="1612"/>
                  </a:cubicBezTo>
                  <a:cubicBezTo>
                    <a:pt x="5743" y="1612"/>
                    <a:pt x="5741" y="1611"/>
                    <a:pt x="5740" y="1611"/>
                  </a:cubicBezTo>
                  <a:cubicBezTo>
                    <a:pt x="5738" y="1610"/>
                    <a:pt x="5737" y="1608"/>
                    <a:pt x="5736" y="1607"/>
                  </a:cubicBezTo>
                  <a:cubicBezTo>
                    <a:pt x="5735" y="1606"/>
                    <a:pt x="5735" y="1604"/>
                    <a:pt x="5735" y="1602"/>
                  </a:cubicBezTo>
                  <a:cubicBezTo>
                    <a:pt x="5735" y="1601"/>
                    <a:pt x="5735" y="1599"/>
                    <a:pt x="5736" y="1598"/>
                  </a:cubicBezTo>
                  <a:cubicBezTo>
                    <a:pt x="5753" y="1564"/>
                    <a:pt x="5770" y="1529"/>
                    <a:pt x="5786" y="1494"/>
                  </a:cubicBezTo>
                  <a:lnTo>
                    <a:pt x="5786" y="1494"/>
                  </a:lnTo>
                  <a:lnTo>
                    <a:pt x="5787" y="1494"/>
                  </a:lnTo>
                  <a:cubicBezTo>
                    <a:pt x="5787" y="1492"/>
                    <a:pt x="5789" y="1490"/>
                    <a:pt x="5790" y="1490"/>
                  </a:cubicBezTo>
                  <a:cubicBezTo>
                    <a:pt x="5792" y="1488"/>
                    <a:pt x="5793" y="1489"/>
                    <a:pt x="5795" y="1489"/>
                  </a:cubicBezTo>
                  <a:close/>
                  <a:moveTo>
                    <a:pt x="8511" y="1496"/>
                  </a:moveTo>
                  <a:lnTo>
                    <a:pt x="8511" y="1496"/>
                  </a:lnTo>
                  <a:lnTo>
                    <a:pt x="8511" y="1496"/>
                  </a:lnTo>
                  <a:cubicBezTo>
                    <a:pt x="8512" y="1496"/>
                    <a:pt x="8514" y="1496"/>
                    <a:pt x="8515" y="1497"/>
                  </a:cubicBezTo>
                  <a:cubicBezTo>
                    <a:pt x="8517" y="1497"/>
                    <a:pt x="8518" y="1499"/>
                    <a:pt x="8519" y="1501"/>
                  </a:cubicBezTo>
                  <a:cubicBezTo>
                    <a:pt x="8540" y="1534"/>
                    <a:pt x="8562" y="1566"/>
                    <a:pt x="8583" y="1596"/>
                  </a:cubicBezTo>
                  <a:lnTo>
                    <a:pt x="8583" y="1596"/>
                  </a:lnTo>
                  <a:lnTo>
                    <a:pt x="8583" y="1596"/>
                  </a:lnTo>
                  <a:cubicBezTo>
                    <a:pt x="8584" y="1598"/>
                    <a:pt x="8585" y="1599"/>
                    <a:pt x="8585" y="1601"/>
                  </a:cubicBezTo>
                  <a:cubicBezTo>
                    <a:pt x="8585" y="1603"/>
                    <a:pt x="8583" y="1604"/>
                    <a:pt x="8583" y="1606"/>
                  </a:cubicBezTo>
                  <a:cubicBezTo>
                    <a:pt x="8582" y="1607"/>
                    <a:pt x="8581" y="1608"/>
                    <a:pt x="8580" y="1609"/>
                  </a:cubicBezTo>
                  <a:cubicBezTo>
                    <a:pt x="8579" y="1609"/>
                    <a:pt x="8577" y="1611"/>
                    <a:pt x="8575" y="1611"/>
                  </a:cubicBezTo>
                  <a:cubicBezTo>
                    <a:pt x="8573" y="1611"/>
                    <a:pt x="8572" y="1609"/>
                    <a:pt x="8570" y="1609"/>
                  </a:cubicBezTo>
                  <a:cubicBezTo>
                    <a:pt x="8569" y="1608"/>
                    <a:pt x="8568" y="1608"/>
                    <a:pt x="8567" y="1607"/>
                  </a:cubicBezTo>
                  <a:cubicBezTo>
                    <a:pt x="8546" y="1577"/>
                    <a:pt x="8524" y="1544"/>
                    <a:pt x="8503" y="1511"/>
                  </a:cubicBezTo>
                  <a:lnTo>
                    <a:pt x="8503" y="1511"/>
                  </a:lnTo>
                  <a:lnTo>
                    <a:pt x="8502" y="1511"/>
                  </a:lnTo>
                  <a:cubicBezTo>
                    <a:pt x="8502" y="1509"/>
                    <a:pt x="8501" y="1507"/>
                    <a:pt x="8501" y="1506"/>
                  </a:cubicBezTo>
                  <a:cubicBezTo>
                    <a:pt x="8501" y="1504"/>
                    <a:pt x="8501" y="1502"/>
                    <a:pt x="8502" y="1501"/>
                  </a:cubicBezTo>
                  <a:cubicBezTo>
                    <a:pt x="8502" y="1499"/>
                    <a:pt x="8504" y="1497"/>
                    <a:pt x="8506" y="1497"/>
                  </a:cubicBezTo>
                  <a:cubicBezTo>
                    <a:pt x="8507" y="1496"/>
                    <a:pt x="8509" y="1496"/>
                    <a:pt x="8511" y="1496"/>
                  </a:cubicBezTo>
                  <a:close/>
                  <a:moveTo>
                    <a:pt x="1198" y="1509"/>
                  </a:moveTo>
                  <a:lnTo>
                    <a:pt x="1198" y="1509"/>
                  </a:lnTo>
                  <a:cubicBezTo>
                    <a:pt x="1200" y="1509"/>
                    <a:pt x="1201" y="1509"/>
                    <a:pt x="1203" y="1510"/>
                  </a:cubicBezTo>
                  <a:lnTo>
                    <a:pt x="1203" y="1510"/>
                  </a:lnTo>
                  <a:lnTo>
                    <a:pt x="1203" y="1510"/>
                  </a:lnTo>
                  <a:cubicBezTo>
                    <a:pt x="1204" y="1511"/>
                    <a:pt x="1205" y="1512"/>
                    <a:pt x="1206" y="1514"/>
                  </a:cubicBezTo>
                  <a:cubicBezTo>
                    <a:pt x="1206" y="1515"/>
                    <a:pt x="1208" y="1516"/>
                    <a:pt x="1208" y="1518"/>
                  </a:cubicBezTo>
                  <a:cubicBezTo>
                    <a:pt x="1208" y="1519"/>
                    <a:pt x="1207" y="1522"/>
                    <a:pt x="1206" y="1523"/>
                  </a:cubicBezTo>
                  <a:lnTo>
                    <a:pt x="1206" y="1523"/>
                  </a:lnTo>
                  <a:lnTo>
                    <a:pt x="1194" y="1544"/>
                  </a:lnTo>
                  <a:cubicBezTo>
                    <a:pt x="1179" y="1570"/>
                    <a:pt x="1163" y="1596"/>
                    <a:pt x="1147" y="1622"/>
                  </a:cubicBezTo>
                  <a:lnTo>
                    <a:pt x="1147" y="1622"/>
                  </a:lnTo>
                  <a:cubicBezTo>
                    <a:pt x="1146" y="1624"/>
                    <a:pt x="1145" y="1624"/>
                    <a:pt x="1144" y="1625"/>
                  </a:cubicBezTo>
                  <a:cubicBezTo>
                    <a:pt x="1143" y="1625"/>
                    <a:pt x="1140" y="1627"/>
                    <a:pt x="1139" y="1627"/>
                  </a:cubicBezTo>
                  <a:cubicBezTo>
                    <a:pt x="1137" y="1627"/>
                    <a:pt x="1135" y="1626"/>
                    <a:pt x="1134" y="1625"/>
                  </a:cubicBezTo>
                  <a:cubicBezTo>
                    <a:pt x="1132" y="1624"/>
                    <a:pt x="1132" y="1623"/>
                    <a:pt x="1131" y="1622"/>
                  </a:cubicBezTo>
                  <a:cubicBezTo>
                    <a:pt x="1130" y="1620"/>
                    <a:pt x="1130" y="1619"/>
                    <a:pt x="1130" y="1617"/>
                  </a:cubicBezTo>
                  <a:cubicBezTo>
                    <a:pt x="1130" y="1615"/>
                    <a:pt x="1130" y="1614"/>
                    <a:pt x="1131" y="1613"/>
                  </a:cubicBezTo>
                  <a:cubicBezTo>
                    <a:pt x="1146" y="1586"/>
                    <a:pt x="1162" y="1560"/>
                    <a:pt x="1178" y="1534"/>
                  </a:cubicBezTo>
                  <a:lnTo>
                    <a:pt x="1190" y="1514"/>
                  </a:lnTo>
                  <a:lnTo>
                    <a:pt x="1190" y="1514"/>
                  </a:lnTo>
                  <a:cubicBezTo>
                    <a:pt x="1191" y="1512"/>
                    <a:pt x="1192" y="1510"/>
                    <a:pt x="1193" y="1510"/>
                  </a:cubicBezTo>
                  <a:cubicBezTo>
                    <a:pt x="1195" y="1508"/>
                    <a:pt x="1196" y="1509"/>
                    <a:pt x="1198" y="1509"/>
                  </a:cubicBezTo>
                  <a:close/>
                  <a:moveTo>
                    <a:pt x="3598" y="1627"/>
                  </a:moveTo>
                  <a:lnTo>
                    <a:pt x="3598" y="1627"/>
                  </a:lnTo>
                  <a:lnTo>
                    <a:pt x="3598" y="1627"/>
                  </a:lnTo>
                  <a:cubicBezTo>
                    <a:pt x="3600" y="1627"/>
                    <a:pt x="3601" y="1626"/>
                    <a:pt x="3603" y="1628"/>
                  </a:cubicBezTo>
                  <a:cubicBezTo>
                    <a:pt x="3604" y="1628"/>
                    <a:pt x="3605" y="1630"/>
                    <a:pt x="3606" y="1631"/>
                  </a:cubicBezTo>
                  <a:cubicBezTo>
                    <a:pt x="3626" y="1664"/>
                    <a:pt x="3646" y="1697"/>
                    <a:pt x="3666" y="1730"/>
                  </a:cubicBezTo>
                  <a:lnTo>
                    <a:pt x="3666" y="1730"/>
                  </a:lnTo>
                  <a:cubicBezTo>
                    <a:pt x="3666" y="1731"/>
                    <a:pt x="3666" y="1733"/>
                    <a:pt x="3666" y="1734"/>
                  </a:cubicBezTo>
                  <a:cubicBezTo>
                    <a:pt x="3666" y="1736"/>
                    <a:pt x="3666" y="1737"/>
                    <a:pt x="3665" y="1739"/>
                  </a:cubicBezTo>
                  <a:cubicBezTo>
                    <a:pt x="3664" y="1740"/>
                    <a:pt x="3663" y="1741"/>
                    <a:pt x="3662" y="1742"/>
                  </a:cubicBezTo>
                  <a:cubicBezTo>
                    <a:pt x="3660" y="1743"/>
                    <a:pt x="3659" y="1744"/>
                    <a:pt x="3657" y="1744"/>
                  </a:cubicBezTo>
                  <a:cubicBezTo>
                    <a:pt x="3655" y="1744"/>
                    <a:pt x="3654" y="1742"/>
                    <a:pt x="3652" y="1742"/>
                  </a:cubicBezTo>
                  <a:cubicBezTo>
                    <a:pt x="3651" y="1741"/>
                    <a:pt x="3650" y="1741"/>
                    <a:pt x="3649" y="1740"/>
                  </a:cubicBezTo>
                  <a:cubicBezTo>
                    <a:pt x="3629" y="1707"/>
                    <a:pt x="3610" y="1674"/>
                    <a:pt x="3590" y="1641"/>
                  </a:cubicBezTo>
                  <a:lnTo>
                    <a:pt x="3590" y="1641"/>
                  </a:lnTo>
                  <a:lnTo>
                    <a:pt x="3590" y="1641"/>
                  </a:lnTo>
                  <a:cubicBezTo>
                    <a:pt x="3589" y="1640"/>
                    <a:pt x="3588" y="1637"/>
                    <a:pt x="3588" y="1636"/>
                  </a:cubicBezTo>
                  <a:cubicBezTo>
                    <a:pt x="3588" y="1634"/>
                    <a:pt x="3589" y="1632"/>
                    <a:pt x="3590" y="1631"/>
                  </a:cubicBezTo>
                  <a:cubicBezTo>
                    <a:pt x="3591" y="1629"/>
                    <a:pt x="3592" y="1628"/>
                    <a:pt x="3593" y="1628"/>
                  </a:cubicBezTo>
                  <a:cubicBezTo>
                    <a:pt x="3595" y="1626"/>
                    <a:pt x="3596" y="1627"/>
                    <a:pt x="3598" y="1627"/>
                  </a:cubicBezTo>
                  <a:close/>
                  <a:moveTo>
                    <a:pt x="8644" y="1684"/>
                  </a:moveTo>
                  <a:lnTo>
                    <a:pt x="8644" y="1684"/>
                  </a:lnTo>
                  <a:lnTo>
                    <a:pt x="8644" y="1684"/>
                  </a:lnTo>
                  <a:cubicBezTo>
                    <a:pt x="8645" y="1684"/>
                    <a:pt x="8647" y="1684"/>
                    <a:pt x="8648" y="1685"/>
                  </a:cubicBezTo>
                  <a:cubicBezTo>
                    <a:pt x="8649" y="1686"/>
                    <a:pt x="8650" y="1687"/>
                    <a:pt x="8651" y="1687"/>
                  </a:cubicBezTo>
                  <a:cubicBezTo>
                    <a:pt x="8676" y="1718"/>
                    <a:pt x="8700" y="1748"/>
                    <a:pt x="8725" y="1775"/>
                  </a:cubicBezTo>
                  <a:lnTo>
                    <a:pt x="8725" y="1775"/>
                  </a:lnTo>
                  <a:cubicBezTo>
                    <a:pt x="8725" y="1776"/>
                    <a:pt x="8725" y="1776"/>
                    <a:pt x="8726" y="1777"/>
                  </a:cubicBezTo>
                  <a:cubicBezTo>
                    <a:pt x="8727" y="1778"/>
                    <a:pt x="8727" y="1780"/>
                    <a:pt x="8727" y="1782"/>
                  </a:cubicBezTo>
                  <a:cubicBezTo>
                    <a:pt x="8727" y="1783"/>
                    <a:pt x="8727" y="1784"/>
                    <a:pt x="8726" y="1786"/>
                  </a:cubicBezTo>
                  <a:cubicBezTo>
                    <a:pt x="8725" y="1787"/>
                    <a:pt x="8723" y="1789"/>
                    <a:pt x="8722" y="1790"/>
                  </a:cubicBezTo>
                  <a:cubicBezTo>
                    <a:pt x="8720" y="1791"/>
                    <a:pt x="8718" y="1791"/>
                    <a:pt x="8717" y="1791"/>
                  </a:cubicBezTo>
                  <a:cubicBezTo>
                    <a:pt x="8715" y="1791"/>
                    <a:pt x="8714" y="1791"/>
                    <a:pt x="8713" y="1790"/>
                  </a:cubicBezTo>
                  <a:cubicBezTo>
                    <a:pt x="8712" y="1789"/>
                    <a:pt x="8711" y="1789"/>
                    <a:pt x="8710" y="1788"/>
                  </a:cubicBezTo>
                  <a:cubicBezTo>
                    <a:pt x="8686" y="1761"/>
                    <a:pt x="8661" y="1731"/>
                    <a:pt x="8636" y="1699"/>
                  </a:cubicBezTo>
                  <a:lnTo>
                    <a:pt x="8636" y="1699"/>
                  </a:lnTo>
                  <a:lnTo>
                    <a:pt x="8635" y="1698"/>
                  </a:lnTo>
                  <a:cubicBezTo>
                    <a:pt x="8634" y="1697"/>
                    <a:pt x="8634" y="1694"/>
                    <a:pt x="8634" y="1693"/>
                  </a:cubicBezTo>
                  <a:cubicBezTo>
                    <a:pt x="8634" y="1691"/>
                    <a:pt x="8634" y="1690"/>
                    <a:pt x="8635" y="1689"/>
                  </a:cubicBezTo>
                  <a:cubicBezTo>
                    <a:pt x="8636" y="1687"/>
                    <a:pt x="8637" y="1686"/>
                    <a:pt x="8639" y="1685"/>
                  </a:cubicBezTo>
                  <a:cubicBezTo>
                    <a:pt x="8640" y="1684"/>
                    <a:pt x="8642" y="1684"/>
                    <a:pt x="8644" y="1684"/>
                  </a:cubicBezTo>
                  <a:close/>
                  <a:moveTo>
                    <a:pt x="5693" y="1695"/>
                  </a:moveTo>
                  <a:lnTo>
                    <a:pt x="5693" y="1695"/>
                  </a:lnTo>
                  <a:cubicBezTo>
                    <a:pt x="5694" y="1695"/>
                    <a:pt x="5695" y="1696"/>
                    <a:pt x="5697" y="1697"/>
                  </a:cubicBezTo>
                  <a:cubicBezTo>
                    <a:pt x="5699" y="1697"/>
                    <a:pt x="5700" y="1698"/>
                    <a:pt x="5701" y="1700"/>
                  </a:cubicBezTo>
                  <a:cubicBezTo>
                    <a:pt x="5702" y="1701"/>
                    <a:pt x="5702" y="1703"/>
                    <a:pt x="5702" y="1705"/>
                  </a:cubicBezTo>
                  <a:cubicBezTo>
                    <a:pt x="5702" y="1706"/>
                    <a:pt x="5702" y="1708"/>
                    <a:pt x="5701" y="1709"/>
                  </a:cubicBezTo>
                  <a:cubicBezTo>
                    <a:pt x="5683" y="1745"/>
                    <a:pt x="5665" y="1779"/>
                    <a:pt x="5647" y="1811"/>
                  </a:cubicBezTo>
                  <a:lnTo>
                    <a:pt x="5647" y="1811"/>
                  </a:lnTo>
                  <a:lnTo>
                    <a:pt x="5647" y="1811"/>
                  </a:lnTo>
                  <a:cubicBezTo>
                    <a:pt x="5646" y="1813"/>
                    <a:pt x="5644" y="1814"/>
                    <a:pt x="5643" y="1815"/>
                  </a:cubicBezTo>
                  <a:cubicBezTo>
                    <a:pt x="5641" y="1816"/>
                    <a:pt x="5640" y="1816"/>
                    <a:pt x="5639" y="1816"/>
                  </a:cubicBezTo>
                  <a:cubicBezTo>
                    <a:pt x="5637" y="1816"/>
                    <a:pt x="5635" y="1816"/>
                    <a:pt x="5634" y="1815"/>
                  </a:cubicBezTo>
                  <a:cubicBezTo>
                    <a:pt x="5632" y="1814"/>
                    <a:pt x="5631" y="1812"/>
                    <a:pt x="5630" y="1811"/>
                  </a:cubicBezTo>
                  <a:cubicBezTo>
                    <a:pt x="5629" y="1809"/>
                    <a:pt x="5629" y="1808"/>
                    <a:pt x="5629" y="1807"/>
                  </a:cubicBezTo>
                  <a:cubicBezTo>
                    <a:pt x="5629" y="1805"/>
                    <a:pt x="5629" y="1803"/>
                    <a:pt x="5630" y="1802"/>
                  </a:cubicBezTo>
                  <a:cubicBezTo>
                    <a:pt x="5648" y="1770"/>
                    <a:pt x="5666" y="1736"/>
                    <a:pt x="5684" y="1701"/>
                  </a:cubicBezTo>
                  <a:lnTo>
                    <a:pt x="5684" y="1701"/>
                  </a:lnTo>
                  <a:cubicBezTo>
                    <a:pt x="5684" y="1700"/>
                    <a:pt x="5684" y="1700"/>
                    <a:pt x="5684" y="1700"/>
                  </a:cubicBezTo>
                  <a:cubicBezTo>
                    <a:pt x="5685" y="1699"/>
                    <a:pt x="5686" y="1698"/>
                    <a:pt x="5688" y="1697"/>
                  </a:cubicBezTo>
                  <a:cubicBezTo>
                    <a:pt x="5689" y="1696"/>
                    <a:pt x="5691" y="1695"/>
                    <a:pt x="5693" y="1695"/>
                  </a:cubicBezTo>
                  <a:close/>
                  <a:moveTo>
                    <a:pt x="1080" y="1706"/>
                  </a:moveTo>
                  <a:lnTo>
                    <a:pt x="1080" y="1706"/>
                  </a:lnTo>
                  <a:cubicBezTo>
                    <a:pt x="1081" y="1706"/>
                    <a:pt x="1083" y="1707"/>
                    <a:pt x="1084" y="1708"/>
                  </a:cubicBezTo>
                  <a:cubicBezTo>
                    <a:pt x="1086" y="1709"/>
                    <a:pt x="1087" y="1709"/>
                    <a:pt x="1088" y="1711"/>
                  </a:cubicBezTo>
                  <a:cubicBezTo>
                    <a:pt x="1089" y="1712"/>
                    <a:pt x="1089" y="1714"/>
                    <a:pt x="1089" y="1716"/>
                  </a:cubicBezTo>
                  <a:cubicBezTo>
                    <a:pt x="1089" y="1718"/>
                    <a:pt x="1089" y="1719"/>
                    <a:pt x="1088" y="1721"/>
                  </a:cubicBezTo>
                  <a:lnTo>
                    <a:pt x="1088" y="1721"/>
                  </a:lnTo>
                  <a:cubicBezTo>
                    <a:pt x="1067" y="1754"/>
                    <a:pt x="1047" y="1787"/>
                    <a:pt x="1027" y="1819"/>
                  </a:cubicBezTo>
                  <a:lnTo>
                    <a:pt x="1027" y="1819"/>
                  </a:lnTo>
                  <a:cubicBezTo>
                    <a:pt x="1026" y="1820"/>
                    <a:pt x="1025" y="1820"/>
                    <a:pt x="1023" y="1822"/>
                  </a:cubicBezTo>
                  <a:cubicBezTo>
                    <a:pt x="1022" y="1822"/>
                    <a:pt x="1019" y="1823"/>
                    <a:pt x="1018" y="1823"/>
                  </a:cubicBezTo>
                  <a:cubicBezTo>
                    <a:pt x="1016" y="1823"/>
                    <a:pt x="1015" y="1823"/>
                    <a:pt x="1014" y="1822"/>
                  </a:cubicBezTo>
                  <a:cubicBezTo>
                    <a:pt x="1012" y="1821"/>
                    <a:pt x="1011" y="1820"/>
                    <a:pt x="1010" y="1819"/>
                  </a:cubicBezTo>
                  <a:cubicBezTo>
                    <a:pt x="1009" y="1817"/>
                    <a:pt x="1009" y="1815"/>
                    <a:pt x="1009" y="1814"/>
                  </a:cubicBezTo>
                  <a:cubicBezTo>
                    <a:pt x="1009" y="1812"/>
                    <a:pt x="1009" y="1810"/>
                    <a:pt x="1010" y="1809"/>
                  </a:cubicBezTo>
                  <a:lnTo>
                    <a:pt x="1010" y="1809"/>
                  </a:lnTo>
                  <a:cubicBezTo>
                    <a:pt x="1031" y="1776"/>
                    <a:pt x="1051" y="1744"/>
                    <a:pt x="1071" y="1711"/>
                  </a:cubicBezTo>
                  <a:lnTo>
                    <a:pt x="1071" y="1711"/>
                  </a:lnTo>
                  <a:cubicBezTo>
                    <a:pt x="1072" y="1710"/>
                    <a:pt x="1073" y="1709"/>
                    <a:pt x="1075" y="1708"/>
                  </a:cubicBezTo>
                  <a:cubicBezTo>
                    <a:pt x="1076" y="1707"/>
                    <a:pt x="1078" y="1707"/>
                    <a:pt x="1079" y="1707"/>
                  </a:cubicBezTo>
                  <a:lnTo>
                    <a:pt x="1079" y="1707"/>
                  </a:lnTo>
                  <a:lnTo>
                    <a:pt x="1080" y="1706"/>
                  </a:lnTo>
                  <a:close/>
                  <a:moveTo>
                    <a:pt x="3718" y="1823"/>
                  </a:moveTo>
                  <a:lnTo>
                    <a:pt x="3718" y="1823"/>
                  </a:lnTo>
                  <a:lnTo>
                    <a:pt x="3718" y="1823"/>
                  </a:lnTo>
                  <a:cubicBezTo>
                    <a:pt x="3720" y="1823"/>
                    <a:pt x="3722" y="1823"/>
                    <a:pt x="3723" y="1824"/>
                  </a:cubicBezTo>
                  <a:cubicBezTo>
                    <a:pt x="3725" y="1825"/>
                    <a:pt x="3726" y="1826"/>
                    <a:pt x="3727" y="1827"/>
                  </a:cubicBezTo>
                  <a:cubicBezTo>
                    <a:pt x="3749" y="1862"/>
                    <a:pt x="3769" y="1893"/>
                    <a:pt x="3790" y="1923"/>
                  </a:cubicBezTo>
                  <a:lnTo>
                    <a:pt x="3790" y="1923"/>
                  </a:lnTo>
                  <a:lnTo>
                    <a:pt x="3790" y="1924"/>
                  </a:lnTo>
                  <a:cubicBezTo>
                    <a:pt x="3791" y="1925"/>
                    <a:pt x="3791" y="1927"/>
                    <a:pt x="3791" y="1929"/>
                  </a:cubicBezTo>
                  <a:cubicBezTo>
                    <a:pt x="3791" y="1930"/>
                    <a:pt x="3791" y="1931"/>
                    <a:pt x="3790" y="1933"/>
                  </a:cubicBezTo>
                  <a:cubicBezTo>
                    <a:pt x="3789" y="1934"/>
                    <a:pt x="3788" y="1936"/>
                    <a:pt x="3787" y="1937"/>
                  </a:cubicBezTo>
                  <a:cubicBezTo>
                    <a:pt x="3785" y="1938"/>
                    <a:pt x="3783" y="1938"/>
                    <a:pt x="3782" y="1938"/>
                  </a:cubicBezTo>
                  <a:cubicBezTo>
                    <a:pt x="3780" y="1938"/>
                    <a:pt x="3778" y="1938"/>
                    <a:pt x="3777" y="1937"/>
                  </a:cubicBezTo>
                  <a:cubicBezTo>
                    <a:pt x="3776" y="1936"/>
                    <a:pt x="3775" y="1935"/>
                    <a:pt x="3774" y="1934"/>
                  </a:cubicBezTo>
                  <a:cubicBezTo>
                    <a:pt x="3753" y="1904"/>
                    <a:pt x="3733" y="1872"/>
                    <a:pt x="3710" y="1838"/>
                  </a:cubicBezTo>
                  <a:lnTo>
                    <a:pt x="3710" y="1838"/>
                  </a:lnTo>
                  <a:cubicBezTo>
                    <a:pt x="3710" y="1837"/>
                    <a:pt x="3710" y="1837"/>
                    <a:pt x="3710" y="1837"/>
                  </a:cubicBezTo>
                  <a:cubicBezTo>
                    <a:pt x="3709" y="1836"/>
                    <a:pt x="3709" y="1833"/>
                    <a:pt x="3709" y="1832"/>
                  </a:cubicBezTo>
                  <a:cubicBezTo>
                    <a:pt x="3709" y="1830"/>
                    <a:pt x="3709" y="1829"/>
                    <a:pt x="3710" y="1828"/>
                  </a:cubicBezTo>
                  <a:cubicBezTo>
                    <a:pt x="3711" y="1826"/>
                    <a:pt x="3712" y="1825"/>
                    <a:pt x="3714" y="1824"/>
                  </a:cubicBezTo>
                  <a:cubicBezTo>
                    <a:pt x="3715" y="1823"/>
                    <a:pt x="3717" y="1823"/>
                    <a:pt x="3718" y="1823"/>
                  </a:cubicBezTo>
                  <a:cubicBezTo>
                    <a:pt x="3719" y="1823"/>
                    <a:pt x="3719" y="1823"/>
                    <a:pt x="3719" y="1823"/>
                  </a:cubicBezTo>
                  <a:lnTo>
                    <a:pt x="3718" y="1823"/>
                  </a:lnTo>
                  <a:close/>
                  <a:moveTo>
                    <a:pt x="8797" y="1855"/>
                  </a:moveTo>
                  <a:lnTo>
                    <a:pt x="8797" y="1855"/>
                  </a:lnTo>
                  <a:cubicBezTo>
                    <a:pt x="8799" y="1855"/>
                    <a:pt x="8800" y="1855"/>
                    <a:pt x="8802" y="1856"/>
                  </a:cubicBezTo>
                  <a:lnTo>
                    <a:pt x="8804" y="1857"/>
                  </a:lnTo>
                  <a:cubicBezTo>
                    <a:pt x="8832" y="1884"/>
                    <a:pt x="8861" y="1909"/>
                    <a:pt x="8890" y="1932"/>
                  </a:cubicBezTo>
                  <a:lnTo>
                    <a:pt x="8890" y="1932"/>
                  </a:lnTo>
                  <a:cubicBezTo>
                    <a:pt x="8891" y="1933"/>
                    <a:pt x="8892" y="1933"/>
                    <a:pt x="8893" y="1935"/>
                  </a:cubicBezTo>
                  <a:cubicBezTo>
                    <a:pt x="8893" y="1935"/>
                    <a:pt x="8894" y="1937"/>
                    <a:pt x="8894" y="1939"/>
                  </a:cubicBezTo>
                  <a:cubicBezTo>
                    <a:pt x="8894" y="1940"/>
                    <a:pt x="8893" y="1942"/>
                    <a:pt x="8893" y="1944"/>
                  </a:cubicBezTo>
                  <a:cubicBezTo>
                    <a:pt x="8892" y="1945"/>
                    <a:pt x="8890" y="1947"/>
                    <a:pt x="8889" y="1948"/>
                  </a:cubicBezTo>
                  <a:cubicBezTo>
                    <a:pt x="8888" y="1949"/>
                    <a:pt x="8885" y="1949"/>
                    <a:pt x="8884" y="1949"/>
                  </a:cubicBezTo>
                  <a:cubicBezTo>
                    <a:pt x="8882" y="1949"/>
                    <a:pt x="8881" y="1949"/>
                    <a:pt x="8879" y="1948"/>
                  </a:cubicBezTo>
                  <a:cubicBezTo>
                    <a:pt x="8879" y="1948"/>
                    <a:pt x="8879" y="1947"/>
                    <a:pt x="8878" y="1947"/>
                  </a:cubicBezTo>
                  <a:cubicBezTo>
                    <a:pt x="8849" y="1924"/>
                    <a:pt x="8820" y="1898"/>
                    <a:pt x="8791" y="1871"/>
                  </a:cubicBezTo>
                  <a:lnTo>
                    <a:pt x="8791" y="1871"/>
                  </a:lnTo>
                  <a:cubicBezTo>
                    <a:pt x="8790" y="1871"/>
                    <a:pt x="8790" y="1870"/>
                    <a:pt x="8789" y="1869"/>
                  </a:cubicBezTo>
                  <a:cubicBezTo>
                    <a:pt x="8788" y="1868"/>
                    <a:pt x="8788" y="1865"/>
                    <a:pt x="8788" y="1864"/>
                  </a:cubicBezTo>
                  <a:cubicBezTo>
                    <a:pt x="8788" y="1862"/>
                    <a:pt x="8788" y="1861"/>
                    <a:pt x="8789" y="1860"/>
                  </a:cubicBezTo>
                  <a:cubicBezTo>
                    <a:pt x="8790" y="1858"/>
                    <a:pt x="8791" y="1857"/>
                    <a:pt x="8793" y="1856"/>
                  </a:cubicBezTo>
                  <a:cubicBezTo>
                    <a:pt x="8794" y="1855"/>
                    <a:pt x="8796" y="1855"/>
                    <a:pt x="8797" y="1855"/>
                  </a:cubicBezTo>
                  <a:close/>
                  <a:moveTo>
                    <a:pt x="5581" y="1897"/>
                  </a:moveTo>
                  <a:lnTo>
                    <a:pt x="5581" y="1897"/>
                  </a:lnTo>
                  <a:cubicBezTo>
                    <a:pt x="5583" y="1897"/>
                    <a:pt x="5585" y="1897"/>
                    <a:pt x="5586" y="1898"/>
                  </a:cubicBezTo>
                  <a:cubicBezTo>
                    <a:pt x="5588" y="1899"/>
                    <a:pt x="5589" y="1900"/>
                    <a:pt x="5590" y="1902"/>
                  </a:cubicBezTo>
                  <a:cubicBezTo>
                    <a:pt x="5590" y="1903"/>
                    <a:pt x="5591" y="1905"/>
                    <a:pt x="5591" y="1907"/>
                  </a:cubicBezTo>
                  <a:cubicBezTo>
                    <a:pt x="5591" y="1908"/>
                    <a:pt x="5590" y="1910"/>
                    <a:pt x="5590" y="1911"/>
                  </a:cubicBezTo>
                  <a:lnTo>
                    <a:pt x="5590" y="1911"/>
                  </a:lnTo>
                  <a:cubicBezTo>
                    <a:pt x="5569" y="1946"/>
                    <a:pt x="5549" y="1979"/>
                    <a:pt x="5529" y="2010"/>
                  </a:cubicBezTo>
                  <a:lnTo>
                    <a:pt x="5529" y="2010"/>
                  </a:lnTo>
                  <a:cubicBezTo>
                    <a:pt x="5528" y="2011"/>
                    <a:pt x="5527" y="2011"/>
                    <a:pt x="5526" y="2012"/>
                  </a:cubicBezTo>
                  <a:cubicBezTo>
                    <a:pt x="5524" y="2012"/>
                    <a:pt x="5523" y="2014"/>
                    <a:pt x="5521" y="2014"/>
                  </a:cubicBezTo>
                  <a:cubicBezTo>
                    <a:pt x="5519" y="2014"/>
                    <a:pt x="5517" y="2013"/>
                    <a:pt x="5516" y="2012"/>
                  </a:cubicBezTo>
                  <a:cubicBezTo>
                    <a:pt x="5514" y="2011"/>
                    <a:pt x="5513" y="2010"/>
                    <a:pt x="5513" y="2009"/>
                  </a:cubicBezTo>
                  <a:cubicBezTo>
                    <a:pt x="5512" y="2007"/>
                    <a:pt x="5511" y="2006"/>
                    <a:pt x="5511" y="2004"/>
                  </a:cubicBezTo>
                  <a:cubicBezTo>
                    <a:pt x="5511" y="2002"/>
                    <a:pt x="5512" y="2001"/>
                    <a:pt x="5513" y="1999"/>
                  </a:cubicBezTo>
                  <a:lnTo>
                    <a:pt x="5513" y="1999"/>
                  </a:lnTo>
                  <a:cubicBezTo>
                    <a:pt x="5533" y="1968"/>
                    <a:pt x="5553" y="1936"/>
                    <a:pt x="5573" y="1902"/>
                  </a:cubicBezTo>
                  <a:lnTo>
                    <a:pt x="5573" y="1902"/>
                  </a:lnTo>
                  <a:cubicBezTo>
                    <a:pt x="5574" y="1900"/>
                    <a:pt x="5574" y="1898"/>
                    <a:pt x="5576" y="1898"/>
                  </a:cubicBezTo>
                  <a:cubicBezTo>
                    <a:pt x="5578" y="1897"/>
                    <a:pt x="5579" y="1897"/>
                    <a:pt x="5581" y="1897"/>
                  </a:cubicBezTo>
                  <a:close/>
                  <a:moveTo>
                    <a:pt x="955" y="1900"/>
                  </a:moveTo>
                  <a:lnTo>
                    <a:pt x="955" y="1900"/>
                  </a:lnTo>
                  <a:cubicBezTo>
                    <a:pt x="957" y="1900"/>
                    <a:pt x="959" y="1900"/>
                    <a:pt x="960" y="1901"/>
                  </a:cubicBezTo>
                  <a:cubicBezTo>
                    <a:pt x="961" y="1901"/>
                    <a:pt x="962" y="1903"/>
                    <a:pt x="963" y="1905"/>
                  </a:cubicBezTo>
                  <a:cubicBezTo>
                    <a:pt x="963" y="1906"/>
                    <a:pt x="965" y="1908"/>
                    <a:pt x="965" y="1910"/>
                  </a:cubicBezTo>
                  <a:cubicBezTo>
                    <a:pt x="965" y="1911"/>
                    <a:pt x="964" y="1913"/>
                    <a:pt x="963" y="1915"/>
                  </a:cubicBezTo>
                  <a:lnTo>
                    <a:pt x="963" y="1915"/>
                  </a:lnTo>
                  <a:cubicBezTo>
                    <a:pt x="940" y="1949"/>
                    <a:pt x="918" y="1980"/>
                    <a:pt x="896" y="2009"/>
                  </a:cubicBezTo>
                  <a:lnTo>
                    <a:pt x="896" y="2009"/>
                  </a:lnTo>
                  <a:cubicBezTo>
                    <a:pt x="896" y="2011"/>
                    <a:pt x="895" y="2011"/>
                    <a:pt x="894" y="2012"/>
                  </a:cubicBezTo>
                  <a:cubicBezTo>
                    <a:pt x="892" y="2013"/>
                    <a:pt x="890" y="2013"/>
                    <a:pt x="889" y="2013"/>
                  </a:cubicBezTo>
                  <a:cubicBezTo>
                    <a:pt x="887" y="2013"/>
                    <a:pt x="885" y="2013"/>
                    <a:pt x="884" y="2012"/>
                  </a:cubicBezTo>
                  <a:cubicBezTo>
                    <a:pt x="883" y="2011"/>
                    <a:pt x="881" y="2010"/>
                    <a:pt x="880" y="2009"/>
                  </a:cubicBezTo>
                  <a:cubicBezTo>
                    <a:pt x="879" y="2007"/>
                    <a:pt x="879" y="2005"/>
                    <a:pt x="879" y="2004"/>
                  </a:cubicBezTo>
                  <a:cubicBezTo>
                    <a:pt x="879" y="2002"/>
                    <a:pt x="879" y="1999"/>
                    <a:pt x="880" y="1999"/>
                  </a:cubicBezTo>
                  <a:cubicBezTo>
                    <a:pt x="881" y="1998"/>
                    <a:pt x="881" y="1998"/>
                    <a:pt x="881" y="1998"/>
                  </a:cubicBezTo>
                  <a:cubicBezTo>
                    <a:pt x="903" y="1969"/>
                    <a:pt x="924" y="1938"/>
                    <a:pt x="947" y="1904"/>
                  </a:cubicBezTo>
                  <a:lnTo>
                    <a:pt x="947" y="1904"/>
                  </a:lnTo>
                  <a:cubicBezTo>
                    <a:pt x="948" y="1903"/>
                    <a:pt x="949" y="1902"/>
                    <a:pt x="950" y="1902"/>
                  </a:cubicBezTo>
                  <a:cubicBezTo>
                    <a:pt x="952" y="1901"/>
                    <a:pt x="953" y="1900"/>
                    <a:pt x="955" y="1900"/>
                  </a:cubicBezTo>
                  <a:close/>
                  <a:moveTo>
                    <a:pt x="8978" y="1996"/>
                  </a:moveTo>
                  <a:lnTo>
                    <a:pt x="8978" y="1996"/>
                  </a:lnTo>
                  <a:lnTo>
                    <a:pt x="8978" y="1996"/>
                  </a:lnTo>
                  <a:cubicBezTo>
                    <a:pt x="8980" y="1996"/>
                    <a:pt x="8982" y="1996"/>
                    <a:pt x="8983" y="1997"/>
                  </a:cubicBezTo>
                  <a:lnTo>
                    <a:pt x="8983" y="1997"/>
                  </a:lnTo>
                  <a:lnTo>
                    <a:pt x="8983" y="1997"/>
                  </a:lnTo>
                  <a:cubicBezTo>
                    <a:pt x="8990" y="2001"/>
                    <a:pt x="8997" y="2005"/>
                    <a:pt x="9003" y="2009"/>
                  </a:cubicBezTo>
                  <a:cubicBezTo>
                    <a:pt x="9029" y="2024"/>
                    <a:pt x="9056" y="2038"/>
                    <a:pt x="9083" y="2050"/>
                  </a:cubicBezTo>
                  <a:lnTo>
                    <a:pt x="9083" y="2050"/>
                  </a:lnTo>
                  <a:cubicBezTo>
                    <a:pt x="9084" y="2050"/>
                    <a:pt x="9084" y="2050"/>
                    <a:pt x="9084" y="2050"/>
                  </a:cubicBezTo>
                  <a:cubicBezTo>
                    <a:pt x="9086" y="2051"/>
                    <a:pt x="9087" y="2052"/>
                    <a:pt x="9088" y="2054"/>
                  </a:cubicBezTo>
                  <a:cubicBezTo>
                    <a:pt x="9088" y="2055"/>
                    <a:pt x="9089" y="2057"/>
                    <a:pt x="9089" y="2059"/>
                  </a:cubicBezTo>
                  <a:cubicBezTo>
                    <a:pt x="9089" y="2060"/>
                    <a:pt x="9088" y="2062"/>
                    <a:pt x="9088" y="2064"/>
                  </a:cubicBezTo>
                  <a:cubicBezTo>
                    <a:pt x="9087" y="2065"/>
                    <a:pt x="9085" y="2066"/>
                    <a:pt x="9084" y="2067"/>
                  </a:cubicBezTo>
                  <a:cubicBezTo>
                    <a:pt x="9082" y="2068"/>
                    <a:pt x="9081" y="2068"/>
                    <a:pt x="9079" y="2068"/>
                  </a:cubicBezTo>
                  <a:cubicBezTo>
                    <a:pt x="9078" y="2068"/>
                    <a:pt x="9077" y="2068"/>
                    <a:pt x="9075" y="2067"/>
                  </a:cubicBezTo>
                  <a:lnTo>
                    <a:pt x="9075" y="2067"/>
                  </a:lnTo>
                  <a:cubicBezTo>
                    <a:pt x="9048" y="2055"/>
                    <a:pt x="9021" y="2041"/>
                    <a:pt x="8994" y="2026"/>
                  </a:cubicBezTo>
                  <a:cubicBezTo>
                    <a:pt x="8987" y="2022"/>
                    <a:pt x="8980" y="2018"/>
                    <a:pt x="8973" y="2013"/>
                  </a:cubicBezTo>
                  <a:lnTo>
                    <a:pt x="8973" y="2013"/>
                  </a:lnTo>
                  <a:cubicBezTo>
                    <a:pt x="8972" y="2013"/>
                    <a:pt x="8971" y="2011"/>
                    <a:pt x="8970" y="2010"/>
                  </a:cubicBezTo>
                  <a:cubicBezTo>
                    <a:pt x="8969" y="2009"/>
                    <a:pt x="8969" y="2006"/>
                    <a:pt x="8969" y="2005"/>
                  </a:cubicBezTo>
                  <a:cubicBezTo>
                    <a:pt x="8969" y="2003"/>
                    <a:pt x="8969" y="2001"/>
                    <a:pt x="8970" y="2000"/>
                  </a:cubicBezTo>
                  <a:cubicBezTo>
                    <a:pt x="8971" y="1998"/>
                    <a:pt x="8971" y="1998"/>
                    <a:pt x="8973" y="1997"/>
                  </a:cubicBezTo>
                  <a:cubicBezTo>
                    <a:pt x="8974" y="1996"/>
                    <a:pt x="8976" y="1996"/>
                    <a:pt x="8978" y="1996"/>
                  </a:cubicBezTo>
                  <a:close/>
                  <a:moveTo>
                    <a:pt x="3848" y="2013"/>
                  </a:moveTo>
                  <a:lnTo>
                    <a:pt x="3848" y="2013"/>
                  </a:lnTo>
                  <a:lnTo>
                    <a:pt x="3848" y="2013"/>
                  </a:lnTo>
                  <a:cubicBezTo>
                    <a:pt x="3850" y="2013"/>
                    <a:pt x="3851" y="2014"/>
                    <a:pt x="3853" y="2015"/>
                  </a:cubicBezTo>
                  <a:cubicBezTo>
                    <a:pt x="3854" y="2015"/>
                    <a:pt x="3855" y="2016"/>
                    <a:pt x="3856" y="2017"/>
                  </a:cubicBezTo>
                  <a:cubicBezTo>
                    <a:pt x="3879" y="2049"/>
                    <a:pt x="3903" y="2080"/>
                    <a:pt x="3926" y="2108"/>
                  </a:cubicBezTo>
                  <a:lnTo>
                    <a:pt x="3926" y="2108"/>
                  </a:lnTo>
                  <a:lnTo>
                    <a:pt x="3927" y="2109"/>
                  </a:lnTo>
                  <a:cubicBezTo>
                    <a:pt x="3928" y="2110"/>
                    <a:pt x="3928" y="2112"/>
                    <a:pt x="3928" y="2114"/>
                  </a:cubicBezTo>
                  <a:cubicBezTo>
                    <a:pt x="3928" y="2115"/>
                    <a:pt x="3928" y="2117"/>
                    <a:pt x="3927" y="2119"/>
                  </a:cubicBezTo>
                  <a:cubicBezTo>
                    <a:pt x="3926" y="2120"/>
                    <a:pt x="3924" y="2121"/>
                    <a:pt x="3923" y="2122"/>
                  </a:cubicBezTo>
                  <a:cubicBezTo>
                    <a:pt x="3921" y="2123"/>
                    <a:pt x="3920" y="2123"/>
                    <a:pt x="3919" y="2123"/>
                  </a:cubicBezTo>
                  <a:cubicBezTo>
                    <a:pt x="3917" y="2123"/>
                    <a:pt x="3915" y="2122"/>
                    <a:pt x="3914" y="2122"/>
                  </a:cubicBezTo>
                  <a:cubicBezTo>
                    <a:pt x="3913" y="2121"/>
                    <a:pt x="3912" y="2121"/>
                    <a:pt x="3911" y="2120"/>
                  </a:cubicBezTo>
                  <a:cubicBezTo>
                    <a:pt x="3888" y="2091"/>
                    <a:pt x="3864" y="2061"/>
                    <a:pt x="3840" y="2029"/>
                  </a:cubicBezTo>
                  <a:lnTo>
                    <a:pt x="3840" y="2029"/>
                  </a:lnTo>
                  <a:cubicBezTo>
                    <a:pt x="3840" y="2028"/>
                    <a:pt x="3840" y="2028"/>
                    <a:pt x="3840" y="2028"/>
                  </a:cubicBezTo>
                  <a:cubicBezTo>
                    <a:pt x="3839" y="2026"/>
                    <a:pt x="3839" y="2025"/>
                    <a:pt x="3839" y="2023"/>
                  </a:cubicBezTo>
                  <a:cubicBezTo>
                    <a:pt x="3839" y="2021"/>
                    <a:pt x="3839" y="2019"/>
                    <a:pt x="3840" y="2018"/>
                  </a:cubicBezTo>
                  <a:cubicBezTo>
                    <a:pt x="3841" y="2016"/>
                    <a:pt x="3842" y="2015"/>
                    <a:pt x="3843" y="2015"/>
                  </a:cubicBezTo>
                  <a:cubicBezTo>
                    <a:pt x="3845" y="2014"/>
                    <a:pt x="3846" y="2013"/>
                    <a:pt x="3848" y="2013"/>
                  </a:cubicBezTo>
                  <a:close/>
                  <a:moveTo>
                    <a:pt x="818" y="2086"/>
                  </a:moveTo>
                  <a:lnTo>
                    <a:pt x="818" y="2086"/>
                  </a:lnTo>
                  <a:cubicBezTo>
                    <a:pt x="820" y="2086"/>
                    <a:pt x="821" y="2085"/>
                    <a:pt x="823" y="2087"/>
                  </a:cubicBezTo>
                  <a:cubicBezTo>
                    <a:pt x="824" y="2087"/>
                    <a:pt x="825" y="2088"/>
                    <a:pt x="826" y="2090"/>
                  </a:cubicBezTo>
                  <a:cubicBezTo>
                    <a:pt x="826" y="2091"/>
                    <a:pt x="828" y="2093"/>
                    <a:pt x="828" y="2095"/>
                  </a:cubicBezTo>
                  <a:cubicBezTo>
                    <a:pt x="828" y="2097"/>
                    <a:pt x="827" y="2098"/>
                    <a:pt x="826" y="2100"/>
                  </a:cubicBezTo>
                  <a:lnTo>
                    <a:pt x="826" y="2101"/>
                  </a:lnTo>
                  <a:cubicBezTo>
                    <a:pt x="800" y="2132"/>
                    <a:pt x="775" y="2161"/>
                    <a:pt x="750" y="2188"/>
                  </a:cubicBezTo>
                  <a:lnTo>
                    <a:pt x="750" y="2188"/>
                  </a:lnTo>
                  <a:cubicBezTo>
                    <a:pt x="749" y="2189"/>
                    <a:pt x="749" y="2189"/>
                    <a:pt x="748" y="2190"/>
                  </a:cubicBezTo>
                  <a:cubicBezTo>
                    <a:pt x="746" y="2191"/>
                    <a:pt x="745" y="2191"/>
                    <a:pt x="743" y="2191"/>
                  </a:cubicBezTo>
                  <a:cubicBezTo>
                    <a:pt x="741" y="2191"/>
                    <a:pt x="739" y="2191"/>
                    <a:pt x="738" y="2190"/>
                  </a:cubicBezTo>
                  <a:cubicBezTo>
                    <a:pt x="736" y="2189"/>
                    <a:pt x="736" y="2187"/>
                    <a:pt x="735" y="2186"/>
                  </a:cubicBezTo>
                  <a:cubicBezTo>
                    <a:pt x="734" y="2184"/>
                    <a:pt x="733" y="2182"/>
                    <a:pt x="733" y="2181"/>
                  </a:cubicBezTo>
                  <a:cubicBezTo>
                    <a:pt x="733" y="2179"/>
                    <a:pt x="734" y="2178"/>
                    <a:pt x="735" y="2177"/>
                  </a:cubicBezTo>
                  <a:cubicBezTo>
                    <a:pt x="735" y="2176"/>
                    <a:pt x="735" y="2176"/>
                    <a:pt x="736" y="2175"/>
                  </a:cubicBezTo>
                  <a:cubicBezTo>
                    <a:pt x="760" y="2149"/>
                    <a:pt x="786" y="2120"/>
                    <a:pt x="811" y="2089"/>
                  </a:cubicBezTo>
                  <a:lnTo>
                    <a:pt x="811" y="2089"/>
                  </a:lnTo>
                  <a:cubicBezTo>
                    <a:pt x="811" y="2088"/>
                    <a:pt x="812" y="2087"/>
                    <a:pt x="813" y="2087"/>
                  </a:cubicBezTo>
                  <a:cubicBezTo>
                    <a:pt x="815" y="2086"/>
                    <a:pt x="816" y="2085"/>
                    <a:pt x="818" y="2085"/>
                  </a:cubicBezTo>
                  <a:lnTo>
                    <a:pt x="818" y="2086"/>
                  </a:lnTo>
                  <a:close/>
                  <a:moveTo>
                    <a:pt x="9187" y="2089"/>
                  </a:moveTo>
                  <a:lnTo>
                    <a:pt x="9187" y="2089"/>
                  </a:lnTo>
                  <a:cubicBezTo>
                    <a:pt x="9188" y="2089"/>
                    <a:pt x="9189" y="2089"/>
                    <a:pt x="9189" y="2089"/>
                  </a:cubicBezTo>
                  <a:lnTo>
                    <a:pt x="9189" y="2089"/>
                  </a:lnTo>
                  <a:cubicBezTo>
                    <a:pt x="9226" y="2100"/>
                    <a:pt x="9262" y="2108"/>
                    <a:pt x="9300" y="2113"/>
                  </a:cubicBezTo>
                  <a:lnTo>
                    <a:pt x="9300" y="2113"/>
                  </a:lnTo>
                  <a:cubicBezTo>
                    <a:pt x="9301" y="2114"/>
                    <a:pt x="9303" y="2114"/>
                    <a:pt x="9304" y="2115"/>
                  </a:cubicBezTo>
                  <a:cubicBezTo>
                    <a:pt x="9305" y="2116"/>
                    <a:pt x="9306" y="2116"/>
                    <a:pt x="9307" y="2118"/>
                  </a:cubicBezTo>
                  <a:cubicBezTo>
                    <a:pt x="9308" y="2119"/>
                    <a:pt x="9308" y="2121"/>
                    <a:pt x="9308" y="2123"/>
                  </a:cubicBezTo>
                  <a:cubicBezTo>
                    <a:pt x="9308" y="2125"/>
                    <a:pt x="9308" y="2126"/>
                    <a:pt x="9307" y="2128"/>
                  </a:cubicBezTo>
                  <a:cubicBezTo>
                    <a:pt x="9306" y="2129"/>
                    <a:pt x="9305" y="2130"/>
                    <a:pt x="9304" y="2131"/>
                  </a:cubicBezTo>
                  <a:cubicBezTo>
                    <a:pt x="9302" y="2132"/>
                    <a:pt x="9301" y="2133"/>
                    <a:pt x="9299" y="2133"/>
                  </a:cubicBezTo>
                  <a:cubicBezTo>
                    <a:pt x="9298" y="2133"/>
                    <a:pt x="9298" y="2133"/>
                    <a:pt x="9297" y="2132"/>
                  </a:cubicBezTo>
                  <a:lnTo>
                    <a:pt x="9297" y="2132"/>
                  </a:lnTo>
                  <a:cubicBezTo>
                    <a:pt x="9259" y="2127"/>
                    <a:pt x="9221" y="2118"/>
                    <a:pt x="9184" y="2108"/>
                  </a:cubicBezTo>
                  <a:lnTo>
                    <a:pt x="9184" y="2108"/>
                  </a:lnTo>
                  <a:cubicBezTo>
                    <a:pt x="9183" y="2107"/>
                    <a:pt x="9182" y="2107"/>
                    <a:pt x="9182" y="2107"/>
                  </a:cubicBezTo>
                  <a:cubicBezTo>
                    <a:pt x="9180" y="2106"/>
                    <a:pt x="9179" y="2104"/>
                    <a:pt x="9179" y="2103"/>
                  </a:cubicBezTo>
                  <a:cubicBezTo>
                    <a:pt x="9178" y="2101"/>
                    <a:pt x="9177" y="2099"/>
                    <a:pt x="9177" y="2098"/>
                  </a:cubicBezTo>
                  <a:cubicBezTo>
                    <a:pt x="9177" y="2096"/>
                    <a:pt x="9178" y="2095"/>
                    <a:pt x="9179" y="2094"/>
                  </a:cubicBezTo>
                  <a:cubicBezTo>
                    <a:pt x="9179" y="2092"/>
                    <a:pt x="9180" y="2090"/>
                    <a:pt x="9182" y="2090"/>
                  </a:cubicBezTo>
                  <a:cubicBezTo>
                    <a:pt x="9183" y="2088"/>
                    <a:pt x="9185" y="2089"/>
                    <a:pt x="9187" y="2089"/>
                  </a:cubicBezTo>
                  <a:close/>
                  <a:moveTo>
                    <a:pt x="5456" y="2090"/>
                  </a:moveTo>
                  <a:lnTo>
                    <a:pt x="5456" y="2090"/>
                  </a:lnTo>
                  <a:lnTo>
                    <a:pt x="5456" y="2090"/>
                  </a:lnTo>
                  <a:cubicBezTo>
                    <a:pt x="5457" y="2090"/>
                    <a:pt x="5459" y="2090"/>
                    <a:pt x="5460" y="2091"/>
                  </a:cubicBezTo>
                  <a:cubicBezTo>
                    <a:pt x="5461" y="2091"/>
                    <a:pt x="5461" y="2092"/>
                    <a:pt x="5461" y="2092"/>
                  </a:cubicBezTo>
                  <a:lnTo>
                    <a:pt x="5461" y="2092"/>
                  </a:lnTo>
                  <a:cubicBezTo>
                    <a:pt x="5462" y="2093"/>
                    <a:pt x="5463" y="2094"/>
                    <a:pt x="5464" y="2095"/>
                  </a:cubicBezTo>
                  <a:cubicBezTo>
                    <a:pt x="5465" y="2096"/>
                    <a:pt x="5465" y="2098"/>
                    <a:pt x="5465" y="2100"/>
                  </a:cubicBezTo>
                  <a:cubicBezTo>
                    <a:pt x="5465" y="2101"/>
                    <a:pt x="5464" y="2102"/>
                    <a:pt x="5464" y="2104"/>
                  </a:cubicBezTo>
                  <a:cubicBezTo>
                    <a:pt x="5463" y="2104"/>
                    <a:pt x="5463" y="2105"/>
                    <a:pt x="5463" y="2105"/>
                  </a:cubicBezTo>
                  <a:cubicBezTo>
                    <a:pt x="5440" y="2138"/>
                    <a:pt x="5416" y="2168"/>
                    <a:pt x="5392" y="2197"/>
                  </a:cubicBezTo>
                  <a:lnTo>
                    <a:pt x="5392" y="2197"/>
                  </a:lnTo>
                  <a:cubicBezTo>
                    <a:pt x="5392" y="2197"/>
                    <a:pt x="5391" y="2198"/>
                    <a:pt x="5390" y="2199"/>
                  </a:cubicBezTo>
                  <a:cubicBezTo>
                    <a:pt x="5388" y="2200"/>
                    <a:pt x="5387" y="2200"/>
                    <a:pt x="5385" y="2200"/>
                  </a:cubicBezTo>
                  <a:cubicBezTo>
                    <a:pt x="5383" y="2200"/>
                    <a:pt x="5381" y="2200"/>
                    <a:pt x="5380" y="2199"/>
                  </a:cubicBezTo>
                  <a:cubicBezTo>
                    <a:pt x="5378" y="2198"/>
                    <a:pt x="5377" y="2196"/>
                    <a:pt x="5377" y="2195"/>
                  </a:cubicBezTo>
                  <a:cubicBezTo>
                    <a:pt x="5376" y="2193"/>
                    <a:pt x="5375" y="2191"/>
                    <a:pt x="5375" y="2190"/>
                  </a:cubicBezTo>
                  <a:cubicBezTo>
                    <a:pt x="5375" y="2188"/>
                    <a:pt x="5376" y="2187"/>
                    <a:pt x="5377" y="2186"/>
                  </a:cubicBezTo>
                  <a:cubicBezTo>
                    <a:pt x="5377" y="2185"/>
                    <a:pt x="5377" y="2185"/>
                    <a:pt x="5378" y="2184"/>
                  </a:cubicBezTo>
                  <a:cubicBezTo>
                    <a:pt x="5401" y="2156"/>
                    <a:pt x="5425" y="2126"/>
                    <a:pt x="5448" y="2094"/>
                  </a:cubicBezTo>
                  <a:lnTo>
                    <a:pt x="5448" y="2094"/>
                  </a:lnTo>
                  <a:cubicBezTo>
                    <a:pt x="5449" y="2093"/>
                    <a:pt x="5450" y="2092"/>
                    <a:pt x="5451" y="2091"/>
                  </a:cubicBezTo>
                  <a:cubicBezTo>
                    <a:pt x="5452" y="2090"/>
                    <a:pt x="5454" y="2090"/>
                    <a:pt x="5456" y="2090"/>
                  </a:cubicBezTo>
                  <a:close/>
                  <a:moveTo>
                    <a:pt x="3994" y="2191"/>
                  </a:moveTo>
                  <a:lnTo>
                    <a:pt x="3994" y="2191"/>
                  </a:lnTo>
                  <a:lnTo>
                    <a:pt x="3994" y="2191"/>
                  </a:lnTo>
                  <a:cubicBezTo>
                    <a:pt x="3996" y="2191"/>
                    <a:pt x="3998" y="2191"/>
                    <a:pt x="3999" y="2192"/>
                  </a:cubicBezTo>
                  <a:cubicBezTo>
                    <a:pt x="4000" y="2193"/>
                    <a:pt x="4001" y="2193"/>
                    <a:pt x="4001" y="2194"/>
                  </a:cubicBezTo>
                  <a:cubicBezTo>
                    <a:pt x="4028" y="2222"/>
                    <a:pt x="4055" y="2249"/>
                    <a:pt x="4083" y="2274"/>
                  </a:cubicBezTo>
                  <a:lnTo>
                    <a:pt x="4083" y="2274"/>
                  </a:lnTo>
                  <a:cubicBezTo>
                    <a:pt x="4083" y="2275"/>
                    <a:pt x="4084" y="2276"/>
                    <a:pt x="4084" y="2276"/>
                  </a:cubicBezTo>
                  <a:cubicBezTo>
                    <a:pt x="4085" y="2278"/>
                    <a:pt x="4086" y="2279"/>
                    <a:pt x="4086" y="2281"/>
                  </a:cubicBezTo>
                  <a:cubicBezTo>
                    <a:pt x="4086" y="2282"/>
                    <a:pt x="4084" y="2284"/>
                    <a:pt x="4084" y="2286"/>
                  </a:cubicBezTo>
                  <a:cubicBezTo>
                    <a:pt x="4083" y="2287"/>
                    <a:pt x="4082" y="2289"/>
                    <a:pt x="4081" y="2290"/>
                  </a:cubicBezTo>
                  <a:cubicBezTo>
                    <a:pt x="4079" y="2290"/>
                    <a:pt x="4078" y="2291"/>
                    <a:pt x="4076" y="2291"/>
                  </a:cubicBezTo>
                  <a:cubicBezTo>
                    <a:pt x="4074" y="2291"/>
                    <a:pt x="4073" y="2290"/>
                    <a:pt x="4071" y="2290"/>
                  </a:cubicBezTo>
                  <a:cubicBezTo>
                    <a:pt x="4070" y="2289"/>
                    <a:pt x="4070" y="2289"/>
                    <a:pt x="4070" y="2288"/>
                  </a:cubicBezTo>
                  <a:cubicBezTo>
                    <a:pt x="4042" y="2263"/>
                    <a:pt x="4014" y="2236"/>
                    <a:pt x="3987" y="2207"/>
                  </a:cubicBezTo>
                  <a:lnTo>
                    <a:pt x="3987" y="2207"/>
                  </a:lnTo>
                  <a:cubicBezTo>
                    <a:pt x="3987" y="2206"/>
                    <a:pt x="3986" y="2205"/>
                    <a:pt x="3986" y="2205"/>
                  </a:cubicBezTo>
                  <a:cubicBezTo>
                    <a:pt x="3985" y="2203"/>
                    <a:pt x="3985" y="2201"/>
                    <a:pt x="3985" y="2200"/>
                  </a:cubicBezTo>
                  <a:cubicBezTo>
                    <a:pt x="3985" y="2198"/>
                    <a:pt x="3985" y="2197"/>
                    <a:pt x="3986" y="2196"/>
                  </a:cubicBezTo>
                  <a:cubicBezTo>
                    <a:pt x="3987" y="2194"/>
                    <a:pt x="3987" y="2193"/>
                    <a:pt x="3989" y="2192"/>
                  </a:cubicBezTo>
                  <a:cubicBezTo>
                    <a:pt x="3990" y="2191"/>
                    <a:pt x="3993" y="2191"/>
                    <a:pt x="3994" y="2191"/>
                  </a:cubicBezTo>
                  <a:close/>
                  <a:moveTo>
                    <a:pt x="661" y="2253"/>
                  </a:moveTo>
                  <a:lnTo>
                    <a:pt x="661" y="2253"/>
                  </a:lnTo>
                  <a:lnTo>
                    <a:pt x="661" y="2253"/>
                  </a:lnTo>
                  <a:cubicBezTo>
                    <a:pt x="663" y="2253"/>
                    <a:pt x="664" y="2254"/>
                    <a:pt x="666" y="2255"/>
                  </a:cubicBezTo>
                  <a:cubicBezTo>
                    <a:pt x="668" y="2255"/>
                    <a:pt x="669" y="2256"/>
                    <a:pt x="670" y="2258"/>
                  </a:cubicBezTo>
                  <a:cubicBezTo>
                    <a:pt x="671" y="2259"/>
                    <a:pt x="671" y="2261"/>
                    <a:pt x="671" y="2263"/>
                  </a:cubicBezTo>
                  <a:cubicBezTo>
                    <a:pt x="671" y="2265"/>
                    <a:pt x="671" y="2266"/>
                    <a:pt x="670" y="2268"/>
                  </a:cubicBezTo>
                  <a:cubicBezTo>
                    <a:pt x="670" y="2268"/>
                    <a:pt x="668" y="2269"/>
                    <a:pt x="668" y="2270"/>
                  </a:cubicBezTo>
                  <a:cubicBezTo>
                    <a:pt x="639" y="2297"/>
                    <a:pt x="609" y="2322"/>
                    <a:pt x="579" y="2344"/>
                  </a:cubicBezTo>
                  <a:lnTo>
                    <a:pt x="579" y="2344"/>
                  </a:lnTo>
                  <a:lnTo>
                    <a:pt x="578" y="2345"/>
                  </a:lnTo>
                  <a:cubicBezTo>
                    <a:pt x="577" y="2346"/>
                    <a:pt x="574" y="2346"/>
                    <a:pt x="573" y="2346"/>
                  </a:cubicBezTo>
                  <a:cubicBezTo>
                    <a:pt x="571" y="2346"/>
                    <a:pt x="569" y="2346"/>
                    <a:pt x="568" y="2345"/>
                  </a:cubicBezTo>
                  <a:cubicBezTo>
                    <a:pt x="566" y="2344"/>
                    <a:pt x="566" y="2342"/>
                    <a:pt x="565" y="2341"/>
                  </a:cubicBezTo>
                  <a:cubicBezTo>
                    <a:pt x="564" y="2339"/>
                    <a:pt x="564" y="2337"/>
                    <a:pt x="564" y="2336"/>
                  </a:cubicBezTo>
                  <a:cubicBezTo>
                    <a:pt x="564" y="2334"/>
                    <a:pt x="564" y="2333"/>
                    <a:pt x="565" y="2332"/>
                  </a:cubicBezTo>
                  <a:cubicBezTo>
                    <a:pt x="566" y="2331"/>
                    <a:pt x="566" y="2330"/>
                    <a:pt x="567" y="2329"/>
                  </a:cubicBezTo>
                  <a:cubicBezTo>
                    <a:pt x="597" y="2307"/>
                    <a:pt x="626" y="2282"/>
                    <a:pt x="655" y="2256"/>
                  </a:cubicBezTo>
                  <a:lnTo>
                    <a:pt x="655" y="2256"/>
                  </a:lnTo>
                  <a:cubicBezTo>
                    <a:pt x="655" y="2255"/>
                    <a:pt x="656" y="2255"/>
                    <a:pt x="656" y="2255"/>
                  </a:cubicBezTo>
                  <a:cubicBezTo>
                    <a:pt x="658" y="2254"/>
                    <a:pt x="660" y="2253"/>
                    <a:pt x="661" y="2253"/>
                  </a:cubicBezTo>
                  <a:close/>
                  <a:moveTo>
                    <a:pt x="5308" y="2266"/>
                  </a:moveTo>
                  <a:lnTo>
                    <a:pt x="5308" y="2266"/>
                  </a:lnTo>
                  <a:cubicBezTo>
                    <a:pt x="5310" y="2266"/>
                    <a:pt x="5311" y="2265"/>
                    <a:pt x="5313" y="2267"/>
                  </a:cubicBezTo>
                  <a:cubicBezTo>
                    <a:pt x="5314" y="2267"/>
                    <a:pt x="5315" y="2269"/>
                    <a:pt x="5316" y="2271"/>
                  </a:cubicBezTo>
                  <a:cubicBezTo>
                    <a:pt x="5317" y="2272"/>
                    <a:pt x="5317" y="2273"/>
                    <a:pt x="5317" y="2275"/>
                  </a:cubicBezTo>
                  <a:cubicBezTo>
                    <a:pt x="5317" y="2276"/>
                    <a:pt x="5316" y="2278"/>
                    <a:pt x="5316" y="2280"/>
                  </a:cubicBezTo>
                  <a:cubicBezTo>
                    <a:pt x="5315" y="2280"/>
                    <a:pt x="5315" y="2282"/>
                    <a:pt x="5315" y="2282"/>
                  </a:cubicBezTo>
                  <a:lnTo>
                    <a:pt x="5315" y="2282"/>
                  </a:lnTo>
                  <a:cubicBezTo>
                    <a:pt x="5288" y="2310"/>
                    <a:pt x="5259" y="2336"/>
                    <a:pt x="5230" y="2361"/>
                  </a:cubicBezTo>
                  <a:lnTo>
                    <a:pt x="5230" y="2361"/>
                  </a:lnTo>
                  <a:cubicBezTo>
                    <a:pt x="5229" y="2361"/>
                    <a:pt x="5229" y="2361"/>
                    <a:pt x="5228" y="2362"/>
                  </a:cubicBezTo>
                  <a:cubicBezTo>
                    <a:pt x="5226" y="2363"/>
                    <a:pt x="5225" y="2363"/>
                    <a:pt x="5223" y="2363"/>
                  </a:cubicBezTo>
                  <a:cubicBezTo>
                    <a:pt x="5221" y="2363"/>
                    <a:pt x="5219" y="2363"/>
                    <a:pt x="5218" y="2362"/>
                  </a:cubicBezTo>
                  <a:cubicBezTo>
                    <a:pt x="5216" y="2361"/>
                    <a:pt x="5216" y="2359"/>
                    <a:pt x="5215" y="2358"/>
                  </a:cubicBezTo>
                  <a:cubicBezTo>
                    <a:pt x="5214" y="2356"/>
                    <a:pt x="5214" y="2354"/>
                    <a:pt x="5214" y="2353"/>
                  </a:cubicBezTo>
                  <a:cubicBezTo>
                    <a:pt x="5214" y="2351"/>
                    <a:pt x="5214" y="2350"/>
                    <a:pt x="5215" y="2349"/>
                  </a:cubicBezTo>
                  <a:cubicBezTo>
                    <a:pt x="5215" y="2347"/>
                    <a:pt x="5216" y="2347"/>
                    <a:pt x="5217" y="2346"/>
                  </a:cubicBezTo>
                  <a:lnTo>
                    <a:pt x="5217" y="2346"/>
                  </a:lnTo>
                  <a:cubicBezTo>
                    <a:pt x="5247" y="2322"/>
                    <a:pt x="5275" y="2296"/>
                    <a:pt x="5301" y="2269"/>
                  </a:cubicBezTo>
                  <a:lnTo>
                    <a:pt x="5301" y="2269"/>
                  </a:lnTo>
                  <a:cubicBezTo>
                    <a:pt x="5302" y="2268"/>
                    <a:pt x="5302" y="2267"/>
                    <a:pt x="5303" y="2267"/>
                  </a:cubicBezTo>
                  <a:cubicBezTo>
                    <a:pt x="5305" y="2265"/>
                    <a:pt x="5306" y="2266"/>
                    <a:pt x="5308" y="2266"/>
                  </a:cubicBezTo>
                  <a:close/>
                  <a:moveTo>
                    <a:pt x="4165" y="2345"/>
                  </a:moveTo>
                  <a:lnTo>
                    <a:pt x="4165" y="2345"/>
                  </a:lnTo>
                  <a:lnTo>
                    <a:pt x="4165" y="2345"/>
                  </a:lnTo>
                  <a:cubicBezTo>
                    <a:pt x="4166" y="2345"/>
                    <a:pt x="4168" y="2345"/>
                    <a:pt x="4169" y="2346"/>
                  </a:cubicBezTo>
                  <a:cubicBezTo>
                    <a:pt x="4170" y="2346"/>
                    <a:pt x="4170" y="2346"/>
                    <a:pt x="4170" y="2347"/>
                  </a:cubicBezTo>
                  <a:lnTo>
                    <a:pt x="4170" y="2347"/>
                  </a:lnTo>
                  <a:cubicBezTo>
                    <a:pt x="4201" y="2369"/>
                    <a:pt x="4232" y="2390"/>
                    <a:pt x="4265" y="2409"/>
                  </a:cubicBezTo>
                  <a:lnTo>
                    <a:pt x="4265" y="2409"/>
                  </a:lnTo>
                  <a:cubicBezTo>
                    <a:pt x="4266" y="2410"/>
                    <a:pt x="4267" y="2411"/>
                    <a:pt x="4268" y="2413"/>
                  </a:cubicBezTo>
                  <a:cubicBezTo>
                    <a:pt x="4269" y="2414"/>
                    <a:pt x="4269" y="2415"/>
                    <a:pt x="4269" y="2417"/>
                  </a:cubicBezTo>
                  <a:cubicBezTo>
                    <a:pt x="4269" y="2418"/>
                    <a:pt x="4269" y="2420"/>
                    <a:pt x="4268" y="2422"/>
                  </a:cubicBezTo>
                  <a:cubicBezTo>
                    <a:pt x="4267" y="2423"/>
                    <a:pt x="4265" y="2424"/>
                    <a:pt x="4264" y="2426"/>
                  </a:cubicBezTo>
                  <a:cubicBezTo>
                    <a:pt x="4262" y="2427"/>
                    <a:pt x="4261" y="2427"/>
                    <a:pt x="4260" y="2427"/>
                  </a:cubicBezTo>
                  <a:cubicBezTo>
                    <a:pt x="4258" y="2427"/>
                    <a:pt x="4257" y="2427"/>
                    <a:pt x="4255" y="2426"/>
                  </a:cubicBezTo>
                  <a:lnTo>
                    <a:pt x="4255" y="2426"/>
                  </a:lnTo>
                  <a:cubicBezTo>
                    <a:pt x="4222" y="2406"/>
                    <a:pt x="4190" y="2385"/>
                    <a:pt x="4159" y="2362"/>
                  </a:cubicBezTo>
                  <a:lnTo>
                    <a:pt x="4159" y="2362"/>
                  </a:lnTo>
                  <a:cubicBezTo>
                    <a:pt x="4158" y="2361"/>
                    <a:pt x="4157" y="2360"/>
                    <a:pt x="4156" y="2359"/>
                  </a:cubicBezTo>
                  <a:cubicBezTo>
                    <a:pt x="4155" y="2358"/>
                    <a:pt x="4155" y="2355"/>
                    <a:pt x="4155" y="2354"/>
                  </a:cubicBezTo>
                  <a:cubicBezTo>
                    <a:pt x="4155" y="2352"/>
                    <a:pt x="4155" y="2351"/>
                    <a:pt x="4156" y="2350"/>
                  </a:cubicBezTo>
                  <a:cubicBezTo>
                    <a:pt x="4157" y="2348"/>
                    <a:pt x="4158" y="2347"/>
                    <a:pt x="4160" y="2346"/>
                  </a:cubicBezTo>
                  <a:cubicBezTo>
                    <a:pt x="4161" y="2345"/>
                    <a:pt x="4163" y="2345"/>
                    <a:pt x="4165" y="2345"/>
                  </a:cubicBezTo>
                  <a:close/>
                  <a:moveTo>
                    <a:pt x="478" y="2391"/>
                  </a:moveTo>
                  <a:lnTo>
                    <a:pt x="478" y="2391"/>
                  </a:lnTo>
                  <a:cubicBezTo>
                    <a:pt x="480" y="2391"/>
                    <a:pt x="481" y="2390"/>
                    <a:pt x="483" y="2392"/>
                  </a:cubicBezTo>
                  <a:cubicBezTo>
                    <a:pt x="484" y="2392"/>
                    <a:pt x="485" y="2394"/>
                    <a:pt x="486" y="2396"/>
                  </a:cubicBezTo>
                  <a:cubicBezTo>
                    <a:pt x="487" y="2397"/>
                    <a:pt x="488" y="2398"/>
                    <a:pt x="488" y="2400"/>
                  </a:cubicBezTo>
                  <a:cubicBezTo>
                    <a:pt x="488" y="2401"/>
                    <a:pt x="486" y="2403"/>
                    <a:pt x="486" y="2405"/>
                  </a:cubicBezTo>
                  <a:cubicBezTo>
                    <a:pt x="485" y="2406"/>
                    <a:pt x="484" y="2408"/>
                    <a:pt x="483" y="2409"/>
                  </a:cubicBezTo>
                  <a:lnTo>
                    <a:pt x="483" y="2409"/>
                  </a:lnTo>
                  <a:cubicBezTo>
                    <a:pt x="480" y="2410"/>
                    <a:pt x="477" y="2412"/>
                    <a:pt x="473" y="2414"/>
                  </a:cubicBezTo>
                  <a:cubicBezTo>
                    <a:pt x="443" y="2432"/>
                    <a:pt x="412" y="2447"/>
                    <a:pt x="380" y="2461"/>
                  </a:cubicBezTo>
                  <a:lnTo>
                    <a:pt x="380" y="2461"/>
                  </a:lnTo>
                  <a:cubicBezTo>
                    <a:pt x="379" y="2462"/>
                    <a:pt x="377" y="2462"/>
                    <a:pt x="376" y="2462"/>
                  </a:cubicBezTo>
                  <a:cubicBezTo>
                    <a:pt x="374" y="2462"/>
                    <a:pt x="373" y="2462"/>
                    <a:pt x="371" y="2461"/>
                  </a:cubicBezTo>
                  <a:cubicBezTo>
                    <a:pt x="369" y="2459"/>
                    <a:pt x="369" y="2458"/>
                    <a:pt x="368" y="2457"/>
                  </a:cubicBezTo>
                  <a:cubicBezTo>
                    <a:pt x="367" y="2455"/>
                    <a:pt x="367" y="2454"/>
                    <a:pt x="367" y="2453"/>
                  </a:cubicBezTo>
                  <a:cubicBezTo>
                    <a:pt x="367" y="2451"/>
                    <a:pt x="367" y="2449"/>
                    <a:pt x="368" y="2448"/>
                  </a:cubicBezTo>
                  <a:cubicBezTo>
                    <a:pt x="369" y="2446"/>
                    <a:pt x="370" y="2444"/>
                    <a:pt x="371" y="2444"/>
                  </a:cubicBezTo>
                  <a:cubicBezTo>
                    <a:pt x="372" y="2443"/>
                    <a:pt x="372" y="2444"/>
                    <a:pt x="372" y="2444"/>
                  </a:cubicBezTo>
                  <a:lnTo>
                    <a:pt x="372" y="2444"/>
                  </a:lnTo>
                  <a:cubicBezTo>
                    <a:pt x="404" y="2430"/>
                    <a:pt x="434" y="2415"/>
                    <a:pt x="464" y="2397"/>
                  </a:cubicBezTo>
                  <a:cubicBezTo>
                    <a:pt x="467" y="2396"/>
                    <a:pt x="470" y="2394"/>
                    <a:pt x="473" y="2392"/>
                  </a:cubicBezTo>
                  <a:lnTo>
                    <a:pt x="473" y="2392"/>
                  </a:lnTo>
                  <a:lnTo>
                    <a:pt x="473" y="2392"/>
                  </a:lnTo>
                  <a:cubicBezTo>
                    <a:pt x="475" y="2391"/>
                    <a:pt x="476" y="2391"/>
                    <a:pt x="478" y="2391"/>
                  </a:cubicBezTo>
                  <a:close/>
                  <a:moveTo>
                    <a:pt x="5131" y="2411"/>
                  </a:moveTo>
                  <a:lnTo>
                    <a:pt x="5131" y="2411"/>
                  </a:lnTo>
                  <a:lnTo>
                    <a:pt x="5131" y="2411"/>
                  </a:lnTo>
                  <a:cubicBezTo>
                    <a:pt x="5133" y="2411"/>
                    <a:pt x="5134" y="2410"/>
                    <a:pt x="5136" y="2412"/>
                  </a:cubicBezTo>
                  <a:cubicBezTo>
                    <a:pt x="5137" y="2413"/>
                    <a:pt x="5138" y="2414"/>
                    <a:pt x="5139" y="2416"/>
                  </a:cubicBezTo>
                  <a:cubicBezTo>
                    <a:pt x="5140" y="2417"/>
                    <a:pt x="5141" y="2419"/>
                    <a:pt x="5141" y="2421"/>
                  </a:cubicBezTo>
                  <a:cubicBezTo>
                    <a:pt x="5141" y="2422"/>
                    <a:pt x="5140" y="2423"/>
                    <a:pt x="5139" y="2425"/>
                  </a:cubicBezTo>
                  <a:cubicBezTo>
                    <a:pt x="5138" y="2426"/>
                    <a:pt x="5137" y="2428"/>
                    <a:pt x="5136" y="2429"/>
                  </a:cubicBezTo>
                  <a:lnTo>
                    <a:pt x="5136" y="2429"/>
                  </a:lnTo>
                  <a:cubicBezTo>
                    <a:pt x="5126" y="2435"/>
                    <a:pt x="5116" y="2441"/>
                    <a:pt x="5105" y="2447"/>
                  </a:cubicBezTo>
                  <a:cubicBezTo>
                    <a:pt x="5082" y="2461"/>
                    <a:pt x="5059" y="2473"/>
                    <a:pt x="5034" y="2484"/>
                  </a:cubicBezTo>
                  <a:lnTo>
                    <a:pt x="5034" y="2484"/>
                  </a:lnTo>
                  <a:cubicBezTo>
                    <a:pt x="5033" y="2484"/>
                    <a:pt x="5032" y="2485"/>
                    <a:pt x="5030" y="2485"/>
                  </a:cubicBezTo>
                  <a:cubicBezTo>
                    <a:pt x="5029" y="2485"/>
                    <a:pt x="5027" y="2484"/>
                    <a:pt x="5026" y="2483"/>
                  </a:cubicBezTo>
                  <a:cubicBezTo>
                    <a:pt x="5024" y="2481"/>
                    <a:pt x="5023" y="2481"/>
                    <a:pt x="5022" y="2480"/>
                  </a:cubicBezTo>
                  <a:cubicBezTo>
                    <a:pt x="5021" y="2478"/>
                    <a:pt x="5021" y="2477"/>
                    <a:pt x="5021" y="2475"/>
                  </a:cubicBezTo>
                  <a:cubicBezTo>
                    <a:pt x="5021" y="2473"/>
                    <a:pt x="5021" y="2471"/>
                    <a:pt x="5022" y="2470"/>
                  </a:cubicBezTo>
                  <a:cubicBezTo>
                    <a:pt x="5023" y="2468"/>
                    <a:pt x="5024" y="2468"/>
                    <a:pt x="5026" y="2467"/>
                  </a:cubicBezTo>
                  <a:cubicBezTo>
                    <a:pt x="5026" y="2467"/>
                    <a:pt x="5026" y="2466"/>
                    <a:pt x="5027" y="2466"/>
                  </a:cubicBezTo>
                  <a:lnTo>
                    <a:pt x="5027" y="2466"/>
                  </a:lnTo>
                  <a:cubicBezTo>
                    <a:pt x="5050" y="2456"/>
                    <a:pt x="5073" y="2444"/>
                    <a:pt x="5096" y="2431"/>
                  </a:cubicBezTo>
                  <a:cubicBezTo>
                    <a:pt x="5106" y="2425"/>
                    <a:pt x="5116" y="2419"/>
                    <a:pt x="5126" y="2412"/>
                  </a:cubicBezTo>
                  <a:lnTo>
                    <a:pt x="5126" y="2412"/>
                  </a:lnTo>
                  <a:lnTo>
                    <a:pt x="5126" y="2412"/>
                  </a:lnTo>
                  <a:cubicBezTo>
                    <a:pt x="5128" y="2411"/>
                    <a:pt x="5129" y="2411"/>
                    <a:pt x="5131" y="2411"/>
                  </a:cubicBezTo>
                  <a:close/>
                  <a:moveTo>
                    <a:pt x="4363" y="2460"/>
                  </a:moveTo>
                  <a:lnTo>
                    <a:pt x="4363" y="2460"/>
                  </a:lnTo>
                  <a:lnTo>
                    <a:pt x="4363" y="2460"/>
                  </a:lnTo>
                  <a:cubicBezTo>
                    <a:pt x="4364" y="2460"/>
                    <a:pt x="4365" y="2460"/>
                    <a:pt x="4366" y="2460"/>
                  </a:cubicBezTo>
                  <a:lnTo>
                    <a:pt x="4366" y="2460"/>
                  </a:lnTo>
                  <a:cubicBezTo>
                    <a:pt x="4401" y="2475"/>
                    <a:pt x="4437" y="2488"/>
                    <a:pt x="4473" y="2498"/>
                  </a:cubicBezTo>
                  <a:lnTo>
                    <a:pt x="4473" y="2498"/>
                  </a:lnTo>
                  <a:cubicBezTo>
                    <a:pt x="4474" y="2498"/>
                    <a:pt x="4474" y="2498"/>
                    <a:pt x="4475" y="2499"/>
                  </a:cubicBezTo>
                  <a:cubicBezTo>
                    <a:pt x="4476" y="2499"/>
                    <a:pt x="4477" y="2500"/>
                    <a:pt x="4478" y="2502"/>
                  </a:cubicBezTo>
                  <a:cubicBezTo>
                    <a:pt x="4479" y="2503"/>
                    <a:pt x="4480" y="2505"/>
                    <a:pt x="4480" y="2507"/>
                  </a:cubicBezTo>
                  <a:cubicBezTo>
                    <a:pt x="4480" y="2509"/>
                    <a:pt x="4479" y="2510"/>
                    <a:pt x="4478" y="2512"/>
                  </a:cubicBezTo>
                  <a:cubicBezTo>
                    <a:pt x="4477" y="2513"/>
                    <a:pt x="4476" y="2513"/>
                    <a:pt x="4475" y="2515"/>
                  </a:cubicBezTo>
                  <a:cubicBezTo>
                    <a:pt x="4473" y="2516"/>
                    <a:pt x="4472" y="2517"/>
                    <a:pt x="4470" y="2517"/>
                  </a:cubicBezTo>
                  <a:cubicBezTo>
                    <a:pt x="4469" y="2517"/>
                    <a:pt x="4469" y="2516"/>
                    <a:pt x="4468" y="2516"/>
                  </a:cubicBezTo>
                  <a:lnTo>
                    <a:pt x="4468" y="2516"/>
                  </a:lnTo>
                  <a:cubicBezTo>
                    <a:pt x="4431" y="2506"/>
                    <a:pt x="4394" y="2493"/>
                    <a:pt x="4359" y="2478"/>
                  </a:cubicBezTo>
                  <a:lnTo>
                    <a:pt x="4359" y="2478"/>
                  </a:lnTo>
                  <a:cubicBezTo>
                    <a:pt x="4358" y="2478"/>
                    <a:pt x="4359" y="2477"/>
                    <a:pt x="4358" y="2477"/>
                  </a:cubicBezTo>
                  <a:cubicBezTo>
                    <a:pt x="4356" y="2476"/>
                    <a:pt x="4355" y="2475"/>
                    <a:pt x="4354" y="2474"/>
                  </a:cubicBezTo>
                  <a:cubicBezTo>
                    <a:pt x="4353" y="2473"/>
                    <a:pt x="4353" y="2470"/>
                    <a:pt x="4353" y="2469"/>
                  </a:cubicBezTo>
                  <a:cubicBezTo>
                    <a:pt x="4353" y="2467"/>
                    <a:pt x="4353" y="2465"/>
                    <a:pt x="4354" y="2464"/>
                  </a:cubicBezTo>
                  <a:cubicBezTo>
                    <a:pt x="4355" y="2462"/>
                    <a:pt x="4356" y="2462"/>
                    <a:pt x="4358" y="2461"/>
                  </a:cubicBezTo>
                  <a:cubicBezTo>
                    <a:pt x="4359" y="2459"/>
                    <a:pt x="4361" y="2460"/>
                    <a:pt x="4362" y="2460"/>
                  </a:cubicBezTo>
                  <a:lnTo>
                    <a:pt x="4363" y="2460"/>
                  </a:lnTo>
                  <a:close/>
                  <a:moveTo>
                    <a:pt x="269" y="2482"/>
                  </a:moveTo>
                  <a:lnTo>
                    <a:pt x="269" y="2482"/>
                  </a:lnTo>
                  <a:lnTo>
                    <a:pt x="269" y="2482"/>
                  </a:lnTo>
                  <a:cubicBezTo>
                    <a:pt x="271" y="2482"/>
                    <a:pt x="272" y="2481"/>
                    <a:pt x="274" y="2483"/>
                  </a:cubicBezTo>
                  <a:cubicBezTo>
                    <a:pt x="276" y="2484"/>
                    <a:pt x="277" y="2484"/>
                    <a:pt x="278" y="2486"/>
                  </a:cubicBezTo>
                  <a:cubicBezTo>
                    <a:pt x="279" y="2487"/>
                    <a:pt x="279" y="2489"/>
                    <a:pt x="279" y="2491"/>
                  </a:cubicBezTo>
                  <a:cubicBezTo>
                    <a:pt x="279" y="2492"/>
                    <a:pt x="279" y="2495"/>
                    <a:pt x="278" y="2496"/>
                  </a:cubicBezTo>
                  <a:cubicBezTo>
                    <a:pt x="277" y="2497"/>
                    <a:pt x="276" y="2498"/>
                    <a:pt x="274" y="2499"/>
                  </a:cubicBezTo>
                  <a:cubicBezTo>
                    <a:pt x="273" y="2499"/>
                    <a:pt x="272" y="2500"/>
                    <a:pt x="271" y="2501"/>
                  </a:cubicBezTo>
                  <a:lnTo>
                    <a:pt x="271" y="2501"/>
                  </a:lnTo>
                  <a:cubicBezTo>
                    <a:pt x="234" y="2511"/>
                    <a:pt x="196" y="2520"/>
                    <a:pt x="158" y="2525"/>
                  </a:cubicBezTo>
                  <a:lnTo>
                    <a:pt x="158" y="2525"/>
                  </a:lnTo>
                  <a:lnTo>
                    <a:pt x="157" y="2525"/>
                  </a:lnTo>
                  <a:cubicBezTo>
                    <a:pt x="155" y="2525"/>
                    <a:pt x="154" y="2525"/>
                    <a:pt x="152" y="2524"/>
                  </a:cubicBezTo>
                  <a:cubicBezTo>
                    <a:pt x="150" y="2522"/>
                    <a:pt x="150" y="2522"/>
                    <a:pt x="149" y="2521"/>
                  </a:cubicBezTo>
                  <a:cubicBezTo>
                    <a:pt x="148" y="2520"/>
                    <a:pt x="148" y="2518"/>
                    <a:pt x="148" y="2517"/>
                  </a:cubicBezTo>
                  <a:lnTo>
                    <a:pt x="148" y="2517"/>
                  </a:lnTo>
                  <a:cubicBezTo>
                    <a:pt x="147" y="2517"/>
                    <a:pt x="147" y="2516"/>
                    <a:pt x="147" y="2516"/>
                  </a:cubicBezTo>
                  <a:cubicBezTo>
                    <a:pt x="147" y="2514"/>
                    <a:pt x="148" y="2512"/>
                    <a:pt x="149" y="2511"/>
                  </a:cubicBezTo>
                  <a:cubicBezTo>
                    <a:pt x="150" y="2509"/>
                    <a:pt x="151" y="2508"/>
                    <a:pt x="152" y="2508"/>
                  </a:cubicBezTo>
                  <a:cubicBezTo>
                    <a:pt x="153" y="2507"/>
                    <a:pt x="154" y="2507"/>
                    <a:pt x="156" y="2506"/>
                  </a:cubicBezTo>
                  <a:lnTo>
                    <a:pt x="156" y="2506"/>
                  </a:lnTo>
                  <a:cubicBezTo>
                    <a:pt x="193" y="2501"/>
                    <a:pt x="230" y="2493"/>
                    <a:pt x="266" y="2482"/>
                  </a:cubicBezTo>
                  <a:lnTo>
                    <a:pt x="266" y="2482"/>
                  </a:lnTo>
                  <a:cubicBezTo>
                    <a:pt x="267" y="2482"/>
                    <a:pt x="268" y="2482"/>
                    <a:pt x="268" y="2482"/>
                  </a:cubicBezTo>
                  <a:lnTo>
                    <a:pt x="269" y="2482"/>
                  </a:lnTo>
                  <a:close/>
                  <a:moveTo>
                    <a:pt x="4923" y="2504"/>
                  </a:moveTo>
                  <a:lnTo>
                    <a:pt x="4923" y="2504"/>
                  </a:lnTo>
                  <a:lnTo>
                    <a:pt x="4923" y="2504"/>
                  </a:lnTo>
                  <a:cubicBezTo>
                    <a:pt x="4925" y="2504"/>
                    <a:pt x="4926" y="2504"/>
                    <a:pt x="4928" y="2505"/>
                  </a:cubicBezTo>
                  <a:cubicBezTo>
                    <a:pt x="4929" y="2505"/>
                    <a:pt x="4931" y="2507"/>
                    <a:pt x="4932" y="2509"/>
                  </a:cubicBezTo>
                  <a:cubicBezTo>
                    <a:pt x="4933" y="2510"/>
                    <a:pt x="4933" y="2512"/>
                    <a:pt x="4933" y="2514"/>
                  </a:cubicBezTo>
                  <a:cubicBezTo>
                    <a:pt x="4933" y="2515"/>
                    <a:pt x="4933" y="2517"/>
                    <a:pt x="4932" y="2519"/>
                  </a:cubicBezTo>
                  <a:cubicBezTo>
                    <a:pt x="4931" y="2520"/>
                    <a:pt x="4930" y="2520"/>
                    <a:pt x="4928" y="2522"/>
                  </a:cubicBezTo>
                  <a:cubicBezTo>
                    <a:pt x="4927" y="2522"/>
                    <a:pt x="4927" y="2523"/>
                    <a:pt x="4926" y="2523"/>
                  </a:cubicBezTo>
                  <a:lnTo>
                    <a:pt x="4926" y="2523"/>
                  </a:lnTo>
                  <a:cubicBezTo>
                    <a:pt x="4888" y="2533"/>
                    <a:pt x="4850" y="2541"/>
                    <a:pt x="4812" y="2545"/>
                  </a:cubicBezTo>
                  <a:lnTo>
                    <a:pt x="4812" y="2545"/>
                  </a:lnTo>
                  <a:cubicBezTo>
                    <a:pt x="4811" y="2545"/>
                    <a:pt x="4811" y="2545"/>
                    <a:pt x="4810" y="2545"/>
                  </a:cubicBezTo>
                  <a:cubicBezTo>
                    <a:pt x="4808" y="2545"/>
                    <a:pt x="4806" y="2545"/>
                    <a:pt x="4805" y="2544"/>
                  </a:cubicBezTo>
                  <a:cubicBezTo>
                    <a:pt x="4803" y="2542"/>
                    <a:pt x="4803" y="2541"/>
                    <a:pt x="4802" y="2540"/>
                  </a:cubicBezTo>
                  <a:cubicBezTo>
                    <a:pt x="4801" y="2538"/>
                    <a:pt x="4800" y="2537"/>
                    <a:pt x="4800" y="2536"/>
                  </a:cubicBezTo>
                  <a:cubicBezTo>
                    <a:pt x="4800" y="2534"/>
                    <a:pt x="4801" y="2532"/>
                    <a:pt x="4802" y="2531"/>
                  </a:cubicBezTo>
                  <a:cubicBezTo>
                    <a:pt x="4803" y="2529"/>
                    <a:pt x="4803" y="2527"/>
                    <a:pt x="4805" y="2527"/>
                  </a:cubicBezTo>
                  <a:cubicBezTo>
                    <a:pt x="4807" y="2526"/>
                    <a:pt x="4808" y="2526"/>
                    <a:pt x="4810" y="2526"/>
                  </a:cubicBezTo>
                  <a:lnTo>
                    <a:pt x="4810" y="2526"/>
                  </a:lnTo>
                  <a:cubicBezTo>
                    <a:pt x="4847" y="2522"/>
                    <a:pt x="4884" y="2515"/>
                    <a:pt x="4920" y="2505"/>
                  </a:cubicBezTo>
                  <a:lnTo>
                    <a:pt x="4920" y="2505"/>
                  </a:lnTo>
                  <a:cubicBezTo>
                    <a:pt x="4921" y="2504"/>
                    <a:pt x="4922" y="2504"/>
                    <a:pt x="4923" y="2504"/>
                  </a:cubicBezTo>
                  <a:close/>
                  <a:moveTo>
                    <a:pt x="43" y="2517"/>
                  </a:moveTo>
                  <a:lnTo>
                    <a:pt x="43" y="2517"/>
                  </a:lnTo>
                  <a:lnTo>
                    <a:pt x="43" y="2517"/>
                  </a:lnTo>
                  <a:cubicBezTo>
                    <a:pt x="45" y="2517"/>
                    <a:pt x="46" y="2516"/>
                    <a:pt x="48" y="2518"/>
                  </a:cubicBezTo>
                  <a:cubicBezTo>
                    <a:pt x="50" y="2519"/>
                    <a:pt x="50" y="2519"/>
                    <a:pt x="51" y="2521"/>
                  </a:cubicBezTo>
                  <a:cubicBezTo>
                    <a:pt x="52" y="2522"/>
                    <a:pt x="52" y="2524"/>
                    <a:pt x="52" y="2526"/>
                  </a:cubicBezTo>
                  <a:cubicBezTo>
                    <a:pt x="52" y="2527"/>
                    <a:pt x="52" y="2529"/>
                    <a:pt x="51" y="2531"/>
                  </a:cubicBezTo>
                  <a:cubicBezTo>
                    <a:pt x="50" y="2532"/>
                    <a:pt x="49" y="2534"/>
                    <a:pt x="48" y="2535"/>
                  </a:cubicBezTo>
                  <a:cubicBezTo>
                    <a:pt x="46" y="2535"/>
                    <a:pt x="45" y="2536"/>
                    <a:pt x="43" y="2536"/>
                  </a:cubicBezTo>
                  <a:cubicBezTo>
                    <a:pt x="32" y="2536"/>
                    <a:pt x="20" y="2536"/>
                    <a:pt x="9" y="2536"/>
                  </a:cubicBezTo>
                  <a:lnTo>
                    <a:pt x="9" y="2536"/>
                  </a:lnTo>
                  <a:cubicBezTo>
                    <a:pt x="7" y="2536"/>
                    <a:pt x="6" y="2536"/>
                    <a:pt x="4" y="2535"/>
                  </a:cubicBezTo>
                  <a:cubicBezTo>
                    <a:pt x="3" y="2534"/>
                    <a:pt x="2" y="2533"/>
                    <a:pt x="1" y="2532"/>
                  </a:cubicBezTo>
                  <a:cubicBezTo>
                    <a:pt x="0" y="2530"/>
                    <a:pt x="0" y="2529"/>
                    <a:pt x="0" y="2527"/>
                  </a:cubicBezTo>
                  <a:cubicBezTo>
                    <a:pt x="0" y="2525"/>
                    <a:pt x="0" y="2523"/>
                    <a:pt x="1" y="2522"/>
                  </a:cubicBezTo>
                  <a:cubicBezTo>
                    <a:pt x="2" y="2521"/>
                    <a:pt x="3" y="2519"/>
                    <a:pt x="4" y="2519"/>
                  </a:cubicBezTo>
                  <a:cubicBezTo>
                    <a:pt x="6" y="2518"/>
                    <a:pt x="7" y="2517"/>
                    <a:pt x="9" y="2517"/>
                  </a:cubicBezTo>
                  <a:cubicBezTo>
                    <a:pt x="20" y="2517"/>
                    <a:pt x="31" y="2517"/>
                    <a:pt x="42" y="2517"/>
                  </a:cubicBezTo>
                  <a:cubicBezTo>
                    <a:pt x="53" y="2516"/>
                    <a:pt x="43" y="2517"/>
                    <a:pt x="43" y="2517"/>
                  </a:cubicBezTo>
                  <a:close/>
                  <a:moveTo>
                    <a:pt x="4582" y="2521"/>
                  </a:moveTo>
                  <a:lnTo>
                    <a:pt x="4582" y="2521"/>
                  </a:lnTo>
                  <a:cubicBezTo>
                    <a:pt x="4583" y="2521"/>
                    <a:pt x="4583" y="2521"/>
                    <a:pt x="4583" y="2521"/>
                  </a:cubicBezTo>
                  <a:lnTo>
                    <a:pt x="4584" y="2521"/>
                  </a:lnTo>
                  <a:lnTo>
                    <a:pt x="4584" y="2521"/>
                  </a:lnTo>
                  <a:cubicBezTo>
                    <a:pt x="4621" y="2526"/>
                    <a:pt x="4659" y="2530"/>
                    <a:pt x="4697" y="2530"/>
                  </a:cubicBezTo>
                  <a:lnTo>
                    <a:pt x="4697" y="2530"/>
                  </a:lnTo>
                  <a:cubicBezTo>
                    <a:pt x="4698" y="2530"/>
                    <a:pt x="4700" y="2531"/>
                    <a:pt x="4701" y="2532"/>
                  </a:cubicBezTo>
                  <a:cubicBezTo>
                    <a:pt x="4703" y="2533"/>
                    <a:pt x="4704" y="2533"/>
                    <a:pt x="4705" y="2535"/>
                  </a:cubicBezTo>
                  <a:cubicBezTo>
                    <a:pt x="4706" y="2536"/>
                    <a:pt x="4706" y="2538"/>
                    <a:pt x="4706" y="2540"/>
                  </a:cubicBezTo>
                  <a:lnTo>
                    <a:pt x="4706" y="2540"/>
                  </a:lnTo>
                  <a:lnTo>
                    <a:pt x="4706" y="2540"/>
                  </a:lnTo>
                  <a:cubicBezTo>
                    <a:pt x="4706" y="2542"/>
                    <a:pt x="4705" y="2543"/>
                    <a:pt x="4705" y="2545"/>
                  </a:cubicBezTo>
                  <a:cubicBezTo>
                    <a:pt x="4704" y="2546"/>
                    <a:pt x="4702" y="2546"/>
                    <a:pt x="4701" y="2548"/>
                  </a:cubicBezTo>
                  <a:cubicBezTo>
                    <a:pt x="4699" y="2549"/>
                    <a:pt x="4698" y="2550"/>
                    <a:pt x="4696" y="2550"/>
                  </a:cubicBezTo>
                  <a:lnTo>
                    <a:pt x="4696" y="2550"/>
                  </a:lnTo>
                  <a:lnTo>
                    <a:pt x="4696" y="2550"/>
                  </a:lnTo>
                  <a:cubicBezTo>
                    <a:pt x="4658" y="2549"/>
                    <a:pt x="4619" y="2545"/>
                    <a:pt x="4581" y="2540"/>
                  </a:cubicBezTo>
                  <a:lnTo>
                    <a:pt x="4581" y="2540"/>
                  </a:lnTo>
                  <a:cubicBezTo>
                    <a:pt x="4580" y="2540"/>
                    <a:pt x="4579" y="2539"/>
                    <a:pt x="4578" y="2539"/>
                  </a:cubicBezTo>
                  <a:cubicBezTo>
                    <a:pt x="4576" y="2538"/>
                    <a:pt x="4575" y="2536"/>
                    <a:pt x="4574" y="2535"/>
                  </a:cubicBezTo>
                  <a:cubicBezTo>
                    <a:pt x="4573" y="2533"/>
                    <a:pt x="4573" y="2532"/>
                    <a:pt x="4573" y="2531"/>
                  </a:cubicBezTo>
                  <a:cubicBezTo>
                    <a:pt x="4573" y="2529"/>
                    <a:pt x="4573" y="2527"/>
                    <a:pt x="4574" y="2526"/>
                  </a:cubicBezTo>
                  <a:cubicBezTo>
                    <a:pt x="4575" y="2524"/>
                    <a:pt x="4576" y="2523"/>
                    <a:pt x="4578" y="2522"/>
                  </a:cubicBezTo>
                  <a:cubicBezTo>
                    <a:pt x="4579" y="2520"/>
                    <a:pt x="4581" y="2521"/>
                    <a:pt x="4582" y="252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" name="Google Shape;76;p15">
            <a:extLst>
              <a:ext uri="{FF2B5EF4-FFF2-40B4-BE49-F238E27FC236}">
                <a16:creationId xmlns:a16="http://schemas.microsoft.com/office/drawing/2014/main" id="{062639EB-37AA-4CC0-3EE8-CD98F8F654C0}"/>
              </a:ext>
            </a:extLst>
          </p:cNvPr>
          <p:cNvCxnSpPr>
            <a:cxnSpLocks/>
          </p:cNvCxnSpPr>
          <p:nvPr/>
        </p:nvCxnSpPr>
        <p:spPr>
          <a:xfrm flipV="1">
            <a:off x="3979179" y="1940560"/>
            <a:ext cx="0" cy="418734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" name="Google Shape;76;p15">
            <a:extLst>
              <a:ext uri="{FF2B5EF4-FFF2-40B4-BE49-F238E27FC236}">
                <a16:creationId xmlns:a16="http://schemas.microsoft.com/office/drawing/2014/main" id="{A547E249-8D06-6359-A729-F2F9F7B5CC4A}"/>
              </a:ext>
            </a:extLst>
          </p:cNvPr>
          <p:cNvCxnSpPr>
            <a:cxnSpLocks/>
          </p:cNvCxnSpPr>
          <p:nvPr/>
        </p:nvCxnSpPr>
        <p:spPr>
          <a:xfrm flipH="1" flipV="1">
            <a:off x="1895504" y="2292149"/>
            <a:ext cx="5021" cy="1313904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5" name="Google Shape;76;p15">
            <a:extLst>
              <a:ext uri="{FF2B5EF4-FFF2-40B4-BE49-F238E27FC236}">
                <a16:creationId xmlns:a16="http://schemas.microsoft.com/office/drawing/2014/main" id="{4EE5197C-4D6C-B5E2-1C00-1AED1AB9E790}"/>
              </a:ext>
            </a:extLst>
          </p:cNvPr>
          <p:cNvCxnSpPr>
            <a:cxnSpLocks/>
          </p:cNvCxnSpPr>
          <p:nvPr/>
        </p:nvCxnSpPr>
        <p:spPr>
          <a:xfrm flipH="1" flipV="1">
            <a:off x="4504741" y="2359294"/>
            <a:ext cx="5021" cy="1565751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6" name="Google Shape;76;p15">
            <a:extLst>
              <a:ext uri="{FF2B5EF4-FFF2-40B4-BE49-F238E27FC236}">
                <a16:creationId xmlns:a16="http://schemas.microsoft.com/office/drawing/2014/main" id="{0E46471D-ABBF-72CB-03B4-84736C783EE6}"/>
              </a:ext>
            </a:extLst>
          </p:cNvPr>
          <p:cNvCxnSpPr>
            <a:cxnSpLocks/>
          </p:cNvCxnSpPr>
          <p:nvPr/>
        </p:nvCxnSpPr>
        <p:spPr>
          <a:xfrm flipV="1">
            <a:off x="5211166" y="2282464"/>
            <a:ext cx="12495" cy="924191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7" name="Google Shape;76;p15">
            <a:extLst>
              <a:ext uri="{FF2B5EF4-FFF2-40B4-BE49-F238E27FC236}">
                <a16:creationId xmlns:a16="http://schemas.microsoft.com/office/drawing/2014/main" id="{FAC7E66B-FC0B-C539-7A35-BA47717B8791}"/>
              </a:ext>
            </a:extLst>
          </p:cNvPr>
          <p:cNvCxnSpPr>
            <a:cxnSpLocks/>
          </p:cNvCxnSpPr>
          <p:nvPr/>
        </p:nvCxnSpPr>
        <p:spPr>
          <a:xfrm flipH="1" flipV="1">
            <a:off x="7090622" y="1649262"/>
            <a:ext cx="34079" cy="1691675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39" name="Picture 38" descr="A white circle with blue lines on it&#10;&#10;AI-generated content may be incorrect.">
            <a:extLst>
              <a:ext uri="{FF2B5EF4-FFF2-40B4-BE49-F238E27FC236}">
                <a16:creationId xmlns:a16="http://schemas.microsoft.com/office/drawing/2014/main" id="{473FA236-68CC-1C87-4C1A-91D8C7776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66" y="467138"/>
            <a:ext cx="1037698" cy="104738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40" name="Google Shape;76;p15">
            <a:extLst>
              <a:ext uri="{FF2B5EF4-FFF2-40B4-BE49-F238E27FC236}">
                <a16:creationId xmlns:a16="http://schemas.microsoft.com/office/drawing/2014/main" id="{53CAE23B-821C-8F78-1303-A8D76C1E4DD8}"/>
              </a:ext>
            </a:extLst>
          </p:cNvPr>
          <p:cNvCxnSpPr>
            <a:cxnSpLocks/>
          </p:cNvCxnSpPr>
          <p:nvPr/>
        </p:nvCxnSpPr>
        <p:spPr>
          <a:xfrm flipH="1" flipV="1">
            <a:off x="2468102" y="3702164"/>
            <a:ext cx="2827" cy="504448"/>
          </a:xfrm>
          <a:prstGeom prst="straightConnector1">
            <a:avLst/>
          </a:prstGeom>
          <a:noFill/>
          <a:ln w="28575" cap="flat" cmpd="sng">
            <a:solidFill>
              <a:srgbClr val="002060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44" name="Picture 43" descr="A blue and grey cartoon robot with a speech bubble&#10;&#10;AI-generated content may be incorrect.">
            <a:extLst>
              <a:ext uri="{FF2B5EF4-FFF2-40B4-BE49-F238E27FC236}">
                <a16:creationId xmlns:a16="http://schemas.microsoft.com/office/drawing/2014/main" id="{7A79FB82-9924-410E-A6AE-B611D163A3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14" b="2714"/>
          <a:stretch>
            <a:fillRect/>
          </a:stretch>
        </p:blipFill>
        <p:spPr>
          <a:xfrm>
            <a:off x="4127012" y="4072962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6" name="Picture 45" descr="A computer chip and gear&#10;&#10;AI-generated content may be incorrect.">
            <a:extLst>
              <a:ext uri="{FF2B5EF4-FFF2-40B4-BE49-F238E27FC236}">
                <a16:creationId xmlns:a16="http://schemas.microsoft.com/office/drawing/2014/main" id="{43D541A6-482E-12E1-5247-2D0BB2466F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63" b="2563"/>
          <a:stretch>
            <a:fillRect/>
          </a:stretch>
        </p:blipFill>
        <p:spPr>
          <a:xfrm>
            <a:off x="2134809" y="4271232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8" name="Picture 47" descr="A white circle with a blue and white logo&#10;&#10;AI-generated content may be incorrect.">
            <a:extLst>
              <a:ext uri="{FF2B5EF4-FFF2-40B4-BE49-F238E27FC236}">
                <a16:creationId xmlns:a16="http://schemas.microsoft.com/office/drawing/2014/main" id="{D8BADD58-CA0E-A2AB-D1BC-0ADB3A599D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596415" y="1153130"/>
            <a:ext cx="785848" cy="71804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0" name="Picture 49" descr="A blue and white logo&#10;&#10;AI-generated content may be incorrect.">
            <a:extLst>
              <a:ext uri="{FF2B5EF4-FFF2-40B4-BE49-F238E27FC236}">
                <a16:creationId xmlns:a16="http://schemas.microsoft.com/office/drawing/2014/main" id="{152058B9-0BC1-7583-B2C3-A588683F7B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670" y="3325138"/>
            <a:ext cx="757517" cy="7376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86" name="Google Shape;462;p30">
            <a:extLst>
              <a:ext uri="{FF2B5EF4-FFF2-40B4-BE49-F238E27FC236}">
                <a16:creationId xmlns:a16="http://schemas.microsoft.com/office/drawing/2014/main" id="{2CC7D236-B022-9326-D01F-5A923536D731}"/>
              </a:ext>
            </a:extLst>
          </p:cNvPr>
          <p:cNvGrpSpPr/>
          <p:nvPr/>
        </p:nvGrpSpPr>
        <p:grpSpPr>
          <a:xfrm>
            <a:off x="7425445" y="4302318"/>
            <a:ext cx="1309796" cy="257750"/>
            <a:chOff x="-6337521" y="4362225"/>
            <a:chExt cx="1309796" cy="257750"/>
          </a:xfrm>
        </p:grpSpPr>
        <p:sp>
          <p:nvSpPr>
            <p:cNvPr id="76" name="Google Shape;463;p30">
              <a:extLst>
                <a:ext uri="{FF2B5EF4-FFF2-40B4-BE49-F238E27FC236}">
                  <a16:creationId xmlns:a16="http://schemas.microsoft.com/office/drawing/2014/main" id="{1C1ABA67-E0C3-2C91-7E38-D0C40DADE954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464;p30">
              <a:extLst>
                <a:ext uri="{FF2B5EF4-FFF2-40B4-BE49-F238E27FC236}">
                  <a16:creationId xmlns:a16="http://schemas.microsoft.com/office/drawing/2014/main" id="{A7ED1EE6-5B25-F34A-3537-D5C9CA8A1A98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465;p30">
              <a:extLst>
                <a:ext uri="{FF2B5EF4-FFF2-40B4-BE49-F238E27FC236}">
                  <a16:creationId xmlns:a16="http://schemas.microsoft.com/office/drawing/2014/main" id="{A85E0DDE-61AB-3426-C942-85D3BB99F09F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66;p30">
              <a:extLst>
                <a:ext uri="{FF2B5EF4-FFF2-40B4-BE49-F238E27FC236}">
                  <a16:creationId xmlns:a16="http://schemas.microsoft.com/office/drawing/2014/main" id="{ACB5B44B-B418-9303-DD0D-788247755C0D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67;p30">
              <a:extLst>
                <a:ext uri="{FF2B5EF4-FFF2-40B4-BE49-F238E27FC236}">
                  <a16:creationId xmlns:a16="http://schemas.microsoft.com/office/drawing/2014/main" id="{CD3B2494-9F01-2FB3-5265-69AF2018F0A1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68;p30">
              <a:extLst>
                <a:ext uri="{FF2B5EF4-FFF2-40B4-BE49-F238E27FC236}">
                  <a16:creationId xmlns:a16="http://schemas.microsoft.com/office/drawing/2014/main" id="{F8DB6FB8-2A7E-A489-0E15-92F35C09B524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69;p30">
              <a:extLst>
                <a:ext uri="{FF2B5EF4-FFF2-40B4-BE49-F238E27FC236}">
                  <a16:creationId xmlns:a16="http://schemas.microsoft.com/office/drawing/2014/main" id="{0AEBFAE9-01C9-A133-8F49-097EF519A804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70;p30">
              <a:extLst>
                <a:ext uri="{FF2B5EF4-FFF2-40B4-BE49-F238E27FC236}">
                  <a16:creationId xmlns:a16="http://schemas.microsoft.com/office/drawing/2014/main" id="{D4D347E0-54F9-9689-9E60-D4A9D2F32FFD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71;p30">
              <a:extLst>
                <a:ext uri="{FF2B5EF4-FFF2-40B4-BE49-F238E27FC236}">
                  <a16:creationId xmlns:a16="http://schemas.microsoft.com/office/drawing/2014/main" id="{CFD11E0E-081A-5671-0681-E6CB6C07FA1B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72;p30">
              <a:extLst>
                <a:ext uri="{FF2B5EF4-FFF2-40B4-BE49-F238E27FC236}">
                  <a16:creationId xmlns:a16="http://schemas.microsoft.com/office/drawing/2014/main" id="{AE7E9205-5BE0-2530-F309-73EB4828D750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DB25A3-829D-65D8-B306-BABF7ED081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6794" y="1449076"/>
            <a:ext cx="768304" cy="72517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713A2B-853D-9B99-8344-D9209C57F019}"/>
              </a:ext>
            </a:extLst>
          </p:cNvPr>
          <p:cNvSpPr/>
          <p:nvPr/>
        </p:nvSpPr>
        <p:spPr>
          <a:xfrm>
            <a:off x="3258744" y="254602"/>
            <a:ext cx="3176628" cy="850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61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7B7D56B5-194D-10ED-8E25-B8B1BBB2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D77EF0D-7946-5987-E70B-9D922685F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4017" y="284118"/>
            <a:ext cx="4688031" cy="4688031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17DA2822-BCC9-71E4-59ED-284645EE82EE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E2F4E697-8E4F-BED9-7644-5B185C2E44E6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D0CF0994-B5EE-F816-2A7E-71E6A4FE8D4C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C1236883-482D-1305-3422-2925F0434A1A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4BAE9726-A0A6-94B5-B16B-FC37D39EF8EF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1DE02C17-27A8-C9F3-B548-0E0CA3DF40D2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41B0BA3C-5B9C-EDFF-19ED-127619A1705F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5605EBA1-E3F2-801C-5543-A276058BA8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948" y="13380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7200"/>
              <a:t>Project </a:t>
            </a:r>
            <a:br>
              <a:rPr lang="en" sz="7200"/>
            </a:br>
            <a:r>
              <a:rPr lang="en" sz="7200"/>
              <a:t>Timeline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C76078-C1F2-FEDA-5D9A-73DD19858272}"/>
              </a:ext>
            </a:extLst>
          </p:cNvPr>
          <p:cNvSpPr/>
          <p:nvPr/>
        </p:nvSpPr>
        <p:spPr>
          <a:xfrm>
            <a:off x="1" y="305684"/>
            <a:ext cx="3766922" cy="7771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09 Project Timeline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69E9A5-3016-CFA3-30E3-A8E079B7FC8D}"/>
              </a:ext>
            </a:extLst>
          </p:cNvPr>
          <p:cNvSpPr/>
          <p:nvPr/>
        </p:nvSpPr>
        <p:spPr>
          <a:xfrm>
            <a:off x="628856" y="271450"/>
            <a:ext cx="3224253" cy="8434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40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6ADA434F-0CA3-6828-BC0A-A150399A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7DBDA546-D506-3B23-5E2C-89F63380C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403308"/>
              </p:ext>
            </p:extLst>
          </p:nvPr>
        </p:nvGraphicFramePr>
        <p:xfrm>
          <a:off x="4047344" y="1077418"/>
          <a:ext cx="2634061" cy="3058885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412229">
                  <a:extLst>
                    <a:ext uri="{9D8B030D-6E8A-4147-A177-3AD203B41FA5}">
                      <a16:colId xmlns:a16="http://schemas.microsoft.com/office/drawing/2014/main" val="2747818655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548637856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2333187562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2030527944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4180818464"/>
                    </a:ext>
                  </a:extLst>
                </a:gridCol>
              </a:tblGrid>
              <a:tr h="4263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800" b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3741634617"/>
                  </a:ext>
                </a:extLst>
              </a:tr>
              <a:tr h="4702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5/4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12/4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19/4</a:t>
                      </a:r>
                      <a:endParaRPr lang="en-US" sz="14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26/4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89874"/>
                  </a:ext>
                </a:extLst>
              </a:tr>
              <a:tr h="4702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86766"/>
                  </a:ext>
                </a:extLst>
              </a:tr>
              <a:tr h="12728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68346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0514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8C5DEC2-D62C-970F-50F4-54CBE2BF0ACB}"/>
              </a:ext>
            </a:extLst>
          </p:cNvPr>
          <p:cNvSpPr/>
          <p:nvPr/>
        </p:nvSpPr>
        <p:spPr>
          <a:xfrm>
            <a:off x="3642533" y="230891"/>
            <a:ext cx="3224253" cy="843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4EB83E-5825-F812-A944-317815D377D1}"/>
                  </a:ext>
                </a:extLst>
              </p14:cNvPr>
              <p14:cNvContentPartPr/>
              <p14:nvPr/>
            </p14:nvContentPartPr>
            <p14:xfrm>
              <a:off x="9114642" y="491255"/>
              <a:ext cx="9785" cy="978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4EB83E-5825-F812-A944-317815D37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25392" y="2005"/>
                <a:ext cx="978500" cy="9785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AC5AC5-1F83-AE73-90E8-043B514F7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516881"/>
              </p:ext>
            </p:extLst>
          </p:nvPr>
        </p:nvGraphicFramePr>
        <p:xfrm>
          <a:off x="140532" y="1077418"/>
          <a:ext cx="3646607" cy="3009734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430967">
                  <a:extLst>
                    <a:ext uri="{9D8B030D-6E8A-4147-A177-3AD203B41FA5}">
                      <a16:colId xmlns:a16="http://schemas.microsoft.com/office/drawing/2014/main" val="336181363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548637856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333187562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3052794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4180818464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3935895668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12987182"/>
                    </a:ext>
                  </a:extLst>
                </a:gridCol>
              </a:tblGrid>
              <a:tr h="4263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3741634617"/>
                  </a:ext>
                </a:extLst>
              </a:tr>
              <a:tr h="470270">
                <a:tc row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15/2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22/2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1/3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8/3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15/3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29/3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2589874"/>
                  </a:ext>
                </a:extLst>
              </a:tr>
              <a:tr h="12728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683463"/>
                  </a:ext>
                </a:extLst>
              </a:tr>
              <a:tr h="84021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051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45DCA6E-E876-5B08-C375-C3456A654EE0}"/>
              </a:ext>
            </a:extLst>
          </p:cNvPr>
          <p:cNvSpPr txBox="1"/>
          <p:nvPr/>
        </p:nvSpPr>
        <p:spPr>
          <a:xfrm rot="16200000">
            <a:off x="-310604" y="2454263"/>
            <a:ext cx="130314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egoe UI"/>
              </a:rPr>
              <a:t>Ai Models for Diseases + LLMs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04EC3-06CB-3AC3-A4A0-4F0CFA4F3A76}"/>
              </a:ext>
            </a:extLst>
          </p:cNvPr>
          <p:cNvSpPr txBox="1"/>
          <p:nvPr/>
        </p:nvSpPr>
        <p:spPr>
          <a:xfrm rot="16200000">
            <a:off x="-117294" y="3545879"/>
            <a:ext cx="91652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egoe UI"/>
              </a:rPr>
              <a:t>Embedded Systems</a:t>
            </a:r>
            <a:endParaRPr lang="en-US" b="1">
              <a:solidFill>
                <a:schemeClr val="tx1"/>
              </a:solidFill>
              <a:latin typeface="Segoe UI"/>
            </a:endParaRPr>
          </a:p>
        </p:txBody>
      </p:sp>
      <p:sp>
        <p:nvSpPr>
          <p:cNvPr id="23" name="Google Shape;221;p19">
            <a:extLst>
              <a:ext uri="{FF2B5EF4-FFF2-40B4-BE49-F238E27FC236}">
                <a16:creationId xmlns:a16="http://schemas.microsoft.com/office/drawing/2014/main" id="{DC1EC39D-F984-AD1F-13BA-05B115AF9D31}"/>
              </a:ext>
            </a:extLst>
          </p:cNvPr>
          <p:cNvSpPr/>
          <p:nvPr/>
        </p:nvSpPr>
        <p:spPr>
          <a:xfrm>
            <a:off x="574005" y="2066545"/>
            <a:ext cx="3204833" cy="16509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21;p19">
            <a:extLst>
              <a:ext uri="{FF2B5EF4-FFF2-40B4-BE49-F238E27FC236}">
                <a16:creationId xmlns:a16="http://schemas.microsoft.com/office/drawing/2014/main" id="{48862B49-FA2B-6383-5C12-F92200F5813B}"/>
              </a:ext>
            </a:extLst>
          </p:cNvPr>
          <p:cNvSpPr/>
          <p:nvPr/>
        </p:nvSpPr>
        <p:spPr>
          <a:xfrm>
            <a:off x="574005" y="2382876"/>
            <a:ext cx="3204833" cy="165095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21;p19">
            <a:extLst>
              <a:ext uri="{FF2B5EF4-FFF2-40B4-BE49-F238E27FC236}">
                <a16:creationId xmlns:a16="http://schemas.microsoft.com/office/drawing/2014/main" id="{014FC620-2969-A753-4785-4E8944EA885F}"/>
              </a:ext>
            </a:extLst>
          </p:cNvPr>
          <p:cNvSpPr/>
          <p:nvPr/>
        </p:nvSpPr>
        <p:spPr>
          <a:xfrm>
            <a:off x="574005" y="2986490"/>
            <a:ext cx="3204833" cy="16509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21;p19">
            <a:extLst>
              <a:ext uri="{FF2B5EF4-FFF2-40B4-BE49-F238E27FC236}">
                <a16:creationId xmlns:a16="http://schemas.microsoft.com/office/drawing/2014/main" id="{3B1171B7-1439-4584-5988-4E467BC0C18E}"/>
              </a:ext>
            </a:extLst>
          </p:cNvPr>
          <p:cNvSpPr/>
          <p:nvPr/>
        </p:nvSpPr>
        <p:spPr>
          <a:xfrm>
            <a:off x="574006" y="2690085"/>
            <a:ext cx="3205119" cy="165095"/>
          </a:xfrm>
          <a:prstGeom prst="roundRect">
            <a:avLst>
              <a:gd name="adj" fmla="val 50000"/>
            </a:avLst>
          </a:prstGeom>
          <a:solidFill>
            <a:schemeClr val="bg1">
              <a:lumMod val="1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221;p19">
            <a:extLst>
              <a:ext uri="{FF2B5EF4-FFF2-40B4-BE49-F238E27FC236}">
                <a16:creationId xmlns:a16="http://schemas.microsoft.com/office/drawing/2014/main" id="{36BD2BEB-CA2B-56D3-C4E5-BD8CA19B9FA6}"/>
              </a:ext>
            </a:extLst>
          </p:cNvPr>
          <p:cNvSpPr/>
          <p:nvPr/>
        </p:nvSpPr>
        <p:spPr>
          <a:xfrm>
            <a:off x="583374" y="3445107"/>
            <a:ext cx="3204833" cy="165095"/>
          </a:xfrm>
          <a:prstGeom prst="roundRect">
            <a:avLst>
              <a:gd name="adj" fmla="val 50000"/>
            </a:avLst>
          </a:prstGeom>
          <a:solidFill>
            <a:schemeClr val="bg1">
              <a:lumMod val="1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21;p19">
            <a:extLst>
              <a:ext uri="{FF2B5EF4-FFF2-40B4-BE49-F238E27FC236}">
                <a16:creationId xmlns:a16="http://schemas.microsoft.com/office/drawing/2014/main" id="{CEC8326C-D43C-827D-F2DD-EF84CEC77EA5}"/>
              </a:ext>
            </a:extLst>
          </p:cNvPr>
          <p:cNvSpPr/>
          <p:nvPr/>
        </p:nvSpPr>
        <p:spPr>
          <a:xfrm>
            <a:off x="4463677" y="2116931"/>
            <a:ext cx="2240027" cy="16509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221;p19">
            <a:extLst>
              <a:ext uri="{FF2B5EF4-FFF2-40B4-BE49-F238E27FC236}">
                <a16:creationId xmlns:a16="http://schemas.microsoft.com/office/drawing/2014/main" id="{33AFF9E6-7738-750A-2799-720E78CEE7B1}"/>
              </a:ext>
            </a:extLst>
          </p:cNvPr>
          <p:cNvSpPr/>
          <p:nvPr/>
        </p:nvSpPr>
        <p:spPr>
          <a:xfrm>
            <a:off x="4463078" y="3829979"/>
            <a:ext cx="2244713" cy="165095"/>
          </a:xfrm>
          <a:prstGeom prst="roundRect">
            <a:avLst>
              <a:gd name="adj" fmla="val 50000"/>
            </a:avLst>
          </a:prstGeom>
          <a:solidFill>
            <a:srgbClr val="FF00E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21;p19">
            <a:extLst>
              <a:ext uri="{FF2B5EF4-FFF2-40B4-BE49-F238E27FC236}">
                <a16:creationId xmlns:a16="http://schemas.microsoft.com/office/drawing/2014/main" id="{E8B6674B-A2A3-AAA5-5F63-D16878B652F5}"/>
              </a:ext>
            </a:extLst>
          </p:cNvPr>
          <p:cNvSpPr/>
          <p:nvPr/>
        </p:nvSpPr>
        <p:spPr>
          <a:xfrm>
            <a:off x="583374" y="3726796"/>
            <a:ext cx="3204833" cy="165095"/>
          </a:xfrm>
          <a:prstGeom prst="roundRect">
            <a:avLst>
              <a:gd name="adj" fmla="val 50000"/>
            </a:avLst>
          </a:prstGeom>
          <a:solidFill>
            <a:srgbClr val="FF00E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21;p19">
            <a:extLst>
              <a:ext uri="{FF2B5EF4-FFF2-40B4-BE49-F238E27FC236}">
                <a16:creationId xmlns:a16="http://schemas.microsoft.com/office/drawing/2014/main" id="{B4102EA4-197F-B920-691F-FA27AFEB8029}"/>
              </a:ext>
            </a:extLst>
          </p:cNvPr>
          <p:cNvSpPr/>
          <p:nvPr/>
        </p:nvSpPr>
        <p:spPr>
          <a:xfrm>
            <a:off x="4464987" y="2689943"/>
            <a:ext cx="2237855" cy="16509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21;p19">
            <a:extLst>
              <a:ext uri="{FF2B5EF4-FFF2-40B4-BE49-F238E27FC236}">
                <a16:creationId xmlns:a16="http://schemas.microsoft.com/office/drawing/2014/main" id="{EDCA9F6F-C3BE-4187-C76C-7DBBAC5B32DD}"/>
              </a:ext>
            </a:extLst>
          </p:cNvPr>
          <p:cNvSpPr/>
          <p:nvPr/>
        </p:nvSpPr>
        <p:spPr>
          <a:xfrm>
            <a:off x="4472605" y="2990112"/>
            <a:ext cx="2235569" cy="165095"/>
          </a:xfrm>
          <a:prstGeom prst="roundRect">
            <a:avLst>
              <a:gd name="adj" fmla="val 50000"/>
            </a:avLst>
          </a:prstGeom>
          <a:solidFill>
            <a:schemeClr val="bg1">
              <a:lumMod val="1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21;p19">
            <a:extLst>
              <a:ext uri="{FF2B5EF4-FFF2-40B4-BE49-F238E27FC236}">
                <a16:creationId xmlns:a16="http://schemas.microsoft.com/office/drawing/2014/main" id="{C9184D20-80CC-77F4-EDD2-8C97B446A93D}"/>
              </a:ext>
            </a:extLst>
          </p:cNvPr>
          <p:cNvSpPr/>
          <p:nvPr/>
        </p:nvSpPr>
        <p:spPr>
          <a:xfrm>
            <a:off x="4472130" y="3288173"/>
            <a:ext cx="2235569" cy="165095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C0DE86-7670-BC57-70C6-3EDB95B1EA32}"/>
              </a:ext>
            </a:extLst>
          </p:cNvPr>
          <p:cNvSpPr txBox="1"/>
          <p:nvPr/>
        </p:nvSpPr>
        <p:spPr>
          <a:xfrm rot="16200000">
            <a:off x="4028713" y="2106382"/>
            <a:ext cx="53544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Segoe UI"/>
              </a:rPr>
              <a:t>Feed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1B8ECD-EEC1-D5DA-9F4D-622950A1270F}"/>
              </a:ext>
            </a:extLst>
          </p:cNvPr>
          <p:cNvSpPr txBox="1"/>
          <p:nvPr/>
        </p:nvSpPr>
        <p:spPr>
          <a:xfrm rot="16200000">
            <a:off x="4041004" y="3805569"/>
            <a:ext cx="47669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egoe UI"/>
                <a:cs typeface="Segoe UI"/>
              </a:rPr>
              <a:t>IoT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6E53A7-4CE8-D81A-4397-DBD01B2CA75B}"/>
              </a:ext>
            </a:extLst>
          </p:cNvPr>
          <p:cNvSpPr txBox="1"/>
          <p:nvPr/>
        </p:nvSpPr>
        <p:spPr>
          <a:xfrm rot="16200000">
            <a:off x="3934018" y="2980461"/>
            <a:ext cx="68149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1"/>
                </a:solidFill>
                <a:latin typeface="Segoe UI"/>
                <a:cs typeface="Segoe UI"/>
              </a:rPr>
              <a:t>Chatbot</a:t>
            </a: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608198E-8E4E-4B20-1946-78E6DC8FF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51226"/>
              </p:ext>
            </p:extLst>
          </p:nvPr>
        </p:nvGraphicFramePr>
        <p:xfrm>
          <a:off x="6895475" y="1077418"/>
          <a:ext cx="2106710" cy="3058885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440336">
                  <a:extLst>
                    <a:ext uri="{9D8B030D-6E8A-4147-A177-3AD203B41FA5}">
                      <a16:colId xmlns:a16="http://schemas.microsoft.com/office/drawing/2014/main" val="2747818655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548637856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2333187562"/>
                    </a:ext>
                  </a:extLst>
                </a:gridCol>
                <a:gridCol w="555458">
                  <a:extLst>
                    <a:ext uri="{9D8B030D-6E8A-4147-A177-3AD203B41FA5}">
                      <a16:colId xmlns:a16="http://schemas.microsoft.com/office/drawing/2014/main" val="2030527944"/>
                    </a:ext>
                  </a:extLst>
                </a:gridCol>
              </a:tblGrid>
              <a:tr h="4263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800" b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3741634617"/>
                  </a:ext>
                </a:extLst>
              </a:tr>
              <a:tr h="4702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3/5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7/6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14/6</a:t>
                      </a:r>
                      <a:endParaRPr lang="en-US" sz="14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589874"/>
                  </a:ext>
                </a:extLst>
              </a:tr>
              <a:tr h="216223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4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86766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ADBC2D1C-08D8-A334-8FC4-BA4747765891}"/>
              </a:ext>
            </a:extLst>
          </p:cNvPr>
          <p:cNvSpPr txBox="1"/>
          <p:nvPr/>
        </p:nvSpPr>
        <p:spPr>
          <a:xfrm rot="16200000">
            <a:off x="6245904" y="3013024"/>
            <a:ext cx="190937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tx1"/>
                </a:solidFill>
                <a:latin typeface="Segoe UI"/>
                <a:cs typeface="Segoe UI"/>
              </a:rPr>
              <a:t>Mobile application</a:t>
            </a:r>
          </a:p>
        </p:txBody>
      </p:sp>
      <p:sp>
        <p:nvSpPr>
          <p:cNvPr id="129" name="Google Shape;221;p19">
            <a:extLst>
              <a:ext uri="{FF2B5EF4-FFF2-40B4-BE49-F238E27FC236}">
                <a16:creationId xmlns:a16="http://schemas.microsoft.com/office/drawing/2014/main" id="{5956C925-63A1-B928-6099-4453025CC91B}"/>
              </a:ext>
            </a:extLst>
          </p:cNvPr>
          <p:cNvSpPr/>
          <p:nvPr/>
        </p:nvSpPr>
        <p:spPr>
          <a:xfrm>
            <a:off x="7885058" y="2686850"/>
            <a:ext cx="916207" cy="16509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221;p19">
            <a:extLst>
              <a:ext uri="{FF2B5EF4-FFF2-40B4-BE49-F238E27FC236}">
                <a16:creationId xmlns:a16="http://schemas.microsoft.com/office/drawing/2014/main" id="{DD37C3F4-B429-7D72-095C-74CB277B2D10}"/>
              </a:ext>
            </a:extLst>
          </p:cNvPr>
          <p:cNvSpPr/>
          <p:nvPr/>
        </p:nvSpPr>
        <p:spPr>
          <a:xfrm>
            <a:off x="7331009" y="2367720"/>
            <a:ext cx="911696" cy="165095"/>
          </a:xfrm>
          <a:prstGeom prst="roundRect">
            <a:avLst>
              <a:gd name="adj" fmla="val 50000"/>
            </a:avLst>
          </a:prstGeom>
          <a:solidFill>
            <a:schemeClr val="bg1">
              <a:lumMod val="1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221;p19">
            <a:extLst>
              <a:ext uri="{FF2B5EF4-FFF2-40B4-BE49-F238E27FC236}">
                <a16:creationId xmlns:a16="http://schemas.microsoft.com/office/drawing/2014/main" id="{3EA64FE2-7389-06B4-39F9-7DE2BD0B884F}"/>
              </a:ext>
            </a:extLst>
          </p:cNvPr>
          <p:cNvSpPr/>
          <p:nvPr/>
        </p:nvSpPr>
        <p:spPr>
          <a:xfrm>
            <a:off x="7876809" y="2999510"/>
            <a:ext cx="919392" cy="165095"/>
          </a:xfrm>
          <a:prstGeom prst="roundRect">
            <a:avLst>
              <a:gd name="adj" fmla="val 50000"/>
            </a:avLst>
          </a:prstGeom>
          <a:solidFill>
            <a:srgbClr val="FF00E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221;p19">
            <a:extLst>
              <a:ext uri="{FF2B5EF4-FFF2-40B4-BE49-F238E27FC236}">
                <a16:creationId xmlns:a16="http://schemas.microsoft.com/office/drawing/2014/main" id="{72EED4BA-1E25-99CB-868A-6F3549ECE840}"/>
              </a:ext>
            </a:extLst>
          </p:cNvPr>
          <p:cNvSpPr/>
          <p:nvPr/>
        </p:nvSpPr>
        <p:spPr>
          <a:xfrm>
            <a:off x="7893960" y="3321935"/>
            <a:ext cx="1100815" cy="165095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221;p19">
            <a:extLst>
              <a:ext uri="{FF2B5EF4-FFF2-40B4-BE49-F238E27FC236}">
                <a16:creationId xmlns:a16="http://schemas.microsoft.com/office/drawing/2014/main" id="{2A09BE8E-2ACB-E5CD-A431-22E1DEEC6E0C}"/>
              </a:ext>
            </a:extLst>
          </p:cNvPr>
          <p:cNvSpPr/>
          <p:nvPr/>
        </p:nvSpPr>
        <p:spPr>
          <a:xfrm>
            <a:off x="7886177" y="3636591"/>
            <a:ext cx="1096651" cy="16509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0827634-4BD3-CF85-CA8A-CD76F66916FC}"/>
              </a:ext>
            </a:extLst>
          </p:cNvPr>
          <p:cNvSpPr txBox="1"/>
          <p:nvPr/>
        </p:nvSpPr>
        <p:spPr>
          <a:xfrm>
            <a:off x="5786204" y="4619781"/>
            <a:ext cx="14596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92241"/>
                </a:solidFill>
              </a:rPr>
              <a:t>Heba Atef Tolan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75AC586B-D44E-542E-8E82-79CCEDE94CD3}"/>
              </a:ext>
            </a:extLst>
          </p:cNvPr>
          <p:cNvSpPr txBox="1"/>
          <p:nvPr/>
        </p:nvSpPr>
        <p:spPr>
          <a:xfrm>
            <a:off x="2600795" y="4732208"/>
            <a:ext cx="186252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92241"/>
                </a:solidFill>
              </a:rPr>
              <a:t>Abdulrahman Alsayed</a:t>
            </a:r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B0BCFFB-C06B-72CC-5E93-D644C540A4AF}"/>
              </a:ext>
            </a:extLst>
          </p:cNvPr>
          <p:cNvSpPr txBox="1"/>
          <p:nvPr/>
        </p:nvSpPr>
        <p:spPr>
          <a:xfrm>
            <a:off x="2600794" y="4488618"/>
            <a:ext cx="186252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92241"/>
                </a:solidFill>
              </a:rPr>
              <a:t>Sohila Lashien </a:t>
            </a:r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C4A976E-3A2F-01F2-9908-616441E9AC9C}"/>
              </a:ext>
            </a:extLst>
          </p:cNvPr>
          <p:cNvSpPr txBox="1"/>
          <p:nvPr/>
        </p:nvSpPr>
        <p:spPr>
          <a:xfrm>
            <a:off x="2600794" y="4245028"/>
            <a:ext cx="146903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92241"/>
                </a:solidFill>
              </a:rPr>
              <a:t>Mennat_Allah Yousri</a:t>
            </a:r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7B1760D-8A34-A5AA-E4F2-157607F0BC46}"/>
              </a:ext>
            </a:extLst>
          </p:cNvPr>
          <p:cNvSpPr txBox="1"/>
          <p:nvPr/>
        </p:nvSpPr>
        <p:spPr>
          <a:xfrm>
            <a:off x="5795572" y="4366823"/>
            <a:ext cx="171262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rgbClr val="092241"/>
                </a:solidFill>
              </a:rPr>
              <a:t>Mennat_Allah Medhat </a:t>
            </a:r>
            <a:endParaRPr lang="en-US"/>
          </a:p>
        </p:txBody>
      </p:sp>
      <p:sp>
        <p:nvSpPr>
          <p:cNvPr id="170" name="Google Shape;221;p19">
            <a:extLst>
              <a:ext uri="{FF2B5EF4-FFF2-40B4-BE49-F238E27FC236}">
                <a16:creationId xmlns:a16="http://schemas.microsoft.com/office/drawing/2014/main" id="{DE7B647F-7832-6213-6B79-65B97C3146BE}"/>
              </a:ext>
            </a:extLst>
          </p:cNvPr>
          <p:cNvSpPr/>
          <p:nvPr/>
        </p:nvSpPr>
        <p:spPr>
          <a:xfrm>
            <a:off x="2137578" y="4307773"/>
            <a:ext cx="452964" cy="99512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221;p19">
            <a:extLst>
              <a:ext uri="{FF2B5EF4-FFF2-40B4-BE49-F238E27FC236}">
                <a16:creationId xmlns:a16="http://schemas.microsoft.com/office/drawing/2014/main" id="{94F4F2CD-ACED-6FD1-8191-E26D9CC2811F}"/>
              </a:ext>
            </a:extLst>
          </p:cNvPr>
          <p:cNvSpPr/>
          <p:nvPr/>
        </p:nvSpPr>
        <p:spPr>
          <a:xfrm>
            <a:off x="2137577" y="4551362"/>
            <a:ext cx="452964" cy="9951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221;p19">
            <a:extLst>
              <a:ext uri="{FF2B5EF4-FFF2-40B4-BE49-F238E27FC236}">
                <a16:creationId xmlns:a16="http://schemas.microsoft.com/office/drawing/2014/main" id="{995B49E4-E7F8-D32F-6D06-109AD7EFFC2D}"/>
              </a:ext>
            </a:extLst>
          </p:cNvPr>
          <p:cNvSpPr/>
          <p:nvPr/>
        </p:nvSpPr>
        <p:spPr>
          <a:xfrm>
            <a:off x="2137577" y="4794953"/>
            <a:ext cx="452964" cy="9951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221;p19">
            <a:extLst>
              <a:ext uri="{FF2B5EF4-FFF2-40B4-BE49-F238E27FC236}">
                <a16:creationId xmlns:a16="http://schemas.microsoft.com/office/drawing/2014/main" id="{64E101A9-E21E-FF5E-9DA5-CFC7E8277EAD}"/>
              </a:ext>
            </a:extLst>
          </p:cNvPr>
          <p:cNvSpPr/>
          <p:nvPr/>
        </p:nvSpPr>
        <p:spPr>
          <a:xfrm>
            <a:off x="5360460" y="4682525"/>
            <a:ext cx="452964" cy="99512"/>
          </a:xfrm>
          <a:prstGeom prst="roundRect">
            <a:avLst>
              <a:gd name="adj" fmla="val 50000"/>
            </a:avLst>
          </a:prstGeom>
          <a:solidFill>
            <a:srgbClr val="FF00E6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221;p19">
            <a:extLst>
              <a:ext uri="{FF2B5EF4-FFF2-40B4-BE49-F238E27FC236}">
                <a16:creationId xmlns:a16="http://schemas.microsoft.com/office/drawing/2014/main" id="{9ECC7125-23E9-403E-3E5B-E59C4C8E6D47}"/>
              </a:ext>
            </a:extLst>
          </p:cNvPr>
          <p:cNvSpPr/>
          <p:nvPr/>
        </p:nvSpPr>
        <p:spPr>
          <a:xfrm>
            <a:off x="5341723" y="4448303"/>
            <a:ext cx="452964" cy="99512"/>
          </a:xfrm>
          <a:prstGeom prst="roundRect">
            <a:avLst>
              <a:gd name="adj" fmla="val 50000"/>
            </a:avLst>
          </a:prstGeom>
          <a:solidFill>
            <a:schemeClr val="bg1">
              <a:lumMod val="1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93B095-F343-0450-6E08-3F002D233827}"/>
              </a:ext>
            </a:extLst>
          </p:cNvPr>
          <p:cNvSpPr/>
          <p:nvPr/>
        </p:nvSpPr>
        <p:spPr>
          <a:xfrm>
            <a:off x="1" y="305684"/>
            <a:ext cx="3766922" cy="7771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09 Project Timeline</a:t>
            </a:r>
            <a:endParaRPr lang="en" sz="32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2F8DA3-6E5F-86BB-CAB6-3FDB3A79EDB2}"/>
              </a:ext>
            </a:extLst>
          </p:cNvPr>
          <p:cNvSpPr/>
          <p:nvPr/>
        </p:nvSpPr>
        <p:spPr>
          <a:xfrm>
            <a:off x="3778456" y="271450"/>
            <a:ext cx="3224253" cy="8434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1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3101649D-BF14-90AB-623C-AA9A93FB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135D9C-7E32-0B6F-E1D4-87D2F21272F7}"/>
              </a:ext>
            </a:extLst>
          </p:cNvPr>
          <p:cNvSpPr/>
          <p:nvPr/>
        </p:nvSpPr>
        <p:spPr>
          <a:xfrm>
            <a:off x="1" y="284118"/>
            <a:ext cx="486242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</a:rPr>
              <a:t>10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r>
              <a:rPr lang="en-US" sz="3000" b="1" dirty="0">
                <a:solidFill>
                  <a:schemeClr val="tx1"/>
                </a:solidFill>
                <a:latin typeface="Archivo Black"/>
                <a:cs typeface="Archivo"/>
              </a:rPr>
              <a:t>Tools &amp; Technologies</a:t>
            </a:r>
            <a:r>
              <a:rPr lang="en-US" sz="2000" b="1" dirty="0">
                <a:solidFill>
                  <a:schemeClr val="tx1"/>
                </a:solidFill>
                <a:latin typeface="Archivo Black"/>
                <a:cs typeface="Archivo"/>
              </a:rPr>
              <a:t> </a:t>
            </a:r>
            <a:endParaRPr lang="en-US" sz="2000" dirty="0">
              <a:solidFill>
                <a:schemeClr val="tx1"/>
              </a:solidFill>
              <a:latin typeface="Archivo Black"/>
              <a:cs typeface="Archiv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0C2D2-3DE6-D977-3955-FDFF89F1428C}"/>
              </a:ext>
            </a:extLst>
          </p:cNvPr>
          <p:cNvSpPr/>
          <p:nvPr/>
        </p:nvSpPr>
        <p:spPr>
          <a:xfrm>
            <a:off x="642783" y="280214"/>
            <a:ext cx="4245348" cy="744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A person in a computer&#10;&#10;AI-generated content may be incorrect.">
            <a:extLst>
              <a:ext uri="{FF2B5EF4-FFF2-40B4-BE49-F238E27FC236}">
                <a16:creationId xmlns:a16="http://schemas.microsoft.com/office/drawing/2014/main" id="{1CA1DF69-EB10-CD1D-CFC8-26DF002C9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0" y="105427"/>
            <a:ext cx="47783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709919DF-C9FC-7626-1C9A-69C02AB373D7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516;p34">
            <a:extLst>
              <a:ext uri="{FF2B5EF4-FFF2-40B4-BE49-F238E27FC236}">
                <a16:creationId xmlns:a16="http://schemas.microsoft.com/office/drawing/2014/main" id="{61A180D9-0560-012E-C34D-F5F2B712908F}"/>
              </a:ext>
            </a:extLst>
          </p:cNvPr>
          <p:cNvGrpSpPr/>
          <p:nvPr/>
        </p:nvGrpSpPr>
        <p:grpSpPr>
          <a:xfrm>
            <a:off x="5883303" y="-301932"/>
            <a:ext cx="5635916" cy="5448561"/>
            <a:chOff x="4955884" y="-316480"/>
            <a:chExt cx="5635916" cy="5448561"/>
          </a:xfrm>
        </p:grpSpPr>
        <p:sp>
          <p:nvSpPr>
            <p:cNvPr id="10" name="Google Shape;517;p34">
              <a:extLst>
                <a:ext uri="{FF2B5EF4-FFF2-40B4-BE49-F238E27FC236}">
                  <a16:creationId xmlns:a16="http://schemas.microsoft.com/office/drawing/2014/main" id="{EFA7A9D4-8C10-FD7C-DE03-3647EB5F6914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18;p34">
              <a:extLst>
                <a:ext uri="{FF2B5EF4-FFF2-40B4-BE49-F238E27FC236}">
                  <a16:creationId xmlns:a16="http://schemas.microsoft.com/office/drawing/2014/main" id="{ED3F7DC0-4B98-B7B5-B66A-0705134537DF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19;p34">
              <a:extLst>
                <a:ext uri="{FF2B5EF4-FFF2-40B4-BE49-F238E27FC236}">
                  <a16:creationId xmlns:a16="http://schemas.microsoft.com/office/drawing/2014/main" id="{5F823FFA-5484-599A-5185-E2E3F33968E6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0;p34">
              <a:extLst>
                <a:ext uri="{FF2B5EF4-FFF2-40B4-BE49-F238E27FC236}">
                  <a16:creationId xmlns:a16="http://schemas.microsoft.com/office/drawing/2014/main" id="{6D214FCF-86CE-E49B-926C-0794A118DC36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21;p34">
              <a:extLst>
                <a:ext uri="{FF2B5EF4-FFF2-40B4-BE49-F238E27FC236}">
                  <a16:creationId xmlns:a16="http://schemas.microsoft.com/office/drawing/2014/main" id="{BEF06AF5-AA31-89C0-E802-F0FB434AC14C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2;p34">
              <a:extLst>
                <a:ext uri="{FF2B5EF4-FFF2-40B4-BE49-F238E27FC236}">
                  <a16:creationId xmlns:a16="http://schemas.microsoft.com/office/drawing/2014/main" id="{42D421D0-EE7C-5E72-66FD-2513CBB70D93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06;p33">
            <a:extLst>
              <a:ext uri="{FF2B5EF4-FFF2-40B4-BE49-F238E27FC236}">
                <a16:creationId xmlns:a16="http://schemas.microsoft.com/office/drawing/2014/main" id="{E5A9BC65-3E11-2C8B-51F8-73BF49C713F6}"/>
              </a:ext>
            </a:extLst>
          </p:cNvPr>
          <p:cNvSpPr txBox="1">
            <a:spLocks noGrp="1"/>
          </p:cNvSpPr>
          <p:nvPr/>
        </p:nvSpPr>
        <p:spPr>
          <a:xfrm>
            <a:off x="1347432" y="325595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r"/>
            <a:r>
              <a:rPr lang="en-US" sz="7200" b="1"/>
              <a:t>Technologies </a:t>
            </a:r>
            <a:endParaRPr lang="en-US" sz="7200">
              <a:solidFill>
                <a:srgbClr val="000000"/>
              </a:solidFill>
            </a:endParaRPr>
          </a:p>
          <a:p>
            <a:pPr algn="r"/>
            <a:endParaRPr lang="en-US" sz="7200"/>
          </a:p>
        </p:txBody>
      </p:sp>
      <p:sp>
        <p:nvSpPr>
          <p:cNvPr id="18" name="Google Shape;506;p33">
            <a:extLst>
              <a:ext uri="{FF2B5EF4-FFF2-40B4-BE49-F238E27FC236}">
                <a16:creationId xmlns:a16="http://schemas.microsoft.com/office/drawing/2014/main" id="{FB5B6173-6847-1E33-27D3-3C98C5E84250}"/>
              </a:ext>
            </a:extLst>
          </p:cNvPr>
          <p:cNvSpPr txBox="1">
            <a:spLocks noGrp="1"/>
          </p:cNvSpPr>
          <p:nvPr/>
        </p:nvSpPr>
        <p:spPr>
          <a:xfrm>
            <a:off x="303154" y="13092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r"/>
            <a:r>
              <a:rPr lang="en-US" sz="7200" b="1"/>
              <a:t>Tools  </a:t>
            </a:r>
            <a:endParaRPr lang="en-US"/>
          </a:p>
        </p:txBody>
      </p:sp>
      <p:sp>
        <p:nvSpPr>
          <p:cNvPr id="19" name="Google Shape;506;p33">
            <a:extLst>
              <a:ext uri="{FF2B5EF4-FFF2-40B4-BE49-F238E27FC236}">
                <a16:creationId xmlns:a16="http://schemas.microsoft.com/office/drawing/2014/main" id="{597697EA-A285-A291-3A6A-23920B8B466B}"/>
              </a:ext>
            </a:extLst>
          </p:cNvPr>
          <p:cNvSpPr txBox="1">
            <a:spLocks noGrp="1"/>
          </p:cNvSpPr>
          <p:nvPr/>
        </p:nvSpPr>
        <p:spPr>
          <a:xfrm>
            <a:off x="4715884" y="2293004"/>
            <a:ext cx="2035845" cy="56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r"/>
            <a:r>
              <a:rPr lang="en-US" sz="7200" b="1"/>
              <a:t>&amp;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6EC37C-3488-E935-1B09-3BAA161360A7}"/>
              </a:ext>
            </a:extLst>
          </p:cNvPr>
          <p:cNvSpPr/>
          <p:nvPr/>
        </p:nvSpPr>
        <p:spPr>
          <a:xfrm>
            <a:off x="5490661" y="4485290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DA857AE6-8A0F-94F8-3675-A62724F4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4A2716-C686-1F1C-3742-56CDA43F18EB}"/>
              </a:ext>
            </a:extLst>
          </p:cNvPr>
          <p:cNvSpPr/>
          <p:nvPr/>
        </p:nvSpPr>
        <p:spPr>
          <a:xfrm>
            <a:off x="1" y="284118"/>
            <a:ext cx="486242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  <a:cs typeface="Archivo Black"/>
              </a:rPr>
              <a:t>10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  <a:r>
              <a:rPr lang="en-US" sz="3000" b="1" dirty="0">
                <a:solidFill>
                  <a:schemeClr val="tx1"/>
                </a:solidFill>
                <a:latin typeface="Archivo Black"/>
                <a:cs typeface="Archivo"/>
              </a:rPr>
              <a:t>Tools &amp; Technologies</a:t>
            </a:r>
            <a:r>
              <a:rPr lang="en-US" sz="2000" b="1" dirty="0">
                <a:solidFill>
                  <a:schemeClr val="tx1"/>
                </a:solidFill>
                <a:latin typeface="Archivo Black"/>
                <a:cs typeface="Archivo"/>
              </a:rPr>
              <a:t> </a:t>
            </a:r>
            <a:endParaRPr lang="en-US" sz="2000" dirty="0">
              <a:solidFill>
                <a:schemeClr val="tx1"/>
              </a:solidFill>
              <a:latin typeface="Archivo Black"/>
              <a:cs typeface="Archiv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10641-6C19-12AB-23DD-A1E0E8A1D9F9}"/>
              </a:ext>
            </a:extLst>
          </p:cNvPr>
          <p:cNvSpPr/>
          <p:nvPr/>
        </p:nvSpPr>
        <p:spPr>
          <a:xfrm>
            <a:off x="4859935" y="282065"/>
            <a:ext cx="4281518" cy="795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0DD1AB68-00D0-2B4F-8576-590D707C0558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5A4111-1CF8-5EEC-04AD-9073BDD7DD73}"/>
              </a:ext>
            </a:extLst>
          </p:cNvPr>
          <p:cNvSpPr/>
          <p:nvPr/>
        </p:nvSpPr>
        <p:spPr>
          <a:xfrm>
            <a:off x="5372718" y="4461114"/>
            <a:ext cx="2304581" cy="5197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oogle Shape;516;p34">
            <a:extLst>
              <a:ext uri="{FF2B5EF4-FFF2-40B4-BE49-F238E27FC236}">
                <a16:creationId xmlns:a16="http://schemas.microsoft.com/office/drawing/2014/main" id="{71137014-0F0C-FBC2-616B-220416826D68}"/>
              </a:ext>
            </a:extLst>
          </p:cNvPr>
          <p:cNvGrpSpPr/>
          <p:nvPr/>
        </p:nvGrpSpPr>
        <p:grpSpPr>
          <a:xfrm>
            <a:off x="5883303" y="-332412"/>
            <a:ext cx="5635916" cy="5448561"/>
            <a:chOff x="4955884" y="-316480"/>
            <a:chExt cx="5635916" cy="5448561"/>
          </a:xfrm>
        </p:grpSpPr>
        <p:sp>
          <p:nvSpPr>
            <p:cNvPr id="4" name="Google Shape;517;p34">
              <a:extLst>
                <a:ext uri="{FF2B5EF4-FFF2-40B4-BE49-F238E27FC236}">
                  <a16:creationId xmlns:a16="http://schemas.microsoft.com/office/drawing/2014/main" id="{14819CE7-5BED-5BB2-E8D6-78646D6321C1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8;p34">
              <a:extLst>
                <a:ext uri="{FF2B5EF4-FFF2-40B4-BE49-F238E27FC236}">
                  <a16:creationId xmlns:a16="http://schemas.microsoft.com/office/drawing/2014/main" id="{B71EC7A9-0D7D-F18A-B8A2-0EC02C2DB265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9;p34">
              <a:extLst>
                <a:ext uri="{FF2B5EF4-FFF2-40B4-BE49-F238E27FC236}">
                  <a16:creationId xmlns:a16="http://schemas.microsoft.com/office/drawing/2014/main" id="{6CE85B20-C75E-A9AB-17F0-00DD3BAF1F85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0;p34">
              <a:extLst>
                <a:ext uri="{FF2B5EF4-FFF2-40B4-BE49-F238E27FC236}">
                  <a16:creationId xmlns:a16="http://schemas.microsoft.com/office/drawing/2014/main" id="{15133C93-5ABF-71DD-C815-BA41EC3C5B72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21;p34">
              <a:extLst>
                <a:ext uri="{FF2B5EF4-FFF2-40B4-BE49-F238E27FC236}">
                  <a16:creationId xmlns:a16="http://schemas.microsoft.com/office/drawing/2014/main" id="{BB9C448F-508D-ABAC-092B-A3FE179AA4B2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22;p34">
              <a:extLst>
                <a:ext uri="{FF2B5EF4-FFF2-40B4-BE49-F238E27FC236}">
                  <a16:creationId xmlns:a16="http://schemas.microsoft.com/office/drawing/2014/main" id="{F40D745F-DC19-3119-1DE5-239804F95909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53AF000D-70C4-EDD8-0903-13E9E9C4B18A}"/>
              </a:ext>
            </a:extLst>
          </p:cNvPr>
          <p:cNvSpPr/>
          <p:nvPr/>
        </p:nvSpPr>
        <p:spPr>
          <a:xfrm>
            <a:off x="2864435" y="1399031"/>
            <a:ext cx="3379061" cy="33865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DBCEEF-BB72-B5B1-B1CD-65C46CCFC394}"/>
              </a:ext>
            </a:extLst>
          </p:cNvPr>
          <p:cNvSpPr/>
          <p:nvPr/>
        </p:nvSpPr>
        <p:spPr>
          <a:xfrm>
            <a:off x="2949645" y="1493315"/>
            <a:ext cx="3202704" cy="31996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E93493-B674-2E50-8516-C8299FCAC1B4}"/>
              </a:ext>
            </a:extLst>
          </p:cNvPr>
          <p:cNvSpPr/>
          <p:nvPr/>
        </p:nvSpPr>
        <p:spPr>
          <a:xfrm>
            <a:off x="3682497" y="2217692"/>
            <a:ext cx="1734431" cy="1740077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300">
                <a:cs typeface="Arial"/>
              </a:rPr>
              <a:t>Tools</a:t>
            </a:r>
          </a:p>
          <a:p>
            <a:pPr algn="ctr"/>
            <a:r>
              <a:rPr lang="en-US" sz="1300">
                <a:cs typeface="Arial"/>
              </a:rPr>
              <a:t> &amp; Technologies</a:t>
            </a:r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70641287-C5AF-BA15-3A8E-D12462626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07" y="1285776"/>
            <a:ext cx="776889" cy="737666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0" name="Picture 39" descr="A computer chip and gear&#10;&#10;AI-generated content may be incorrect.">
            <a:extLst>
              <a:ext uri="{FF2B5EF4-FFF2-40B4-BE49-F238E27FC236}">
                <a16:creationId xmlns:a16="http://schemas.microsoft.com/office/drawing/2014/main" id="{1C0E4A70-B9F8-0DE7-FB1F-655C23B41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63" b="2563"/>
          <a:stretch>
            <a:fillRect/>
          </a:stretch>
        </p:blipFill>
        <p:spPr>
          <a:xfrm>
            <a:off x="5767224" y="2321889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3" name="Picture 42" descr="A network of blue circles and lines&#10;&#10;AI-generated content may be incorrect.">
            <a:extLst>
              <a:ext uri="{FF2B5EF4-FFF2-40B4-BE49-F238E27FC236}">
                <a16:creationId xmlns:a16="http://schemas.microsoft.com/office/drawing/2014/main" id="{C840E925-8E47-2E5B-3F8F-E25311B14F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63" b="2563"/>
          <a:stretch>
            <a:fillRect/>
          </a:stretch>
        </p:blipFill>
        <p:spPr>
          <a:xfrm>
            <a:off x="5471309" y="3670702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5" name="Picture 44" descr="A logo of a brain&#10;&#10;AI-generated content may be incorrect.">
            <a:extLst>
              <a:ext uri="{FF2B5EF4-FFF2-40B4-BE49-F238E27FC236}">
                <a16:creationId xmlns:a16="http://schemas.microsoft.com/office/drawing/2014/main" id="{7F7E0063-C8E0-F987-43B9-8E131B286B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63" b="2563"/>
          <a:stretch>
            <a:fillRect/>
          </a:stretch>
        </p:blipFill>
        <p:spPr>
          <a:xfrm>
            <a:off x="4167761" y="4295014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7" name="Picture 46" descr="A blue logo with a face and a wire&#10;&#10;AI-generated content may be incorrect.">
            <a:extLst>
              <a:ext uri="{FF2B5EF4-FFF2-40B4-BE49-F238E27FC236}">
                <a16:creationId xmlns:a16="http://schemas.microsoft.com/office/drawing/2014/main" id="{1B8153D9-6B61-8048-4470-D0DC2583927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714" b="2714"/>
          <a:stretch>
            <a:fillRect/>
          </a:stretch>
        </p:blipFill>
        <p:spPr>
          <a:xfrm>
            <a:off x="2813421" y="3661404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9" name="Picture 48" descr="A blue circle with a white lightning bolt in it&#10;&#10;AI-generated content may be incorrect.">
            <a:extLst>
              <a:ext uri="{FF2B5EF4-FFF2-40B4-BE49-F238E27FC236}">
                <a16:creationId xmlns:a16="http://schemas.microsoft.com/office/drawing/2014/main" id="{7C9D7E87-8786-AD31-393B-31D12900D7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991" r="11991"/>
          <a:stretch>
            <a:fillRect/>
          </a:stretch>
        </p:blipFill>
        <p:spPr>
          <a:xfrm>
            <a:off x="2552712" y="2322084"/>
            <a:ext cx="771020" cy="73329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1" name="Picture 50" descr="A blue and white logo&#10;&#10;AI-generated content may be incorrect.">
            <a:extLst>
              <a:ext uri="{FF2B5EF4-FFF2-40B4-BE49-F238E27FC236}">
                <a16:creationId xmlns:a16="http://schemas.microsoft.com/office/drawing/2014/main" id="{3D82D5AF-2C2D-8DA0-F7A5-73A86D4F995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3649" r="23649"/>
          <a:stretch>
            <a:fillRect/>
          </a:stretch>
        </p:blipFill>
        <p:spPr>
          <a:xfrm>
            <a:off x="3386861" y="1291371"/>
            <a:ext cx="772276" cy="73035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C949E26-CBCD-B4CD-0C1A-5C78F84EC15F}"/>
              </a:ext>
            </a:extLst>
          </p:cNvPr>
          <p:cNvSpPr txBox="1"/>
          <p:nvPr/>
        </p:nvSpPr>
        <p:spPr>
          <a:xfrm>
            <a:off x="1336771" y="1467359"/>
            <a:ext cx="19107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Flutter</a:t>
            </a:r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E41598-FB0E-6556-A2FD-0BB3482699BF}"/>
              </a:ext>
            </a:extLst>
          </p:cNvPr>
          <p:cNvSpPr txBox="1"/>
          <p:nvPr/>
        </p:nvSpPr>
        <p:spPr>
          <a:xfrm>
            <a:off x="6626172" y="3848290"/>
            <a:ext cx="6930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CNN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338BA9-1285-C9AF-1DEF-05D6C51BADC0}"/>
              </a:ext>
            </a:extLst>
          </p:cNvPr>
          <p:cNvSpPr txBox="1"/>
          <p:nvPr/>
        </p:nvSpPr>
        <p:spPr>
          <a:xfrm>
            <a:off x="6492081" y="1467359"/>
            <a:ext cx="5358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tx1"/>
                </a:solidFill>
              </a:rPr>
              <a:t>IoT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277F93-3FBB-F82C-BD5D-BB7F972CF92D}"/>
              </a:ext>
            </a:extLst>
          </p:cNvPr>
          <p:cNvSpPr txBox="1"/>
          <p:nvPr/>
        </p:nvSpPr>
        <p:spPr>
          <a:xfrm>
            <a:off x="6545015" y="2401485"/>
            <a:ext cx="195398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Embedded Systems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97BB22-1C30-94B0-0CE7-74733B62A164}"/>
              </a:ext>
            </a:extLst>
          </p:cNvPr>
          <p:cNvSpPr txBox="1"/>
          <p:nvPr/>
        </p:nvSpPr>
        <p:spPr>
          <a:xfrm>
            <a:off x="636583" y="2567378"/>
            <a:ext cx="231239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>
                <a:solidFill>
                  <a:schemeClr val="tx1"/>
                </a:solidFill>
                <a:ea typeface="Roboto"/>
              </a:rPr>
              <a:t>FastAPI</a:t>
            </a:r>
            <a:r>
              <a:rPr lang="en-US" sz="1800" b="1">
                <a:solidFill>
                  <a:schemeClr val="tx1"/>
                </a:solidFill>
              </a:rPr>
              <a:t> 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DFA5B0-5231-5549-8F21-73D08E0028B6}"/>
              </a:ext>
            </a:extLst>
          </p:cNvPr>
          <p:cNvSpPr txBox="1"/>
          <p:nvPr/>
        </p:nvSpPr>
        <p:spPr>
          <a:xfrm>
            <a:off x="959365" y="3925887"/>
            <a:ext cx="19107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RAG &amp; Agent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6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F9ACB4B1-634D-C121-D3A3-74E0E146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5C06C4C-6910-7261-272D-557F128B70F6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381F28A9-9629-F51B-488E-F0F76D2F2762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 descr="A person holding a wrench and a computer monitor&#10;&#10;AI-generated content may be incorrect.">
            <a:extLst>
              <a:ext uri="{FF2B5EF4-FFF2-40B4-BE49-F238E27FC236}">
                <a16:creationId xmlns:a16="http://schemas.microsoft.com/office/drawing/2014/main" id="{17FFC543-A6E4-34C5-2712-5B1A00D87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4" t="-875" r="337" b="875"/>
          <a:stretch/>
        </p:blipFill>
        <p:spPr>
          <a:xfrm>
            <a:off x="-162" y="2177"/>
            <a:ext cx="5261557" cy="5143460"/>
          </a:xfrm>
          <a:prstGeom prst="rect">
            <a:avLst/>
          </a:prstGeom>
          <a:ln>
            <a:noFill/>
          </a:ln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F70B4B0E-C7A9-F5FE-D8CE-0CA16F0B76A0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EA91AD32-3099-B3C1-FA77-BC75FEBA241A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407AC2B3-68B5-4BB7-5BCB-F375DF815FE3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05653C68-8C03-C384-815A-83152FCCABAC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EE05CCD2-0DC9-D070-89B8-4144E1087565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601A1A95-677F-9688-5F21-130251CEAFC2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94092DFA-C900-F9EC-55D4-868D2DBF2C3D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77CEAAE-F4FA-1C06-B829-B587EE079611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  <a:cs typeface="Archivo Black"/>
              </a:rPr>
              <a:t>11</a:t>
            </a:r>
          </a:p>
        </p:txBody>
      </p:sp>
      <p:sp>
        <p:nvSpPr>
          <p:cNvPr id="2" name="Google Shape;506;p33">
            <a:extLst>
              <a:ext uri="{FF2B5EF4-FFF2-40B4-BE49-F238E27FC236}">
                <a16:creationId xmlns:a16="http://schemas.microsoft.com/office/drawing/2014/main" id="{26BC000D-547B-E23E-44FC-50AC8D781259}"/>
              </a:ext>
            </a:extLst>
          </p:cNvPr>
          <p:cNvSpPr txBox="1">
            <a:spLocks noGrp="1"/>
          </p:cNvSpPr>
          <p:nvPr/>
        </p:nvSpPr>
        <p:spPr>
          <a:xfrm>
            <a:off x="2283100" y="858572"/>
            <a:ext cx="57082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r"/>
            <a:r>
              <a:rPr lang="en-US" sz="7200"/>
              <a:t>System</a:t>
            </a:r>
            <a:endParaRPr lang="en-US"/>
          </a:p>
          <a:p>
            <a:pPr algn="r"/>
            <a:r>
              <a:rPr lang="en-US" sz="7200"/>
              <a:t>Design</a:t>
            </a:r>
            <a:endParaRPr lang="en-US"/>
          </a:p>
          <a:p>
            <a:pPr algn="r"/>
            <a:endParaRPr lang="en-US" sz="7200"/>
          </a:p>
        </p:txBody>
      </p:sp>
    </p:spTree>
    <p:extLst>
      <p:ext uri="{BB962C8B-B14F-4D97-AF65-F5344CB8AC3E}">
        <p14:creationId xmlns:p14="http://schemas.microsoft.com/office/powerpoint/2010/main" val="423011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8595C5BF-A2C8-67D8-0400-9A4F9642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762AE27E-63A0-62BE-D81E-E56361F8DD6D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80AEE3-E01D-510F-A1C8-13520892EFC2}"/>
              </a:ext>
            </a:extLst>
          </p:cNvPr>
          <p:cNvSpPr/>
          <p:nvPr/>
        </p:nvSpPr>
        <p:spPr>
          <a:xfrm>
            <a:off x="5827881" y="4252778"/>
            <a:ext cx="1774616" cy="68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159D9-3371-F9AF-7DAD-D90C53666BA9}"/>
              </a:ext>
            </a:extLst>
          </p:cNvPr>
          <p:cNvSpPr txBox="1"/>
          <p:nvPr/>
        </p:nvSpPr>
        <p:spPr>
          <a:xfrm>
            <a:off x="78806" y="4679123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Context Diagram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C14AAF-7687-294E-AA89-3C7DFAF0C2CD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  <a:cs typeface="Archivo Black"/>
              </a:rPr>
              <a:t>11</a:t>
            </a:r>
          </a:p>
        </p:txBody>
      </p:sp>
      <p:pic>
        <p:nvPicPr>
          <p:cNvPr id="2" name="Picture 1" descr="A diagram of a cow farm monitoring system&#10;&#10;AI-generated content may be incorrect.">
            <a:extLst>
              <a:ext uri="{FF2B5EF4-FFF2-40B4-BE49-F238E27FC236}">
                <a16:creationId xmlns:a16="http://schemas.microsoft.com/office/drawing/2014/main" id="{96AD1F93-159C-69EC-1370-ACBF713D8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43" y="534459"/>
            <a:ext cx="8184312" cy="38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58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2D8CA081-5913-A5C3-0EEA-F5BFD500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49FAB443-2F2D-B213-412A-9D5AC2A86F97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AB4804-6368-8E4F-B0DD-87961831E947}"/>
              </a:ext>
            </a:extLst>
          </p:cNvPr>
          <p:cNvSpPr/>
          <p:nvPr/>
        </p:nvSpPr>
        <p:spPr>
          <a:xfrm>
            <a:off x="5827881" y="4252778"/>
            <a:ext cx="1774616" cy="6825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05C26-BABD-9F3D-78CE-764759445098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</a:rPr>
              <a:t>11</a:t>
            </a:r>
            <a:endParaRPr lang="en-US" sz="3000" b="1" dirty="0">
              <a:solidFill>
                <a:srgbClr val="092241"/>
              </a:solidFill>
              <a:latin typeface="Archivo Black"/>
              <a:cs typeface="Archivo Black"/>
            </a:endParaRPr>
          </a:p>
        </p:txBody>
      </p:sp>
      <p:pic>
        <p:nvPicPr>
          <p:cNvPr id="2" name="Picture 1" descr="A diagram of a cow health">
            <a:extLst>
              <a:ext uri="{FF2B5EF4-FFF2-40B4-BE49-F238E27FC236}">
                <a16:creationId xmlns:a16="http://schemas.microsoft.com/office/drawing/2014/main" id="{3DEAFCE2-3889-EED6-15A1-5DF8A78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62" y="140179"/>
            <a:ext cx="8362454" cy="49709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16E10F-6343-4352-9B70-07C5860A1F59}"/>
              </a:ext>
            </a:extLst>
          </p:cNvPr>
          <p:cNvSpPr txBox="1"/>
          <p:nvPr/>
        </p:nvSpPr>
        <p:spPr>
          <a:xfrm>
            <a:off x="78806" y="4679123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Level 0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116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2C50F75D-5DC9-AAFE-2D6A-D3240038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93FB8A-F83B-591C-01AD-F1185747A143}"/>
              </a:ext>
            </a:extLst>
          </p:cNvPr>
          <p:cNvSpPr/>
          <p:nvPr/>
        </p:nvSpPr>
        <p:spPr>
          <a:xfrm>
            <a:off x="1" y="314598"/>
            <a:ext cx="366003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Major Problems </a:t>
            </a:r>
          </a:p>
        </p:txBody>
      </p:sp>
      <p:pic>
        <p:nvPicPr>
          <p:cNvPr id="2" name="Picture 1" descr="A person standing next to a funnel&#10;&#10;AI-generated content may be incorrect.">
            <a:extLst>
              <a:ext uri="{FF2B5EF4-FFF2-40B4-BE49-F238E27FC236}">
                <a16:creationId xmlns:a16="http://schemas.microsoft.com/office/drawing/2014/main" id="{70996B98-1CC7-4B13-1A7E-35042FC7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72" y="-133088"/>
            <a:ext cx="4815309" cy="3961356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C375AD4-0AA6-C760-F121-64060A917533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2D1EDBFD-65C5-3ED5-B3EA-60AFEA08896E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33EC5793-D546-65ED-79BB-6714063F2918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D71DEF19-143B-D8A3-01BB-7E1E5096275A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8FBB6EED-3F87-58D7-8BF8-8032575FD96E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20CD5193-02D4-C9FC-0737-28368258FBE2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F19F84B2-6648-A172-AD9A-555426D24E47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DDDCC058-007C-BFA1-221F-9C3F655B9E84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F40855B5-747C-E546-D10D-4C9273BCD8F2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286CAB8E-4219-288B-A892-194F5ABB7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299" y="1899986"/>
            <a:ext cx="6020814" cy="3109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7200"/>
              <a:t>Feed Optimization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B433C-C087-ACCC-DD57-6F416A50E5E3}"/>
              </a:ext>
            </a:extLst>
          </p:cNvPr>
          <p:cNvSpPr/>
          <p:nvPr/>
        </p:nvSpPr>
        <p:spPr>
          <a:xfrm>
            <a:off x="700279" y="257157"/>
            <a:ext cx="2988510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49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3DB88239-ADC3-2959-9E9B-15A400A5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CA1677-1485-B499-5FC4-FA0734688107}"/>
              </a:ext>
            </a:extLst>
          </p:cNvPr>
          <p:cNvSpPr/>
          <p:nvPr/>
        </p:nvSpPr>
        <p:spPr>
          <a:xfrm>
            <a:off x="4859935" y="282065"/>
            <a:ext cx="4281518" cy="795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6DC24CD6-E30C-82F1-66F9-EA5C4602F281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516;p34">
            <a:extLst>
              <a:ext uri="{FF2B5EF4-FFF2-40B4-BE49-F238E27FC236}">
                <a16:creationId xmlns:a16="http://schemas.microsoft.com/office/drawing/2014/main" id="{EA4E3E68-8C01-BC47-6830-BC4188C8F678}"/>
              </a:ext>
            </a:extLst>
          </p:cNvPr>
          <p:cNvGrpSpPr/>
          <p:nvPr/>
        </p:nvGrpSpPr>
        <p:grpSpPr>
          <a:xfrm>
            <a:off x="6208423" y="-454332"/>
            <a:ext cx="5635916" cy="5448561"/>
            <a:chOff x="4955884" y="-316480"/>
            <a:chExt cx="5635916" cy="5448561"/>
          </a:xfrm>
        </p:grpSpPr>
        <p:sp>
          <p:nvSpPr>
            <p:cNvPr id="4" name="Google Shape;517;p34">
              <a:extLst>
                <a:ext uri="{FF2B5EF4-FFF2-40B4-BE49-F238E27FC236}">
                  <a16:creationId xmlns:a16="http://schemas.microsoft.com/office/drawing/2014/main" id="{DB254CAC-2280-F118-E1CC-68650176A820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8;p34">
              <a:extLst>
                <a:ext uri="{FF2B5EF4-FFF2-40B4-BE49-F238E27FC236}">
                  <a16:creationId xmlns:a16="http://schemas.microsoft.com/office/drawing/2014/main" id="{A191C3F8-6A01-FD78-C7B6-7D17DC52975A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9;p34">
              <a:extLst>
                <a:ext uri="{FF2B5EF4-FFF2-40B4-BE49-F238E27FC236}">
                  <a16:creationId xmlns:a16="http://schemas.microsoft.com/office/drawing/2014/main" id="{16E42DAA-F214-86C9-14F7-C139FD17DE8B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0;p34">
              <a:extLst>
                <a:ext uri="{FF2B5EF4-FFF2-40B4-BE49-F238E27FC236}">
                  <a16:creationId xmlns:a16="http://schemas.microsoft.com/office/drawing/2014/main" id="{8D8C4B74-0677-7012-0B27-4008EB44D559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21;p34">
              <a:extLst>
                <a:ext uri="{FF2B5EF4-FFF2-40B4-BE49-F238E27FC236}">
                  <a16:creationId xmlns:a16="http://schemas.microsoft.com/office/drawing/2014/main" id="{BB87E367-E02B-087A-3F98-4F6D591E2FF0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22;p34">
              <a:extLst>
                <a:ext uri="{FF2B5EF4-FFF2-40B4-BE49-F238E27FC236}">
                  <a16:creationId xmlns:a16="http://schemas.microsoft.com/office/drawing/2014/main" id="{A7E78A22-60D9-01F5-75DA-F5C315C2E3B5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B4A647E-6F50-5658-F9FC-E057E7ADB974}"/>
              </a:ext>
            </a:extLst>
          </p:cNvPr>
          <p:cNvSpPr/>
          <p:nvPr/>
        </p:nvSpPr>
        <p:spPr>
          <a:xfrm>
            <a:off x="1" y="284118"/>
            <a:ext cx="366003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Major Problems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18ECA-E2EC-8D59-CF6D-3FCF3C6048BD}"/>
              </a:ext>
            </a:extLst>
          </p:cNvPr>
          <p:cNvSpPr txBox="1"/>
          <p:nvPr/>
        </p:nvSpPr>
        <p:spPr>
          <a:xfrm>
            <a:off x="835687" y="2618079"/>
            <a:ext cx="1808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/>
            <a:r>
              <a:rPr lang="en" sz="1800" dirty="0">
                <a:solidFill>
                  <a:schemeClr val="tx1"/>
                </a:solidFill>
              </a:rPr>
              <a:t>High Costs </a:t>
            </a:r>
          </a:p>
          <a:p>
            <a:pPr marL="0" indent="0" algn="ctr"/>
            <a:r>
              <a:rPr lang="en" sz="1800" dirty="0">
                <a:solidFill>
                  <a:schemeClr val="tx1"/>
                </a:solidFill>
              </a:rPr>
              <a:t> for Feed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8" name="Picture 7" descr="A logo of a bowling ball and a dollar sign&#10;&#10;AI-generated content may be incorrect.">
            <a:extLst>
              <a:ext uri="{FF2B5EF4-FFF2-40B4-BE49-F238E27FC236}">
                <a16:creationId xmlns:a16="http://schemas.microsoft.com/office/drawing/2014/main" id="{5C2814A1-7B61-24EA-CCBF-5C02EADB2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402" y="1837352"/>
            <a:ext cx="731520" cy="73152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7909B3-7FD9-B6FA-9206-CC63688D6120}"/>
              </a:ext>
            </a:extLst>
          </p:cNvPr>
          <p:cNvSpPr/>
          <p:nvPr/>
        </p:nvSpPr>
        <p:spPr>
          <a:xfrm>
            <a:off x="3679699" y="257157"/>
            <a:ext cx="2988510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8F8E8E-1D53-AFFD-F134-2FD872E05F0A}"/>
              </a:ext>
            </a:extLst>
          </p:cNvPr>
          <p:cNvSpPr txBox="1"/>
          <p:nvPr/>
        </p:nvSpPr>
        <p:spPr>
          <a:xfrm>
            <a:off x="3396037" y="3867759"/>
            <a:ext cx="180871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1800" dirty="0">
                <a:solidFill>
                  <a:schemeClr val="tx1"/>
                </a:solidFill>
              </a:rPr>
              <a:t>Lost Productivity</a:t>
            </a:r>
            <a:endParaRPr lang="en-US" dirty="0"/>
          </a:p>
        </p:txBody>
      </p:sp>
      <p:pic>
        <p:nvPicPr>
          <p:cNvPr id="12" name="Picture 11" descr="A line drawing of a person and a graph&#10;&#10;AI-generated content may be incorrect.">
            <a:extLst>
              <a:ext uri="{FF2B5EF4-FFF2-40B4-BE49-F238E27FC236}">
                <a16:creationId xmlns:a16="http://schemas.microsoft.com/office/drawing/2014/main" id="{16AD2B17-18AD-D1E1-1888-0CA84F45D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954911" y="3097192"/>
            <a:ext cx="731520" cy="73152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 descr="A blue cow with a virus design&#10;&#10;AI-generated content may be incorrect.">
            <a:extLst>
              <a:ext uri="{FF2B5EF4-FFF2-40B4-BE49-F238E27FC236}">
                <a16:creationId xmlns:a16="http://schemas.microsoft.com/office/drawing/2014/main" id="{ADBD46FA-B012-58FA-677B-D89FD59D2A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71034" y="1825599"/>
            <a:ext cx="731520" cy="73152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2C1E65-DB31-0DBF-52C9-D08A130FC742}"/>
              </a:ext>
            </a:extLst>
          </p:cNvPr>
          <p:cNvSpPr txBox="1"/>
          <p:nvPr/>
        </p:nvSpPr>
        <p:spPr>
          <a:xfrm>
            <a:off x="5681623" y="2639921"/>
            <a:ext cx="252039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1800" dirty="0">
                <a:solidFill>
                  <a:schemeClr val="tx1"/>
                </a:solidFill>
                <a:ea typeface="Open Sans"/>
              </a:rPr>
              <a:t>Common Diseases from Poor Feed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10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306ED-F5DC-98F0-069B-45AB1B48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D84D-0736-DF4C-49B5-6A45B2E2EA3C}"/>
              </a:ext>
            </a:extLst>
          </p:cNvPr>
          <p:cNvSpPr/>
          <p:nvPr/>
        </p:nvSpPr>
        <p:spPr>
          <a:xfrm>
            <a:off x="1" y="284118"/>
            <a:ext cx="3394629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>
                <a:solidFill>
                  <a:schemeClr val="tx1"/>
                </a:solidFill>
                <a:latin typeface="Archivo Black"/>
                <a:cs typeface="Archivo Black"/>
              </a:rPr>
              <a:t>Major Problems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097D81-52B6-72A4-D17C-1658042735F5}"/>
              </a:ext>
            </a:extLst>
          </p:cNvPr>
          <p:cNvSpPr/>
          <p:nvPr/>
        </p:nvSpPr>
        <p:spPr>
          <a:xfrm>
            <a:off x="1" y="284118"/>
            <a:ext cx="466702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  <a:ea typeface="+mn-lt"/>
                <a:cs typeface="Archivo Black"/>
              </a:rPr>
              <a:t>12 Our AI-driven solution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A98AE-BA99-2A3B-69B4-00B61A819A11}"/>
              </a:ext>
            </a:extLst>
          </p:cNvPr>
          <p:cNvSpPr txBox="1"/>
          <p:nvPr/>
        </p:nvSpPr>
        <p:spPr>
          <a:xfrm>
            <a:off x="764693" y="1584703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Feed Formulation Generation</a:t>
            </a:r>
          </a:p>
        </p:txBody>
      </p:sp>
      <p:pic>
        <p:nvPicPr>
          <p:cNvPr id="10" name="Picture 9" descr="A blue and black beaker with a leaf inside&#10;&#10;AI-generated content may be incorrect.">
            <a:extLst>
              <a:ext uri="{FF2B5EF4-FFF2-40B4-BE49-F238E27FC236}">
                <a16:creationId xmlns:a16="http://schemas.microsoft.com/office/drawing/2014/main" id="{782048A6-9A46-4643-EAD6-468BB18CA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360" y="1584702"/>
            <a:ext cx="369333" cy="369333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9DD5DE-921F-3520-E3F5-D7905714DE2F}"/>
              </a:ext>
            </a:extLst>
          </p:cNvPr>
          <p:cNvSpPr txBox="1"/>
          <p:nvPr/>
        </p:nvSpPr>
        <p:spPr>
          <a:xfrm>
            <a:off x="764693" y="2455119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Nutritional Imbalance Detection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E88CD0-1542-0D6B-9A20-841EA36CCD3B}"/>
              </a:ext>
            </a:extLst>
          </p:cNvPr>
          <p:cNvSpPr txBox="1"/>
          <p:nvPr/>
        </p:nvSpPr>
        <p:spPr>
          <a:xfrm>
            <a:off x="764693" y="3321856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Real-world Feed Recommendations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AA1617-9425-28C2-FAEA-B31A0D893007}"/>
              </a:ext>
            </a:extLst>
          </p:cNvPr>
          <p:cNvSpPr txBox="1"/>
          <p:nvPr/>
        </p:nvSpPr>
        <p:spPr>
          <a:xfrm>
            <a:off x="5336236" y="1595486"/>
            <a:ext cx="473336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err="1">
                <a:solidFill>
                  <a:schemeClr val="tx1"/>
                </a:solidFill>
              </a:rPr>
              <a:t>CrewAI</a:t>
            </a:r>
            <a:r>
              <a:rPr lang="en-US" sz="1800">
                <a:solidFill>
                  <a:schemeClr val="tx1"/>
                </a:solidFill>
              </a:rPr>
              <a:t> Agent-based Architecture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8" name="Picture 27" descr="A blue outline of a headphone with a microphone&#10;&#10;AI-generated content may be incorrect.">
            <a:extLst>
              <a:ext uri="{FF2B5EF4-FFF2-40B4-BE49-F238E27FC236}">
                <a16:creationId xmlns:a16="http://schemas.microsoft.com/office/drawing/2014/main" id="{2F7230C2-CE1C-4C00-2916-C37246E4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16931" y="1584702"/>
            <a:ext cx="369333" cy="3693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0" name="Picture 39" descr="A blue stars on a black background&#10;&#10;AI-generated content may be incorrect.">
            <a:extLst>
              <a:ext uri="{FF2B5EF4-FFF2-40B4-BE49-F238E27FC236}">
                <a16:creationId xmlns:a16="http://schemas.microsoft.com/office/drawing/2014/main" id="{531FEBDC-D96C-7D59-263C-FCAB4B5CF8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16931" y="2457240"/>
            <a:ext cx="369333" cy="36933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08C721F-6B96-F578-3202-D1C8A5938199}"/>
              </a:ext>
            </a:extLst>
          </p:cNvPr>
          <p:cNvSpPr txBox="1"/>
          <p:nvPr/>
        </p:nvSpPr>
        <p:spPr>
          <a:xfrm>
            <a:off x="5336693" y="2468606"/>
            <a:ext cx="37136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chemeClr val="tx1"/>
                </a:solidFill>
                <a:ea typeface="Roboto"/>
              </a:rPr>
              <a:t>Gemini 2.0 LLM Integration</a:t>
            </a:r>
            <a:endParaRPr lang="en-US"/>
          </a:p>
        </p:txBody>
      </p:sp>
      <p:pic>
        <p:nvPicPr>
          <p:cNvPr id="4" name="Picture 3" descr="A blue and white balance scale&#10;&#10;AI-generated content may be incorrect.">
            <a:extLst>
              <a:ext uri="{FF2B5EF4-FFF2-40B4-BE49-F238E27FC236}">
                <a16:creationId xmlns:a16="http://schemas.microsoft.com/office/drawing/2014/main" id="{9057AC83-C4F6-3AE9-8D2F-0BADDFFD32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5360" y="2462686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 descr="A blue star and ribbon with stars&#10;&#10;AI-generated content may be incorrect.">
            <a:extLst>
              <a:ext uri="{FF2B5EF4-FFF2-40B4-BE49-F238E27FC236}">
                <a16:creationId xmlns:a16="http://schemas.microsoft.com/office/drawing/2014/main" id="{2A5C23F9-983A-0E42-8C96-E5D35DA55C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5360" y="3310632"/>
            <a:ext cx="369332" cy="36933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95116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E07CFF6F-EF37-430C-A8C7-19427874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148EBC-45CE-2162-1809-842468B9636D}"/>
              </a:ext>
            </a:extLst>
          </p:cNvPr>
          <p:cNvSpPr/>
          <p:nvPr/>
        </p:nvSpPr>
        <p:spPr>
          <a:xfrm>
            <a:off x="185854" y="2259978"/>
            <a:ext cx="1286106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Cow Profile Input: </a:t>
            </a:r>
            <a:r>
              <a:rPr lang="en-US" sz="1000" dirty="0">
                <a:solidFill>
                  <a:schemeClr val="tx1"/>
                </a:solidFill>
              </a:rPr>
              <a:t>type, age, weight, goal, breed, milk yield, feed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377E4B-81A2-D283-C094-AF0AD2CCACFA}"/>
              </a:ext>
            </a:extLst>
          </p:cNvPr>
          <p:cNvSpPr/>
          <p:nvPr/>
        </p:nvSpPr>
        <p:spPr>
          <a:xfrm>
            <a:off x="1676400" y="2259978"/>
            <a:ext cx="13715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</a:rPr>
              <a:t>Feed_Agent</a:t>
            </a:r>
            <a:r>
              <a:rPr lang="en-US" sz="1000" b="1" dirty="0">
                <a:solidFill>
                  <a:schemeClr val="tx1"/>
                </a:solidFill>
              </a:rPr>
              <a:t>: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Generate Ideal Feed Formula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59A73-5B3C-F8CC-674F-D3FE40BA45DF}"/>
              </a:ext>
            </a:extLst>
          </p:cNvPr>
          <p:cNvSpPr/>
          <p:nvPr/>
        </p:nvSpPr>
        <p:spPr>
          <a:xfrm>
            <a:off x="4534829" y="1118837"/>
            <a:ext cx="1286106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Include</a:t>
            </a:r>
            <a:r>
              <a:rPr lang="en-US" sz="1000" dirty="0">
                <a:solidFill>
                  <a:schemeClr val="tx1"/>
                </a:solidFill>
              </a:rPr>
              <a:t>: type, quantity, protein %, notes, language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D32816-B0AE-4A40-8838-7AE138A2507F}"/>
              </a:ext>
            </a:extLst>
          </p:cNvPr>
          <p:cNvSpPr/>
          <p:nvPr/>
        </p:nvSpPr>
        <p:spPr>
          <a:xfrm>
            <a:off x="5943600" y="1118837"/>
            <a:ext cx="134557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Generate JSON:</a:t>
            </a:r>
            <a:r>
              <a:rPr lang="en-US" sz="1000" dirty="0">
                <a:solidFill>
                  <a:schemeClr val="tx1"/>
                </a:solidFill>
              </a:rPr>
              <a:t> step_1_feed_recommendation.json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7D2BC6-2F23-AD60-A6E1-E22FF714EBD7}"/>
              </a:ext>
            </a:extLst>
          </p:cNvPr>
          <p:cNvSpPr/>
          <p:nvPr/>
        </p:nvSpPr>
        <p:spPr>
          <a:xfrm>
            <a:off x="2758066" y="1118836"/>
            <a:ext cx="1636336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Define Components</a:t>
            </a:r>
            <a:r>
              <a:rPr lang="en-US" sz="1000" dirty="0">
                <a:solidFill>
                  <a:schemeClr val="tx1"/>
                </a:solidFill>
              </a:rPr>
              <a:t>: Roughage, Concentrates, Supplements, Water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7A0387-F118-5E89-903A-017619B4737D}"/>
              </a:ext>
            </a:extLst>
          </p:cNvPr>
          <p:cNvSpPr/>
          <p:nvPr/>
        </p:nvSpPr>
        <p:spPr>
          <a:xfrm>
            <a:off x="7471317" y="1118838"/>
            <a:ext cx="1345578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BALANCE_CHECK_AGENT &amp; FEED_KEYWORD_GENERATOR_AGENT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5AE793-40A7-1E13-F767-AB7873523A30}"/>
              </a:ext>
            </a:extLst>
          </p:cNvPr>
          <p:cNvSpPr/>
          <p:nvPr/>
        </p:nvSpPr>
        <p:spPr>
          <a:xfrm>
            <a:off x="3108296" y="3293325"/>
            <a:ext cx="1286106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Use </a:t>
            </a:r>
            <a:r>
              <a:rPr lang="en-US" sz="1000" b="1" dirty="0">
                <a:solidFill>
                  <a:schemeClr val="tx1"/>
                </a:solidFill>
              </a:rPr>
              <a:t>Gemini 2.0 </a:t>
            </a:r>
            <a:r>
              <a:rPr lang="en-US" sz="1000" dirty="0">
                <a:solidFill>
                  <a:schemeClr val="tx1"/>
                </a:solidFill>
              </a:rPr>
              <a:t>Flash via </a:t>
            </a:r>
            <a:r>
              <a:rPr lang="en-US" sz="1000" dirty="0" err="1">
                <a:solidFill>
                  <a:schemeClr val="tx1"/>
                </a:solidFill>
              </a:rPr>
              <a:t>CrewAI</a:t>
            </a:r>
            <a:r>
              <a:rPr lang="en-US" sz="1000" dirty="0">
                <a:solidFill>
                  <a:schemeClr val="tx1"/>
                </a:solidFill>
              </a:rPr>
              <a:t> LLM abstraction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DA900F-759E-36BD-8D98-D62428DA64EC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471960" y="2776652"/>
            <a:ext cx="204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BCD434-95C6-0AEE-7A68-70E8910B944A}"/>
              </a:ext>
            </a:extLst>
          </p:cNvPr>
          <p:cNvCxnSpPr>
            <a:cxnSpLocks/>
            <a:stCxn id="8" idx="0"/>
            <a:endCxn id="11" idx="1"/>
          </p:cNvCxnSpPr>
          <p:nvPr/>
        </p:nvCxnSpPr>
        <p:spPr>
          <a:xfrm flipV="1">
            <a:off x="2362200" y="1635510"/>
            <a:ext cx="395866" cy="624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687BD9-EB68-DE99-D726-4B53619D021A}"/>
              </a:ext>
            </a:extLst>
          </p:cNvPr>
          <p:cNvCxnSpPr>
            <a:cxnSpLocks/>
            <a:stCxn id="8" idx="2"/>
            <a:endCxn id="13" idx="1"/>
          </p:cNvCxnSpPr>
          <p:nvPr/>
        </p:nvCxnSpPr>
        <p:spPr>
          <a:xfrm>
            <a:off x="2362200" y="3293325"/>
            <a:ext cx="746096" cy="516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3FA7BF-8B00-EF85-281A-3D22BFC6CA0D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4394402" y="1635510"/>
            <a:ext cx="1404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B6496B-9774-F2F6-B8F4-17E94ACFFAB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820935" y="1635511"/>
            <a:ext cx="122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16DF44-BFDF-ECFE-03DF-007CE71E33DF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289179" y="1635511"/>
            <a:ext cx="1821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F6C3B64-755F-7C62-1E06-DBEEF191DB83}"/>
              </a:ext>
            </a:extLst>
          </p:cNvPr>
          <p:cNvSpPr/>
          <p:nvPr/>
        </p:nvSpPr>
        <p:spPr>
          <a:xfrm>
            <a:off x="2" y="284118"/>
            <a:ext cx="296250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Feed Agent</a:t>
            </a:r>
          </a:p>
        </p:txBody>
      </p:sp>
    </p:spTree>
    <p:extLst>
      <p:ext uri="{BB962C8B-B14F-4D97-AF65-F5344CB8AC3E}">
        <p14:creationId xmlns:p14="http://schemas.microsoft.com/office/powerpoint/2010/main" val="2545924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6F1C3A7E-5D79-A757-2B8C-535DE6D8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25889B-CCD2-0897-29F3-26FE165D2DAE}"/>
              </a:ext>
            </a:extLst>
          </p:cNvPr>
          <p:cNvSpPr/>
          <p:nvPr/>
        </p:nvSpPr>
        <p:spPr>
          <a:xfrm>
            <a:off x="141726" y="2271312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Input: </a:t>
            </a:r>
            <a:r>
              <a:rPr lang="en-US" sz="1200" dirty="0">
                <a:solidFill>
                  <a:schemeClr val="tx1"/>
                </a:solidFill>
              </a:rPr>
              <a:t>step_1_feed_recommendation.json &amp; </a:t>
            </a:r>
            <a:r>
              <a:rPr lang="en-US" sz="1200" dirty="0" err="1">
                <a:solidFill>
                  <a:schemeClr val="tx1"/>
                </a:solidFill>
              </a:rPr>
              <a:t>current_feed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626DCA-1D3D-1A6F-B101-7955ED668546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2170425" y="2787986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8F0CCA-446D-5994-217F-4D4E7B77E50E}"/>
              </a:ext>
            </a:extLst>
          </p:cNvPr>
          <p:cNvSpPr/>
          <p:nvPr/>
        </p:nvSpPr>
        <p:spPr>
          <a:xfrm>
            <a:off x="2448427" y="2271312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BALANCE_CHECK_AGENT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51BDE6-CE88-5833-D338-17A5D5C58453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477126" y="2787986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9A313A-0536-559A-3C5B-681CE3C9B04A}"/>
              </a:ext>
            </a:extLst>
          </p:cNvPr>
          <p:cNvSpPr/>
          <p:nvPr/>
        </p:nvSpPr>
        <p:spPr>
          <a:xfrm>
            <a:off x="4718610" y="2271313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Identify 3–5 </a:t>
            </a:r>
            <a:r>
              <a:rPr lang="en-US" sz="1200" b="1" dirty="0">
                <a:solidFill>
                  <a:schemeClr val="tx1"/>
                </a:solidFill>
              </a:rPr>
              <a:t>Gaps/Excesses </a:t>
            </a:r>
            <a:r>
              <a:rPr lang="en-US" sz="1200" dirty="0">
                <a:solidFill>
                  <a:schemeClr val="tx1"/>
                </a:solidFill>
              </a:rPr>
              <a:t>in nutrients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2E34A5-5D77-8F19-1431-BBF35236950D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>
            <a:off x="6747309" y="2787987"/>
            <a:ext cx="226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4421C57-CF04-BB25-286E-0A260F2EF408}"/>
              </a:ext>
            </a:extLst>
          </p:cNvPr>
          <p:cNvSpPr/>
          <p:nvPr/>
        </p:nvSpPr>
        <p:spPr>
          <a:xfrm>
            <a:off x="6973575" y="2271313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Evaluate impact on productivity &amp; suggest solutions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60D005-5321-EF11-7238-0F13AF450410}"/>
              </a:ext>
            </a:extLst>
          </p:cNvPr>
          <p:cNvSpPr/>
          <p:nvPr/>
        </p:nvSpPr>
        <p:spPr>
          <a:xfrm>
            <a:off x="2" y="284118"/>
            <a:ext cx="350519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Balance Agent</a:t>
            </a:r>
          </a:p>
        </p:txBody>
      </p:sp>
    </p:spTree>
    <p:extLst>
      <p:ext uri="{BB962C8B-B14F-4D97-AF65-F5344CB8AC3E}">
        <p14:creationId xmlns:p14="http://schemas.microsoft.com/office/powerpoint/2010/main" val="3232625552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D556813D-2B82-B69D-7D2A-B60851A0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57BC86-E7A1-2D31-A9AC-F3C16BB34939}"/>
              </a:ext>
            </a:extLst>
          </p:cNvPr>
          <p:cNvSpPr/>
          <p:nvPr/>
        </p:nvSpPr>
        <p:spPr>
          <a:xfrm>
            <a:off x="141726" y="139470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Input: </a:t>
            </a:r>
            <a:r>
              <a:rPr lang="en-US" sz="1200" dirty="0">
                <a:solidFill>
                  <a:schemeClr val="tx1"/>
                </a:solidFill>
              </a:rPr>
              <a:t>step_1_feed_recommendation.json + cow profile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B48526-0BAE-CAFB-0264-17AEF80F5F3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170425" y="1911374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9E6F98-4177-05CF-2E99-C784B38AC3B2}"/>
              </a:ext>
            </a:extLst>
          </p:cNvPr>
          <p:cNvSpPr/>
          <p:nvPr/>
        </p:nvSpPr>
        <p:spPr>
          <a:xfrm>
            <a:off x="2448427" y="139470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 </a:t>
            </a:r>
            <a:r>
              <a:rPr lang="en-US" sz="1200" b="1" dirty="0">
                <a:solidFill>
                  <a:schemeClr val="tx1"/>
                </a:solidFill>
              </a:rPr>
              <a:t>Gemini 2.0 </a:t>
            </a:r>
            <a:r>
              <a:rPr lang="en-US" sz="1200" dirty="0">
                <a:solidFill>
                  <a:schemeClr val="tx1"/>
                </a:solidFill>
              </a:rPr>
              <a:t>Flash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0FF474-9F5F-6CD1-28C4-5F20DD8DCDBF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477126" y="1911374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F7F561-5E9D-D791-C5C7-50292FC275C8}"/>
              </a:ext>
            </a:extLst>
          </p:cNvPr>
          <p:cNvSpPr/>
          <p:nvPr/>
        </p:nvSpPr>
        <p:spPr>
          <a:xfrm>
            <a:off x="4718610" y="139470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Extract components from formulation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(Soybean Meal)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B9DEFD-A0AE-EB54-024A-99F167DF12F9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747309" y="1911375"/>
            <a:ext cx="226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70A694-55B7-107F-CCF2-022194794256}"/>
              </a:ext>
            </a:extLst>
          </p:cNvPr>
          <p:cNvSpPr/>
          <p:nvPr/>
        </p:nvSpPr>
        <p:spPr>
          <a:xfrm>
            <a:off x="6973575" y="139470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Generate search keywords based on type, breed, protein 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920569-8500-4338-F6A2-EFA48A68CDD3}"/>
              </a:ext>
            </a:extLst>
          </p:cNvPr>
          <p:cNvSpPr/>
          <p:nvPr/>
        </p:nvSpPr>
        <p:spPr>
          <a:xfrm>
            <a:off x="141726" y="294472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Limit to local </a:t>
            </a:r>
            <a:r>
              <a:rPr lang="en-US" sz="1200" b="1" dirty="0">
                <a:solidFill>
                  <a:schemeClr val="tx1"/>
                </a:solidFill>
              </a:rPr>
              <a:t>language and country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42D35C-A89E-43AB-67DA-A4786136E2E1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2170425" y="3461394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0C739E-0754-1DE0-7872-424D3B177861}"/>
              </a:ext>
            </a:extLst>
          </p:cNvPr>
          <p:cNvSpPr/>
          <p:nvPr/>
        </p:nvSpPr>
        <p:spPr>
          <a:xfrm>
            <a:off x="2448427" y="294472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Output JSON: </a:t>
            </a:r>
            <a:r>
              <a:rPr lang="en-US" sz="1200" dirty="0">
                <a:solidFill>
                  <a:schemeClr val="tx1"/>
                </a:solidFill>
              </a:rPr>
              <a:t>step_3_feed_search_keywords.json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49EAF0-AC69-03F5-443A-AFF0BACB223B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477126" y="3461394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F53C20-7EC3-E745-0AA8-F77586FAD100}"/>
              </a:ext>
            </a:extLst>
          </p:cNvPr>
          <p:cNvSpPr/>
          <p:nvPr/>
        </p:nvSpPr>
        <p:spPr>
          <a:xfrm>
            <a:off x="4718610" y="294472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Pass to SEARCH_ENGINE_AGENT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B32803-458F-4A6C-83A7-C3B233D02FC1}"/>
              </a:ext>
            </a:extLst>
          </p:cNvPr>
          <p:cNvCxnSpPr>
            <a:stCxn id="10" idx="2"/>
            <a:endCxn id="10" idx="2"/>
          </p:cNvCxnSpPr>
          <p:nvPr/>
        </p:nvCxnSpPr>
        <p:spPr>
          <a:xfrm>
            <a:off x="7987925" y="24280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8971EF-0E74-43F2-72A0-39D47256E9D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987925" y="2428048"/>
            <a:ext cx="0" cy="28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ED4E07-3FCD-4209-AEDF-1E466A4074BA}"/>
              </a:ext>
            </a:extLst>
          </p:cNvPr>
          <p:cNvCxnSpPr>
            <a:cxnSpLocks/>
          </p:cNvCxnSpPr>
          <p:nvPr/>
        </p:nvCxnSpPr>
        <p:spPr>
          <a:xfrm flipH="1" flipV="1">
            <a:off x="1144857" y="2693084"/>
            <a:ext cx="6843067" cy="2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C262CE-D044-57D6-1A9E-F8AA040D6CE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156076" y="2691161"/>
            <a:ext cx="0" cy="253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E1D125F-16FF-CE3D-0E02-895116625069}"/>
              </a:ext>
            </a:extLst>
          </p:cNvPr>
          <p:cNvSpPr/>
          <p:nvPr/>
        </p:nvSpPr>
        <p:spPr>
          <a:xfrm>
            <a:off x="2" y="284118"/>
            <a:ext cx="370839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Keyword Agent</a:t>
            </a:r>
          </a:p>
        </p:txBody>
      </p:sp>
    </p:spTree>
    <p:extLst>
      <p:ext uri="{BB962C8B-B14F-4D97-AF65-F5344CB8AC3E}">
        <p14:creationId xmlns:p14="http://schemas.microsoft.com/office/powerpoint/2010/main" val="1971566902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EC507807-761E-259F-6B12-FED82178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5F205A-6D78-9662-AFB1-C59A8AEEC124}"/>
              </a:ext>
            </a:extLst>
          </p:cNvPr>
          <p:cNvSpPr/>
          <p:nvPr/>
        </p:nvSpPr>
        <p:spPr>
          <a:xfrm>
            <a:off x="141726" y="139470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Input: </a:t>
            </a:r>
            <a:r>
              <a:rPr lang="en-US" sz="1200" dirty="0">
                <a:solidFill>
                  <a:schemeClr val="tx1"/>
                </a:solidFill>
              </a:rPr>
              <a:t>step_3_feed_search_keywords.json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F44C998-9934-31DA-B77E-AE8947B38BA8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170425" y="1911374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6129C1-4B5B-D33B-0BFF-E09EFBB7F99B}"/>
              </a:ext>
            </a:extLst>
          </p:cNvPr>
          <p:cNvSpPr/>
          <p:nvPr/>
        </p:nvSpPr>
        <p:spPr>
          <a:xfrm>
            <a:off x="2448427" y="139470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 </a:t>
            </a:r>
            <a:r>
              <a:rPr lang="en-US" sz="1200" dirty="0" err="1">
                <a:solidFill>
                  <a:schemeClr val="tx1"/>
                </a:solidFill>
              </a:rPr>
              <a:t>Tavily</a:t>
            </a:r>
            <a:r>
              <a:rPr lang="en-US" sz="1200" dirty="0">
                <a:solidFill>
                  <a:schemeClr val="tx1"/>
                </a:solidFill>
              </a:rPr>
              <a:t> Search Tool/API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A6CB00-CB38-2705-22BE-2684CB1D0AB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477126" y="1911374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4F374B-E5FA-A8E6-1605-F0FB2E464069}"/>
              </a:ext>
            </a:extLst>
          </p:cNvPr>
          <p:cNvSpPr/>
          <p:nvPr/>
        </p:nvSpPr>
        <p:spPr>
          <a:xfrm>
            <a:off x="4718610" y="139470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Search local product websites using keywords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DD6E97-39C2-65F0-68FF-2FDFA027B4E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747309" y="1911375"/>
            <a:ext cx="226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9FCE1A-9A84-4A0E-C7A0-35ED584F576A}"/>
              </a:ext>
            </a:extLst>
          </p:cNvPr>
          <p:cNvSpPr/>
          <p:nvPr/>
        </p:nvSpPr>
        <p:spPr>
          <a:xfrm>
            <a:off x="6973575" y="139470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Extract details: </a:t>
            </a:r>
            <a:r>
              <a:rPr lang="en-US" sz="1200" dirty="0">
                <a:solidFill>
                  <a:schemeClr val="tx1"/>
                </a:solidFill>
              </a:rPr>
              <a:t>Name, Protein %, Price, Ingredients, Rating, URL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64D9D7-CA0E-EA2C-5EAD-001203A34999}"/>
              </a:ext>
            </a:extLst>
          </p:cNvPr>
          <p:cNvSpPr/>
          <p:nvPr/>
        </p:nvSpPr>
        <p:spPr>
          <a:xfrm>
            <a:off x="141726" y="294472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Filter </a:t>
            </a:r>
            <a:r>
              <a:rPr lang="en-US" sz="1200" b="1" dirty="0">
                <a:solidFill>
                  <a:schemeClr val="tx1"/>
                </a:solidFill>
              </a:rPr>
              <a:t>incomplete or untrusted results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98DB0F-2628-6815-F6D9-46E12B99DF01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2170425" y="3461394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2D80CE-9ED2-C64E-D5C0-699945F6663B}"/>
              </a:ext>
            </a:extLst>
          </p:cNvPr>
          <p:cNvSpPr/>
          <p:nvPr/>
        </p:nvSpPr>
        <p:spPr>
          <a:xfrm>
            <a:off x="2448427" y="2944720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Output JSON: </a:t>
            </a:r>
            <a:r>
              <a:rPr lang="en-US" sz="1200" dirty="0">
                <a:solidFill>
                  <a:schemeClr val="tx1"/>
                </a:solidFill>
              </a:rPr>
              <a:t>step_4_feed_search_results.json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00B959-34A0-D46B-5131-57C336FF853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4477126" y="3461394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E4ABAB-9C88-BB6A-67C5-463B66FF0ABC}"/>
              </a:ext>
            </a:extLst>
          </p:cNvPr>
          <p:cNvSpPr/>
          <p:nvPr/>
        </p:nvSpPr>
        <p:spPr>
          <a:xfrm>
            <a:off x="4718610" y="2944721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PROCUREMENT_REPORT_AUTHOR_AGENT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63FF43-9A81-28F3-5E1A-1DEF09DA810F}"/>
              </a:ext>
            </a:extLst>
          </p:cNvPr>
          <p:cNvCxnSpPr>
            <a:stCxn id="10" idx="2"/>
            <a:endCxn id="10" idx="2"/>
          </p:cNvCxnSpPr>
          <p:nvPr/>
        </p:nvCxnSpPr>
        <p:spPr>
          <a:xfrm>
            <a:off x="7987925" y="24280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A36CA8-37C7-DF12-12FC-A4B26C4AE60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987925" y="2428048"/>
            <a:ext cx="0" cy="28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ABA088-F1F7-AC5E-8F20-6B16D8EC87E5}"/>
              </a:ext>
            </a:extLst>
          </p:cNvPr>
          <p:cNvCxnSpPr>
            <a:cxnSpLocks/>
          </p:cNvCxnSpPr>
          <p:nvPr/>
        </p:nvCxnSpPr>
        <p:spPr>
          <a:xfrm flipH="1" flipV="1">
            <a:off x="1144857" y="2693084"/>
            <a:ext cx="6843067" cy="2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6A1D18-FD66-41D1-9D15-B4A2B4C5BCAF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156076" y="2691161"/>
            <a:ext cx="0" cy="253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61CC631-4340-6647-711D-1BF770001873}"/>
              </a:ext>
            </a:extLst>
          </p:cNvPr>
          <p:cNvSpPr/>
          <p:nvPr/>
        </p:nvSpPr>
        <p:spPr>
          <a:xfrm>
            <a:off x="2" y="284118"/>
            <a:ext cx="3505198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12  Search Agent</a:t>
            </a:r>
          </a:p>
        </p:txBody>
      </p:sp>
    </p:spTree>
    <p:extLst>
      <p:ext uri="{BB962C8B-B14F-4D97-AF65-F5344CB8AC3E}">
        <p14:creationId xmlns:p14="http://schemas.microsoft.com/office/powerpoint/2010/main" val="2485259779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CE6CE93B-0BAC-B8D4-A11D-22E67821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12ABAA-7180-1926-257B-49005DF27A72}"/>
              </a:ext>
            </a:extLst>
          </p:cNvPr>
          <p:cNvSpPr/>
          <p:nvPr/>
        </p:nvSpPr>
        <p:spPr>
          <a:xfrm>
            <a:off x="1108165" y="1461607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Input: </a:t>
            </a:r>
            <a:r>
              <a:rPr lang="en-US" sz="1200" dirty="0">
                <a:solidFill>
                  <a:schemeClr val="tx1"/>
                </a:solidFill>
              </a:rPr>
              <a:t>step_4_feed_search_results.json + step_1_feed_recommendation.json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6526B9-E649-B070-782D-D61CF323AE1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136864" y="1978281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AB64D7-D5D6-ECF4-6853-F18F8D745456}"/>
              </a:ext>
            </a:extLst>
          </p:cNvPr>
          <p:cNvSpPr/>
          <p:nvPr/>
        </p:nvSpPr>
        <p:spPr>
          <a:xfrm>
            <a:off x="3414866" y="1461607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 </a:t>
            </a:r>
            <a:r>
              <a:rPr lang="en-US" sz="1200" b="1" dirty="0">
                <a:solidFill>
                  <a:schemeClr val="tx1"/>
                </a:solidFill>
              </a:rPr>
              <a:t>Gemini 2.0</a:t>
            </a:r>
            <a:r>
              <a:rPr lang="en-US" sz="1200" dirty="0">
                <a:solidFill>
                  <a:schemeClr val="tx1"/>
                </a:solidFill>
              </a:rPr>
              <a:t> Flash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AA7BBE-6200-04AB-E972-106A4A63E27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43565" y="1978281"/>
            <a:ext cx="2414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782D6A-4647-A2BD-EB74-B79AE949E882}"/>
              </a:ext>
            </a:extLst>
          </p:cNvPr>
          <p:cNvSpPr/>
          <p:nvPr/>
        </p:nvSpPr>
        <p:spPr>
          <a:xfrm>
            <a:off x="5685049" y="1461608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Compare at least </a:t>
            </a:r>
            <a:r>
              <a:rPr lang="en-US" sz="1200" b="1" dirty="0">
                <a:solidFill>
                  <a:schemeClr val="tx1"/>
                </a:solidFill>
              </a:rPr>
              <a:t>3 products </a:t>
            </a:r>
            <a:r>
              <a:rPr lang="en-US" sz="1200" dirty="0">
                <a:solidFill>
                  <a:schemeClr val="tx1"/>
                </a:solidFill>
              </a:rPr>
              <a:t>to ideal feed formulation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123D15-4AC2-9E76-1504-18DBEC6722B8}"/>
              </a:ext>
            </a:extLst>
          </p:cNvPr>
          <p:cNvSpPr/>
          <p:nvPr/>
        </p:nvSpPr>
        <p:spPr>
          <a:xfrm>
            <a:off x="1108165" y="3011627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Pick </a:t>
            </a:r>
            <a:r>
              <a:rPr lang="en-US" sz="1200" b="1" dirty="0">
                <a:solidFill>
                  <a:schemeClr val="tx1"/>
                </a:solidFill>
              </a:rPr>
              <a:t>best match</a:t>
            </a:r>
            <a:r>
              <a:rPr lang="en-US" sz="1200" dirty="0">
                <a:solidFill>
                  <a:schemeClr val="tx1"/>
                </a:solidFill>
              </a:rPr>
              <a:t> based on nutrition, rating, URL, </a:t>
            </a:r>
            <a:r>
              <a:rPr lang="en-US" sz="1200" dirty="0" err="1">
                <a:solidFill>
                  <a:schemeClr val="tx1"/>
                </a:solidFill>
              </a:rPr>
              <a:t>match_reason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9B5EBC-CDE3-D5B7-5EA1-A54D42AC37CD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3136864" y="3528301"/>
            <a:ext cx="2780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76A64B-56B5-E891-6952-DDDBE4978CA0}"/>
              </a:ext>
            </a:extLst>
          </p:cNvPr>
          <p:cNvSpPr/>
          <p:nvPr/>
        </p:nvSpPr>
        <p:spPr>
          <a:xfrm>
            <a:off x="3414866" y="3011627"/>
            <a:ext cx="2028699" cy="1033347"/>
          </a:xfrm>
          <a:prstGeom prst="roundRect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Final Output: </a:t>
            </a:r>
            <a:r>
              <a:rPr lang="en-US" sz="1200" dirty="0">
                <a:solidFill>
                  <a:schemeClr val="tx1"/>
                </a:solidFill>
              </a:rPr>
              <a:t>Best Feed Recommendation Report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417186-9C1A-8422-42B2-E9D889C8F6D2}"/>
              </a:ext>
            </a:extLst>
          </p:cNvPr>
          <p:cNvCxnSpPr>
            <a:cxnSpLocks/>
          </p:cNvCxnSpPr>
          <p:nvPr/>
        </p:nvCxnSpPr>
        <p:spPr>
          <a:xfrm>
            <a:off x="8954364" y="2494955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210F4F-1649-6C26-868D-A8963614666A}"/>
              </a:ext>
            </a:extLst>
          </p:cNvPr>
          <p:cNvCxnSpPr>
            <a:cxnSpLocks/>
          </p:cNvCxnSpPr>
          <p:nvPr/>
        </p:nvCxnSpPr>
        <p:spPr>
          <a:xfrm>
            <a:off x="6747309" y="2494955"/>
            <a:ext cx="0" cy="287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01BFCA-0D56-0F4B-583B-BD69E12F6E73}"/>
              </a:ext>
            </a:extLst>
          </p:cNvPr>
          <p:cNvCxnSpPr>
            <a:cxnSpLocks/>
          </p:cNvCxnSpPr>
          <p:nvPr/>
        </p:nvCxnSpPr>
        <p:spPr>
          <a:xfrm flipH="1" flipV="1">
            <a:off x="2111296" y="2759991"/>
            <a:ext cx="4636013" cy="2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F5D340-B2B0-B9DB-8BCD-B239CD4F2AF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122515" y="2758068"/>
            <a:ext cx="0" cy="253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D3260FC-2889-61B3-AB50-26B6F7D314FD}"/>
              </a:ext>
            </a:extLst>
          </p:cNvPr>
          <p:cNvSpPr/>
          <p:nvPr/>
        </p:nvSpPr>
        <p:spPr>
          <a:xfrm>
            <a:off x="1" y="284118"/>
            <a:ext cx="4667026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  <a:ea typeface="+mn-lt"/>
                <a:cs typeface="Archivo Black"/>
              </a:rPr>
              <a:t>12 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Recommended Agent</a:t>
            </a:r>
          </a:p>
        </p:txBody>
      </p:sp>
    </p:spTree>
    <p:extLst>
      <p:ext uri="{BB962C8B-B14F-4D97-AF65-F5344CB8AC3E}">
        <p14:creationId xmlns:p14="http://schemas.microsoft.com/office/powerpoint/2010/main" val="752381742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39F12635-539D-0318-2915-4E996198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032D522-3D5E-CBCC-B909-2965CEEE8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860" y="1163412"/>
            <a:ext cx="8357615" cy="29995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A68684-0A8F-6A8C-1487-9CD2B809EC7E}"/>
              </a:ext>
            </a:extLst>
          </p:cNvPr>
          <p:cNvSpPr/>
          <p:nvPr/>
        </p:nvSpPr>
        <p:spPr>
          <a:xfrm>
            <a:off x="0" y="284118"/>
            <a:ext cx="4886959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rgbClr val="092241"/>
                </a:solidFill>
                <a:latin typeface="Archivo Black"/>
                <a:ea typeface="+mn-lt"/>
                <a:cs typeface="Archivo Black"/>
              </a:rPr>
              <a:t>12 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Architecture Overview </a:t>
            </a:r>
          </a:p>
        </p:txBody>
      </p:sp>
    </p:spTree>
    <p:extLst>
      <p:ext uri="{BB962C8B-B14F-4D97-AF65-F5344CB8AC3E}">
        <p14:creationId xmlns:p14="http://schemas.microsoft.com/office/powerpoint/2010/main" val="114993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BAA70761-CA2C-4AF7-81F9-DE5E4B499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4C23F24-48F0-5B89-2DC3-9CE7C84EA576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A921C04D-DEA8-341C-4F80-A4892187F8B8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F5C05B0-337C-FA0B-965E-75E7DD7C0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8268" y="327314"/>
            <a:ext cx="4930485" cy="4817918"/>
          </a:xfrm>
          <a:prstGeom prst="rect">
            <a:avLst/>
          </a:prstGeom>
        </p:spPr>
      </p:pic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FA03F96E-6C12-31D9-3A55-BEFFC4044A0A}"/>
              </a:ext>
            </a:extLst>
          </p:cNvPr>
          <p:cNvGrpSpPr/>
          <p:nvPr/>
        </p:nvGrpSpPr>
        <p:grpSpPr>
          <a:xfrm rot="5400000">
            <a:off x="5543222" y="1457107"/>
            <a:ext cx="4023360" cy="5628640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117D7FC1-3F63-A53A-5DDF-E7A5A69D3BF1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D09E5572-DBB3-3619-EC6A-7D7F02E71AE5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FFEFA9D8-C431-0992-3D84-A04DE90279AB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530B4355-5578-5C5E-E330-4F94C701E87B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818886D1-B7CA-727E-A429-FF0385891347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4FF77EED-7622-BEB7-90FF-DBD55B01A3A0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AE65D163-8FAC-D69C-0F6B-B1F0CB26A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675" y="12860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7200"/>
              <a:t>Datasets </a:t>
            </a:r>
            <a:endParaRPr lang="en" sz="7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3B17FB-9505-5792-DF65-D4E228B3529C}"/>
              </a:ext>
            </a:extLst>
          </p:cNvPr>
          <p:cNvSpPr/>
          <p:nvPr/>
        </p:nvSpPr>
        <p:spPr>
          <a:xfrm>
            <a:off x="1" y="318754"/>
            <a:ext cx="2368610" cy="7361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</a:rPr>
              <a:t>13 Datasets</a:t>
            </a:r>
            <a:endParaRPr lang="en-US" sz="3000" b="1" dirty="0">
              <a:solidFill>
                <a:schemeClr val="tx1"/>
              </a:solidFill>
              <a:latin typeface="Archivo Black"/>
              <a:cs typeface="Archiv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3848AD-26C5-2819-6F16-2056FFEC5EC9}"/>
              </a:ext>
            </a:extLst>
          </p:cNvPr>
          <p:cNvSpPr/>
          <p:nvPr/>
        </p:nvSpPr>
        <p:spPr>
          <a:xfrm>
            <a:off x="639319" y="249537"/>
            <a:ext cx="1822650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17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29505453-6DAD-F3CE-0754-9A16BAB6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3B261429-F01C-272F-938D-3FA1858A5EAD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BD1A6-D3CE-F161-1D0E-E160B3384CAF}"/>
              </a:ext>
            </a:extLst>
          </p:cNvPr>
          <p:cNvSpPr/>
          <p:nvPr/>
        </p:nvSpPr>
        <p:spPr>
          <a:xfrm>
            <a:off x="5372718" y="4461114"/>
            <a:ext cx="2304581" cy="5197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oogle Shape;516;p34">
            <a:extLst>
              <a:ext uri="{FF2B5EF4-FFF2-40B4-BE49-F238E27FC236}">
                <a16:creationId xmlns:a16="http://schemas.microsoft.com/office/drawing/2014/main" id="{5E6C7F8A-5DAC-B900-15AE-ED0F3A4E24FC}"/>
              </a:ext>
            </a:extLst>
          </p:cNvPr>
          <p:cNvGrpSpPr/>
          <p:nvPr/>
        </p:nvGrpSpPr>
        <p:grpSpPr>
          <a:xfrm>
            <a:off x="4998876" y="-779290"/>
            <a:ext cx="6500023" cy="5834479"/>
            <a:chOff x="4955884" y="-316480"/>
            <a:chExt cx="5635916" cy="5448561"/>
          </a:xfrm>
        </p:grpSpPr>
        <p:sp>
          <p:nvSpPr>
            <p:cNvPr id="4" name="Google Shape;517;p34">
              <a:extLst>
                <a:ext uri="{FF2B5EF4-FFF2-40B4-BE49-F238E27FC236}">
                  <a16:creationId xmlns:a16="http://schemas.microsoft.com/office/drawing/2014/main" id="{3CABAC17-7130-7C79-78DB-4CF173410708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8;p34">
              <a:extLst>
                <a:ext uri="{FF2B5EF4-FFF2-40B4-BE49-F238E27FC236}">
                  <a16:creationId xmlns:a16="http://schemas.microsoft.com/office/drawing/2014/main" id="{86C146CA-366F-A1C1-E571-E2E0A569434A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9;p34">
              <a:extLst>
                <a:ext uri="{FF2B5EF4-FFF2-40B4-BE49-F238E27FC236}">
                  <a16:creationId xmlns:a16="http://schemas.microsoft.com/office/drawing/2014/main" id="{9676D3CB-5DCE-A26C-1B76-5AC6DDA8BB26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0;p34">
              <a:extLst>
                <a:ext uri="{FF2B5EF4-FFF2-40B4-BE49-F238E27FC236}">
                  <a16:creationId xmlns:a16="http://schemas.microsoft.com/office/drawing/2014/main" id="{23BF945E-225B-7E32-EED4-8934E3BDD8A4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21;p34">
              <a:extLst>
                <a:ext uri="{FF2B5EF4-FFF2-40B4-BE49-F238E27FC236}">
                  <a16:creationId xmlns:a16="http://schemas.microsoft.com/office/drawing/2014/main" id="{D66DBC87-EFAF-E566-5CDC-0BE6923760ED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22;p34">
              <a:extLst>
                <a:ext uri="{FF2B5EF4-FFF2-40B4-BE49-F238E27FC236}">
                  <a16:creationId xmlns:a16="http://schemas.microsoft.com/office/drawing/2014/main" id="{AE2F7085-97E8-7295-140A-3EBC9891D96C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3382852-8661-05FD-1A10-DB07076ECCBF}"/>
              </a:ext>
            </a:extLst>
          </p:cNvPr>
          <p:cNvSpPr/>
          <p:nvPr/>
        </p:nvSpPr>
        <p:spPr>
          <a:xfrm>
            <a:off x="1" y="318754"/>
            <a:ext cx="2368610" cy="7361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13 Datasets </a:t>
            </a:r>
            <a:endParaRPr lang="en-US" sz="3000" b="1" dirty="0">
              <a:solidFill>
                <a:schemeClr val="tx1"/>
              </a:solidFill>
              <a:latin typeface="Archivo Black"/>
              <a:cs typeface="Archiv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67671-7097-EA68-C84F-2BC2EF3BD508}"/>
              </a:ext>
            </a:extLst>
          </p:cNvPr>
          <p:cNvSpPr txBox="1"/>
          <p:nvPr/>
        </p:nvSpPr>
        <p:spPr>
          <a:xfrm>
            <a:off x="1132163" y="1319587"/>
            <a:ext cx="20873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Cows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C0A6A1-1F46-B66D-D368-EA2495513B79}"/>
              </a:ext>
            </a:extLst>
          </p:cNvPr>
          <p:cNvSpPr/>
          <p:nvPr/>
        </p:nvSpPr>
        <p:spPr>
          <a:xfrm>
            <a:off x="2367067" y="249537"/>
            <a:ext cx="1822650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002820-A004-0FF1-32F2-894858E67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841" y="1877922"/>
            <a:ext cx="1240048" cy="12400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91CA98-0294-8FB1-E816-F0E74B9A7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827" y="1877922"/>
            <a:ext cx="1242049" cy="1240049"/>
          </a:xfrm>
          <a:prstGeom prst="rect">
            <a:avLst/>
          </a:prstGeom>
        </p:spPr>
      </p:pic>
      <p:pic>
        <p:nvPicPr>
          <p:cNvPr id="34" name="Picture 33" descr="A cow standing on a concrete surface&#10;&#10;AI-generated content may be incorrect.">
            <a:extLst>
              <a:ext uri="{FF2B5EF4-FFF2-40B4-BE49-F238E27FC236}">
                <a16:creationId xmlns:a16="http://schemas.microsoft.com/office/drawing/2014/main" id="{0BA6B65A-511F-AEFE-7613-E7A68FBE3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2842" y="3387545"/>
            <a:ext cx="1240049" cy="1240048"/>
          </a:xfrm>
          <a:prstGeom prst="rect">
            <a:avLst/>
          </a:prstGeom>
        </p:spPr>
      </p:pic>
      <p:pic>
        <p:nvPicPr>
          <p:cNvPr id="35" name="Picture 34" descr="A group of cows standing on a concrete floor&#10;&#10;AI-generated content may be incorrect.">
            <a:extLst>
              <a:ext uri="{FF2B5EF4-FFF2-40B4-BE49-F238E27FC236}">
                <a16:creationId xmlns:a16="http://schemas.microsoft.com/office/drawing/2014/main" id="{C1019742-5531-B38F-9D17-722A082190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94" b="3309"/>
          <a:stretch>
            <a:fillRect/>
          </a:stretch>
        </p:blipFill>
        <p:spPr>
          <a:xfrm>
            <a:off x="3762219" y="3387546"/>
            <a:ext cx="1240136" cy="1242145"/>
          </a:xfrm>
          <a:prstGeom prst="rect">
            <a:avLst/>
          </a:prstGeom>
        </p:spPr>
      </p:pic>
      <p:pic>
        <p:nvPicPr>
          <p:cNvPr id="36" name="Picture 35" descr="A cow standing on a concrete surface&#10;&#10;AI-generated content may be incorrect.">
            <a:extLst>
              <a:ext uri="{FF2B5EF4-FFF2-40B4-BE49-F238E27FC236}">
                <a16:creationId xmlns:a16="http://schemas.microsoft.com/office/drawing/2014/main" id="{000D6730-5D17-CC27-04C0-6C6FC1285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3163" y="1885067"/>
            <a:ext cx="1244260" cy="1232906"/>
          </a:xfrm>
          <a:prstGeom prst="rect">
            <a:avLst/>
          </a:prstGeom>
        </p:spPr>
      </p:pic>
      <p:pic>
        <p:nvPicPr>
          <p:cNvPr id="37" name="Picture 36" descr="A group of cows grazing on grass&#10;&#10;AI-generated content may be incorrect.">
            <a:extLst>
              <a:ext uri="{FF2B5EF4-FFF2-40B4-BE49-F238E27FC236}">
                <a16:creationId xmlns:a16="http://schemas.microsoft.com/office/drawing/2014/main" id="{DD5B9FD6-0F11-6277-155D-FA3B0F4F18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41" t="2804" r="-141" b="-11"/>
          <a:stretch>
            <a:fillRect/>
          </a:stretch>
        </p:blipFill>
        <p:spPr>
          <a:xfrm>
            <a:off x="5703163" y="3387546"/>
            <a:ext cx="1244124" cy="1240263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1AD6918-E55A-D07D-7D86-F2165A8438DF}"/>
              </a:ext>
            </a:extLst>
          </p:cNvPr>
          <p:cNvCxnSpPr>
            <a:cxnSpLocks/>
          </p:cNvCxnSpPr>
          <p:nvPr/>
        </p:nvCxnSpPr>
        <p:spPr>
          <a:xfrm flipH="1" flipV="1">
            <a:off x="1128890" y="3216896"/>
            <a:ext cx="6630920" cy="33510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107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DB528B98-E259-828B-FDA7-041FC202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8066874F-699D-11DE-ED5D-2179ED8F5FE9}"/>
              </a:ext>
            </a:extLst>
          </p:cNvPr>
          <p:cNvSpPr/>
          <p:nvPr/>
        </p:nvSpPr>
        <p:spPr>
          <a:xfrm rot="-8100000" flipH="1">
            <a:off x="7675121" y="357858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E24C68-7588-4355-051F-C9A8A0F6BD28}"/>
              </a:ext>
            </a:extLst>
          </p:cNvPr>
          <p:cNvSpPr/>
          <p:nvPr/>
        </p:nvSpPr>
        <p:spPr>
          <a:xfrm>
            <a:off x="5372718" y="4461114"/>
            <a:ext cx="2304581" cy="5197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9445F-4754-0500-11EF-8C39466B7094}"/>
              </a:ext>
            </a:extLst>
          </p:cNvPr>
          <p:cNvSpPr/>
          <p:nvPr/>
        </p:nvSpPr>
        <p:spPr>
          <a:xfrm>
            <a:off x="1" y="318754"/>
            <a:ext cx="2368610" cy="7361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</a:rPr>
              <a:t>13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Datasets </a:t>
            </a:r>
            <a:endParaRPr lang="en-US" sz="3000" b="1" dirty="0">
              <a:solidFill>
                <a:schemeClr val="tx1"/>
              </a:solidFill>
              <a:latin typeface="Archivo Black"/>
              <a:cs typeface="Archiv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27A6F-4723-4B30-7E08-FFF0D7DB0CD7}"/>
              </a:ext>
            </a:extLst>
          </p:cNvPr>
          <p:cNvSpPr txBox="1"/>
          <p:nvPr/>
        </p:nvSpPr>
        <p:spPr>
          <a:xfrm>
            <a:off x="939123" y="1461827"/>
            <a:ext cx="20873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Lumpy Skin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EFBAC-2761-45CE-C16F-B3B95F352579}"/>
              </a:ext>
            </a:extLst>
          </p:cNvPr>
          <p:cNvSpPr txBox="1"/>
          <p:nvPr/>
        </p:nvSpPr>
        <p:spPr>
          <a:xfrm>
            <a:off x="5229722" y="1461827"/>
            <a:ext cx="208738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Mastitis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1896F-F78B-D2A3-0928-BC95F5E41B07}"/>
              </a:ext>
            </a:extLst>
          </p:cNvPr>
          <p:cNvSpPr txBox="1"/>
          <p:nvPr/>
        </p:nvSpPr>
        <p:spPr>
          <a:xfrm>
            <a:off x="314794" y="2271416"/>
            <a:ext cx="1047438" cy="3479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Lumpy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9C9A5-DCA3-C6EF-5CDE-686BD834D476}"/>
              </a:ext>
            </a:extLst>
          </p:cNvPr>
          <p:cNvSpPr txBox="1"/>
          <p:nvPr/>
        </p:nvSpPr>
        <p:spPr>
          <a:xfrm>
            <a:off x="314795" y="3474012"/>
            <a:ext cx="9631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Normal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F3D6A-2905-1F91-24C8-3ECAC523351F}"/>
              </a:ext>
            </a:extLst>
          </p:cNvPr>
          <p:cNvSpPr txBox="1"/>
          <p:nvPr/>
        </p:nvSpPr>
        <p:spPr>
          <a:xfrm>
            <a:off x="4655564" y="2271416"/>
            <a:ext cx="10474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Mastitis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5A7E32-8FE2-BD4E-7E7E-F66411E13CDD}"/>
              </a:ext>
            </a:extLst>
          </p:cNvPr>
          <p:cNvSpPr txBox="1"/>
          <p:nvPr/>
        </p:nvSpPr>
        <p:spPr>
          <a:xfrm>
            <a:off x="4655564" y="3474663"/>
            <a:ext cx="96311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1"/>
                </a:solidFill>
              </a:rPr>
              <a:t>Normal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BC0E8D-9C8C-179F-26C6-C05B7FAC86BC}"/>
              </a:ext>
            </a:extLst>
          </p:cNvPr>
          <p:cNvCxnSpPr/>
          <p:nvPr/>
        </p:nvCxnSpPr>
        <p:spPr>
          <a:xfrm>
            <a:off x="1219018" y="2096683"/>
            <a:ext cx="9921" cy="2380088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798E06-ADF8-C268-AC02-1D2A5C456719}"/>
              </a:ext>
            </a:extLst>
          </p:cNvPr>
          <p:cNvCxnSpPr>
            <a:cxnSpLocks/>
          </p:cNvCxnSpPr>
          <p:nvPr/>
        </p:nvCxnSpPr>
        <p:spPr>
          <a:xfrm>
            <a:off x="5568766" y="2096683"/>
            <a:ext cx="9921" cy="2380088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A49145-ECAF-6395-6D93-849D2C49EE97}"/>
              </a:ext>
            </a:extLst>
          </p:cNvPr>
          <p:cNvCxnSpPr>
            <a:cxnSpLocks/>
          </p:cNvCxnSpPr>
          <p:nvPr/>
        </p:nvCxnSpPr>
        <p:spPr>
          <a:xfrm flipH="1" flipV="1">
            <a:off x="332001" y="3286147"/>
            <a:ext cx="3784204" cy="1161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3F6BC7-360D-F9A0-12DD-E02F50E8791D}"/>
              </a:ext>
            </a:extLst>
          </p:cNvPr>
          <p:cNvCxnSpPr>
            <a:cxnSpLocks/>
          </p:cNvCxnSpPr>
          <p:nvPr/>
        </p:nvCxnSpPr>
        <p:spPr>
          <a:xfrm flipH="1">
            <a:off x="4634127" y="3279370"/>
            <a:ext cx="3855641" cy="14713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C549A85-A283-6DEC-26A1-4D6F928AB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62" y="2281000"/>
            <a:ext cx="1379536" cy="903288"/>
          </a:xfrm>
          <a:prstGeom prst="rect">
            <a:avLst/>
          </a:prstGeom>
        </p:spPr>
      </p:pic>
      <p:pic>
        <p:nvPicPr>
          <p:cNvPr id="23" name="Picture 22" descr="A cow standing in a field&#10;&#10;AI-generated content may be incorrect.">
            <a:extLst>
              <a:ext uri="{FF2B5EF4-FFF2-40B4-BE49-F238E27FC236}">
                <a16:creationId xmlns:a16="http://schemas.microsoft.com/office/drawing/2014/main" id="{36B02735-F2DA-9169-8735-0E7934052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359" y="2281792"/>
            <a:ext cx="1381127" cy="901701"/>
          </a:xfrm>
          <a:prstGeom prst="rect">
            <a:avLst/>
          </a:prstGeom>
        </p:spPr>
      </p:pic>
      <p:pic>
        <p:nvPicPr>
          <p:cNvPr id="24" name="Picture 23" descr="A cow standing in a field&#10;&#10;AI-generated content may be incorrect.">
            <a:extLst>
              <a:ext uri="{FF2B5EF4-FFF2-40B4-BE49-F238E27FC236}">
                <a16:creationId xmlns:a16="http://schemas.microsoft.com/office/drawing/2014/main" id="{4FF2F491-8A2A-5C01-E68A-64C1B94AB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984" y="3367247"/>
            <a:ext cx="1373188" cy="933450"/>
          </a:xfrm>
          <a:prstGeom prst="rect">
            <a:avLst/>
          </a:prstGeom>
        </p:spPr>
      </p:pic>
      <p:pic>
        <p:nvPicPr>
          <p:cNvPr id="25" name="Picture 24" descr="A group of cows in a field&#10;&#10;AI-generated content may be incorrect.">
            <a:extLst>
              <a:ext uri="{FF2B5EF4-FFF2-40B4-BE49-F238E27FC236}">
                <a16:creationId xmlns:a16="http://schemas.microsoft.com/office/drawing/2014/main" id="{187D2EF3-7E24-0289-43C9-225F2ADC8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0343" y="3373199"/>
            <a:ext cx="1357314" cy="925513"/>
          </a:xfrm>
          <a:prstGeom prst="rect">
            <a:avLst/>
          </a:prstGeom>
        </p:spPr>
      </p:pic>
      <p:pic>
        <p:nvPicPr>
          <p:cNvPr id="26" name="Picture 25" descr="A close-up of a blister on a person&amp;#39;s leg&#10;&#10;AI-generated content may be incorrect.">
            <a:extLst>
              <a:ext uri="{FF2B5EF4-FFF2-40B4-BE49-F238E27FC236}">
                <a16:creationId xmlns:a16="http://schemas.microsoft.com/office/drawing/2014/main" id="{4420D8CD-910F-0CCB-A431-058EEF8D5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579" y="2279015"/>
            <a:ext cx="1373189" cy="911225"/>
          </a:xfrm>
          <a:prstGeom prst="rect">
            <a:avLst/>
          </a:prstGeom>
        </p:spPr>
      </p:pic>
      <p:pic>
        <p:nvPicPr>
          <p:cNvPr id="27" name="Picture 26" descr="A close-up of a cow&amp;#39;s udder&#10;&#10;AI-generated content may be incorrect.">
            <a:extLst>
              <a:ext uri="{FF2B5EF4-FFF2-40B4-BE49-F238E27FC236}">
                <a16:creationId xmlns:a16="http://schemas.microsoft.com/office/drawing/2014/main" id="{3FC0D564-BC1D-F5C4-2CB6-5F16AA7B5A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062" y="2265124"/>
            <a:ext cx="1357315" cy="919161"/>
          </a:xfrm>
          <a:prstGeom prst="rect">
            <a:avLst/>
          </a:prstGeom>
        </p:spPr>
      </p:pic>
      <p:pic>
        <p:nvPicPr>
          <p:cNvPr id="28" name="Picture 27" descr="A close up of a finger&#10;&#10;AI-generated content may be incorrect.">
            <a:extLst>
              <a:ext uri="{FF2B5EF4-FFF2-40B4-BE49-F238E27FC236}">
                <a16:creationId xmlns:a16="http://schemas.microsoft.com/office/drawing/2014/main" id="{B83F6F72-8AD6-289B-DC4A-E46FADD94C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4356" y="3368439"/>
            <a:ext cx="1371600" cy="927097"/>
          </a:xfrm>
          <a:prstGeom prst="rect">
            <a:avLst/>
          </a:prstGeom>
        </p:spPr>
      </p:pic>
      <p:pic>
        <p:nvPicPr>
          <p:cNvPr id="29" name="Picture 28" descr="Close up of a pink toenail&#10;&#10;AI-generated content may be incorrect.">
            <a:extLst>
              <a:ext uri="{FF2B5EF4-FFF2-40B4-BE49-F238E27FC236}">
                <a16:creationId xmlns:a16="http://schemas.microsoft.com/office/drawing/2014/main" id="{54EF961A-1E07-0A3E-D46F-E60FD7D7A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56" y="3368438"/>
            <a:ext cx="1355725" cy="9270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0DD0764-9F87-DDF2-A0A1-19D813497942}"/>
              </a:ext>
            </a:extLst>
          </p:cNvPr>
          <p:cNvSpPr/>
          <p:nvPr/>
        </p:nvSpPr>
        <p:spPr>
          <a:xfrm>
            <a:off x="2367067" y="249537"/>
            <a:ext cx="1822650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oogle Shape;516;p34">
            <a:extLst>
              <a:ext uri="{FF2B5EF4-FFF2-40B4-BE49-F238E27FC236}">
                <a16:creationId xmlns:a16="http://schemas.microsoft.com/office/drawing/2014/main" id="{C2F65D67-E177-98B1-1992-165745F63232}"/>
              </a:ext>
            </a:extLst>
          </p:cNvPr>
          <p:cNvGrpSpPr/>
          <p:nvPr/>
        </p:nvGrpSpPr>
        <p:grpSpPr>
          <a:xfrm>
            <a:off x="5862983" y="-393372"/>
            <a:ext cx="5635916" cy="5448561"/>
            <a:chOff x="4955884" y="-316480"/>
            <a:chExt cx="5635916" cy="5448561"/>
          </a:xfrm>
        </p:grpSpPr>
        <p:sp>
          <p:nvSpPr>
            <p:cNvPr id="30" name="Google Shape;517;p34">
              <a:extLst>
                <a:ext uri="{FF2B5EF4-FFF2-40B4-BE49-F238E27FC236}">
                  <a16:creationId xmlns:a16="http://schemas.microsoft.com/office/drawing/2014/main" id="{E51346D5-1A6B-2F0C-0A9F-E157A3F4DAA2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8;p34">
              <a:extLst>
                <a:ext uri="{FF2B5EF4-FFF2-40B4-BE49-F238E27FC236}">
                  <a16:creationId xmlns:a16="http://schemas.microsoft.com/office/drawing/2014/main" id="{E813EFCB-165B-D366-7922-5F9B6F07BFE0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19;p34">
              <a:extLst>
                <a:ext uri="{FF2B5EF4-FFF2-40B4-BE49-F238E27FC236}">
                  <a16:creationId xmlns:a16="http://schemas.microsoft.com/office/drawing/2014/main" id="{AF8453FA-DF28-2D0C-4D98-0C6AED25871E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20;p34">
              <a:extLst>
                <a:ext uri="{FF2B5EF4-FFF2-40B4-BE49-F238E27FC236}">
                  <a16:creationId xmlns:a16="http://schemas.microsoft.com/office/drawing/2014/main" id="{8B343B7E-2B9A-DB3E-69C1-2E1674B89625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21;p34">
              <a:extLst>
                <a:ext uri="{FF2B5EF4-FFF2-40B4-BE49-F238E27FC236}">
                  <a16:creationId xmlns:a16="http://schemas.microsoft.com/office/drawing/2014/main" id="{9CAE3E9B-E1D1-65F6-BC9E-72BA4EA77328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2;p34">
              <a:extLst>
                <a:ext uri="{FF2B5EF4-FFF2-40B4-BE49-F238E27FC236}">
                  <a16:creationId xmlns:a16="http://schemas.microsoft.com/office/drawing/2014/main" id="{53A62B9A-D8B0-1AC5-1758-2462E919A89A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044825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EDDA01E1-A632-59B7-9CE9-4E07262E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tanding next to a microscope&#10;&#10;AI-generated content may be incorrect.">
            <a:extLst>
              <a:ext uri="{FF2B5EF4-FFF2-40B4-BE49-F238E27FC236}">
                <a16:creationId xmlns:a16="http://schemas.microsoft.com/office/drawing/2014/main" id="{471C9357-474F-67BB-8A69-40CA3093C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6" t="1948" r="-180" b="-53"/>
          <a:stretch>
            <a:fillRect/>
          </a:stretch>
        </p:blipFill>
        <p:spPr>
          <a:xfrm>
            <a:off x="4699046" y="1177416"/>
            <a:ext cx="4148514" cy="4037661"/>
          </a:xfrm>
          <a:prstGeom prst="rect">
            <a:avLst/>
          </a:prstGeom>
        </p:spPr>
      </p:pic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F50EB5F9-A9F5-9B81-5EE7-6EA20AEB96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354" y="1641637"/>
            <a:ext cx="4940446" cy="3109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7200"/>
              <a:t>Disease Detection</a:t>
            </a:r>
            <a:endParaRPr lang="en" sz="7200"/>
          </a:p>
        </p:txBody>
      </p:sp>
      <p:grpSp>
        <p:nvGrpSpPr>
          <p:cNvPr id="15" name="Google Shape;516;p34">
            <a:extLst>
              <a:ext uri="{FF2B5EF4-FFF2-40B4-BE49-F238E27FC236}">
                <a16:creationId xmlns:a16="http://schemas.microsoft.com/office/drawing/2014/main" id="{7EF34E51-538D-16F7-82FA-85DC47487D96}"/>
              </a:ext>
            </a:extLst>
          </p:cNvPr>
          <p:cNvGrpSpPr/>
          <p:nvPr/>
        </p:nvGrpSpPr>
        <p:grpSpPr>
          <a:xfrm>
            <a:off x="5883303" y="-332412"/>
            <a:ext cx="5635916" cy="5448561"/>
            <a:chOff x="4955884" y="-316480"/>
            <a:chExt cx="5635916" cy="5448561"/>
          </a:xfrm>
        </p:grpSpPr>
        <p:sp>
          <p:nvSpPr>
            <p:cNvPr id="4" name="Google Shape;517;p34">
              <a:extLst>
                <a:ext uri="{FF2B5EF4-FFF2-40B4-BE49-F238E27FC236}">
                  <a16:creationId xmlns:a16="http://schemas.microsoft.com/office/drawing/2014/main" id="{EBECE6BE-BA16-7A43-DC7C-F9C3767A3B0B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18;p34">
              <a:extLst>
                <a:ext uri="{FF2B5EF4-FFF2-40B4-BE49-F238E27FC236}">
                  <a16:creationId xmlns:a16="http://schemas.microsoft.com/office/drawing/2014/main" id="{61F95DCE-D882-E24A-7845-7EE3BD17F8ED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19;p34">
              <a:extLst>
                <a:ext uri="{FF2B5EF4-FFF2-40B4-BE49-F238E27FC236}">
                  <a16:creationId xmlns:a16="http://schemas.microsoft.com/office/drawing/2014/main" id="{51F086EB-F123-F1CD-D44C-11529F278A0A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0;p34">
              <a:extLst>
                <a:ext uri="{FF2B5EF4-FFF2-40B4-BE49-F238E27FC236}">
                  <a16:creationId xmlns:a16="http://schemas.microsoft.com/office/drawing/2014/main" id="{22A23720-68F4-D319-CE30-3EF83DCF3C7D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1;p34">
              <a:extLst>
                <a:ext uri="{FF2B5EF4-FFF2-40B4-BE49-F238E27FC236}">
                  <a16:creationId xmlns:a16="http://schemas.microsoft.com/office/drawing/2014/main" id="{887CEDD4-C6C8-0EC2-D0EB-877C4062086E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2;p34">
              <a:extLst>
                <a:ext uri="{FF2B5EF4-FFF2-40B4-BE49-F238E27FC236}">
                  <a16:creationId xmlns:a16="http://schemas.microsoft.com/office/drawing/2014/main" id="{9C2D655C-B558-3A3C-E73D-289004EB7C2F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D429DD5-E443-8DB8-BFF1-C4B2D59CF58E}"/>
              </a:ext>
            </a:extLst>
          </p:cNvPr>
          <p:cNvSpPr/>
          <p:nvPr/>
        </p:nvSpPr>
        <p:spPr>
          <a:xfrm>
            <a:off x="1" y="268878"/>
            <a:ext cx="5451741" cy="828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3000" dirty="0">
              <a:solidFill>
                <a:schemeClr val="tx1"/>
              </a:solidFill>
              <a:latin typeface="Archivo Black"/>
              <a:cs typeface="Archivo Black"/>
            </a:endParaRPr>
          </a:p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14 Disease Detection Models</a:t>
            </a:r>
          </a:p>
          <a:p>
            <a:endParaRPr lang="en-US" sz="3000" dirty="0">
              <a:solidFill>
                <a:schemeClr val="tx1"/>
              </a:solidFill>
              <a:latin typeface="Archivo Black"/>
              <a:cs typeface="Archivo Black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74C38-EE14-D5FA-33B7-539FBB74A484}"/>
              </a:ext>
            </a:extLst>
          </p:cNvPr>
          <p:cNvSpPr/>
          <p:nvPr/>
        </p:nvSpPr>
        <p:spPr>
          <a:xfrm>
            <a:off x="646939" y="211437"/>
            <a:ext cx="5297370" cy="1058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4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3A2EABBA-58F4-AC82-20DB-9A5560AE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29CE1374-A0D3-613B-53FE-512ACDE7BAFC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516;p34">
            <a:extLst>
              <a:ext uri="{FF2B5EF4-FFF2-40B4-BE49-F238E27FC236}">
                <a16:creationId xmlns:a16="http://schemas.microsoft.com/office/drawing/2014/main" id="{746EDF64-3F05-FA43-5727-BAF348B05D90}"/>
              </a:ext>
            </a:extLst>
          </p:cNvPr>
          <p:cNvGrpSpPr/>
          <p:nvPr/>
        </p:nvGrpSpPr>
        <p:grpSpPr>
          <a:xfrm rot="5400000">
            <a:off x="6630476" y="2519014"/>
            <a:ext cx="3119761" cy="3184604"/>
            <a:chOff x="4955884" y="-316480"/>
            <a:chExt cx="5635916" cy="5448561"/>
          </a:xfrm>
        </p:grpSpPr>
        <p:sp>
          <p:nvSpPr>
            <p:cNvPr id="4" name="Google Shape;517;p34">
              <a:extLst>
                <a:ext uri="{FF2B5EF4-FFF2-40B4-BE49-F238E27FC236}">
                  <a16:creationId xmlns:a16="http://schemas.microsoft.com/office/drawing/2014/main" id="{43484568-A7BF-1343-AA54-9B9D74693776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18;p34">
              <a:extLst>
                <a:ext uri="{FF2B5EF4-FFF2-40B4-BE49-F238E27FC236}">
                  <a16:creationId xmlns:a16="http://schemas.microsoft.com/office/drawing/2014/main" id="{499DB752-3222-99AB-7F26-5A2B2008AB77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19;p34">
              <a:extLst>
                <a:ext uri="{FF2B5EF4-FFF2-40B4-BE49-F238E27FC236}">
                  <a16:creationId xmlns:a16="http://schemas.microsoft.com/office/drawing/2014/main" id="{6258B436-25E4-30DD-3BD2-F7EEEC243810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20;p34">
              <a:extLst>
                <a:ext uri="{FF2B5EF4-FFF2-40B4-BE49-F238E27FC236}">
                  <a16:creationId xmlns:a16="http://schemas.microsoft.com/office/drawing/2014/main" id="{D7DC7847-5598-CF20-026F-37E8673CC991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21;p34">
              <a:extLst>
                <a:ext uri="{FF2B5EF4-FFF2-40B4-BE49-F238E27FC236}">
                  <a16:creationId xmlns:a16="http://schemas.microsoft.com/office/drawing/2014/main" id="{371F3B8C-50D9-E560-696D-7B8E52E5D3CB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22;p34">
              <a:extLst>
                <a:ext uri="{FF2B5EF4-FFF2-40B4-BE49-F238E27FC236}">
                  <a16:creationId xmlns:a16="http://schemas.microsoft.com/office/drawing/2014/main" id="{14F3DF45-32CC-14ED-DB5B-F309460B1C83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4A1BBAF-0EE3-76F3-F32F-A955125F28D7}"/>
              </a:ext>
            </a:extLst>
          </p:cNvPr>
          <p:cNvSpPr/>
          <p:nvPr/>
        </p:nvSpPr>
        <p:spPr>
          <a:xfrm>
            <a:off x="1" y="268878"/>
            <a:ext cx="5451741" cy="8286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3000" dirty="0">
              <a:solidFill>
                <a:schemeClr val="tx1"/>
              </a:solidFill>
              <a:latin typeface="Archivo Black"/>
              <a:cs typeface="Archivo Black"/>
            </a:endParaRPr>
          </a:p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14 Disease Detection Models</a:t>
            </a:r>
          </a:p>
          <a:p>
            <a:endParaRPr lang="en-US" sz="3000" dirty="0">
              <a:solidFill>
                <a:schemeClr val="tx1"/>
              </a:solidFill>
              <a:latin typeface="Archivo Black"/>
              <a:cs typeface="Archivo Blac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53F0C7-9F35-6063-5083-984827520B31}"/>
              </a:ext>
            </a:extLst>
          </p:cNvPr>
          <p:cNvSpPr txBox="1"/>
          <p:nvPr/>
        </p:nvSpPr>
        <p:spPr>
          <a:xfrm>
            <a:off x="5210659" y="2554098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Disease Classification Model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EDF99B-E9B8-E1F1-1659-B7AC29C431E0}"/>
              </a:ext>
            </a:extLst>
          </p:cNvPr>
          <p:cNvSpPr txBox="1"/>
          <p:nvPr/>
        </p:nvSpPr>
        <p:spPr>
          <a:xfrm>
            <a:off x="875657" y="2551435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>
                <a:solidFill>
                  <a:srgbClr val="002060"/>
                </a:solidFill>
              </a:rPr>
              <a:t>Cow Detection</a:t>
            </a:r>
            <a:r>
              <a:rPr lang="en-US" sz="1800" b="0" i="0">
                <a:solidFill>
                  <a:srgbClr val="002060"/>
                </a:solidFill>
                <a:effectLst/>
              </a:rPr>
              <a:t> </a:t>
            </a:r>
            <a:r>
              <a:rPr lang="en-US" sz="1800">
                <a:solidFill>
                  <a:srgbClr val="002060"/>
                </a:solidFill>
              </a:rPr>
              <a:t>Model</a:t>
            </a:r>
            <a:endParaRPr lang="en-US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1D072F-0BA2-B1A4-6FE0-9FC90C88D9C3}"/>
              </a:ext>
            </a:extLst>
          </p:cNvPr>
          <p:cNvSpPr txBox="1"/>
          <p:nvPr/>
        </p:nvSpPr>
        <p:spPr>
          <a:xfrm>
            <a:off x="3162848" y="4125756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Report Generation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0" name="Picture 29" descr="A blue line drawing of a cow&#10;&#10;AI-generated content may be incorrect.">
            <a:extLst>
              <a:ext uri="{FF2B5EF4-FFF2-40B4-BE49-F238E27FC236}">
                <a16:creationId xmlns:a16="http://schemas.microsoft.com/office/drawing/2014/main" id="{DC9F318D-A8D1-0273-402D-8784150F57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39" r="6139"/>
          <a:stretch/>
        </p:blipFill>
        <p:spPr>
          <a:xfrm>
            <a:off x="1519518" y="1522796"/>
            <a:ext cx="767101" cy="874471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1" name="Picture 30" descr="A blue icon of a graph and pen&#10;&#10;AI-generated content may be incorrect.">
            <a:extLst>
              <a:ext uri="{FF2B5EF4-FFF2-40B4-BE49-F238E27FC236}">
                <a16:creationId xmlns:a16="http://schemas.microsoft.com/office/drawing/2014/main" id="{7E281B9C-A303-EDA0-696A-2AF72C5C25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91" r="3391"/>
          <a:stretch/>
        </p:blipFill>
        <p:spPr>
          <a:xfrm>
            <a:off x="3729553" y="3097116"/>
            <a:ext cx="842583" cy="874471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2" name="Picture 31" descr="A blue cow with horns and a white circle with purple dots&#10;&#10;AI-generated content may be incorrect.">
            <a:extLst>
              <a:ext uri="{FF2B5EF4-FFF2-40B4-BE49-F238E27FC236}">
                <a16:creationId xmlns:a16="http://schemas.microsoft.com/office/drawing/2014/main" id="{11735A81-ECA8-CFAC-4225-D3C05262FD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91" r="3391"/>
          <a:stretch/>
        </p:blipFill>
        <p:spPr>
          <a:xfrm>
            <a:off x="6150631" y="1525877"/>
            <a:ext cx="864148" cy="842122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33E93A0-8072-B8AB-4866-C3F2CB1679FE}"/>
              </a:ext>
            </a:extLst>
          </p:cNvPr>
          <p:cNvSpPr/>
          <p:nvPr/>
        </p:nvSpPr>
        <p:spPr>
          <a:xfrm>
            <a:off x="5452619" y="211437"/>
            <a:ext cx="5297370" cy="1058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8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69D10949-EBF7-10EC-81A1-37F21BFC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E3AA88-AB83-9D0E-0D82-3B4166D3F2AC}"/>
              </a:ext>
            </a:extLst>
          </p:cNvPr>
          <p:cNvGrpSpPr/>
          <p:nvPr/>
        </p:nvGrpSpPr>
        <p:grpSpPr>
          <a:xfrm rot="16200000">
            <a:off x="7046565" y="-208666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737563FD-3573-37E2-EA50-B28BC38286C6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85E8839F-C95D-EFDA-A0F3-EEF2E72E84E4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DBB3821F-FD6A-306E-8CBB-A6A69B6113F5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22;p34">
              <a:extLst>
                <a:ext uri="{FF2B5EF4-FFF2-40B4-BE49-F238E27FC236}">
                  <a16:creationId xmlns:a16="http://schemas.microsoft.com/office/drawing/2014/main" id="{0B58D700-6C75-ADC0-626B-D8C34BA59EE3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96157DC-D2B3-B90C-291C-C9EF5BB65299}"/>
              </a:ext>
            </a:extLst>
          </p:cNvPr>
          <p:cNvSpPr txBox="1"/>
          <p:nvPr/>
        </p:nvSpPr>
        <p:spPr>
          <a:xfrm>
            <a:off x="2448427" y="-3008"/>
            <a:ext cx="4298882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 dirty="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Detection Model</a:t>
            </a:r>
            <a:endParaRPr lang="en-US" dirty="0">
              <a:ea typeface="+mn-ea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F09ADD5-37F6-A5FE-F129-39A3D84C7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107316"/>
              </p:ext>
            </p:extLst>
          </p:nvPr>
        </p:nvGraphicFramePr>
        <p:xfrm>
          <a:off x="347779" y="1382832"/>
          <a:ext cx="5176157" cy="2774696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1461924">
                  <a:extLst>
                    <a:ext uri="{9D8B030D-6E8A-4147-A177-3AD203B41FA5}">
                      <a16:colId xmlns:a16="http://schemas.microsoft.com/office/drawing/2014/main" val="3438476637"/>
                    </a:ext>
                  </a:extLst>
                </a:gridCol>
                <a:gridCol w="3714233">
                  <a:extLst>
                    <a:ext uri="{9D8B030D-6E8A-4147-A177-3AD203B41FA5}">
                      <a16:colId xmlns:a16="http://schemas.microsoft.com/office/drawing/2014/main" val="359962307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</a:rPr>
                        <a:t>Cow detection for disease analysis.</a:t>
                      </a:r>
                      <a:endParaRPr lang="en-US" sz="16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3962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RGB images captured in farm environments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0975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Bounding boxes, confidence scores for cows.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3433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Performance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Mean Average Precision (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mAP@0.5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): 97.5%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254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B49323D-A82A-04A4-FB3B-B0853F797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353" y="1697792"/>
            <a:ext cx="3393417" cy="229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77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BDE9A2D2-058A-C509-8262-069E9A7A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4B457E-355A-7B29-7A06-7F7FB4BB42D9}"/>
              </a:ext>
            </a:extLst>
          </p:cNvPr>
          <p:cNvGrpSpPr/>
          <p:nvPr/>
        </p:nvGrpSpPr>
        <p:grpSpPr>
          <a:xfrm rot="16200000">
            <a:off x="7046565" y="-208666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F5CD3E8D-FD6E-F475-A222-78991FBA6A36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A1740161-8948-A8CD-D91C-3C863DA36CD1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752EE3F9-C197-0D03-186D-F5D5CBF0B57D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22;p34">
              <a:extLst>
                <a:ext uri="{FF2B5EF4-FFF2-40B4-BE49-F238E27FC236}">
                  <a16:creationId xmlns:a16="http://schemas.microsoft.com/office/drawing/2014/main" id="{147C8EF2-6FDB-332D-B615-E561C85BCCF3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BF9A339-7BFC-2085-56D9-179917EBDBD2}"/>
              </a:ext>
            </a:extLst>
          </p:cNvPr>
          <p:cNvSpPr txBox="1"/>
          <p:nvPr/>
        </p:nvSpPr>
        <p:spPr>
          <a:xfrm>
            <a:off x="2417167" y="0"/>
            <a:ext cx="4309665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 Mastitis Model</a:t>
            </a:r>
            <a:endParaRPr lang="en-US" sz="24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1A68BC-75C8-10DA-8836-3A360899B6F2}"/>
                  </a:ext>
                </a:extLst>
              </p14:cNvPr>
              <p14:cNvContentPartPr/>
              <p14:nvPr/>
            </p14:nvContentPartPr>
            <p14:xfrm>
              <a:off x="-493567" y="2292836"/>
              <a:ext cx="8659" cy="8659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1A68BC-75C8-10DA-8836-3A360899B6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6517" y="1859886"/>
                <a:ext cx="865900" cy="8659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7B6FE8-DF8D-FF9C-43A7-352CFC7B3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38526"/>
              </p:ext>
            </p:extLst>
          </p:nvPr>
        </p:nvGraphicFramePr>
        <p:xfrm>
          <a:off x="106738" y="1272837"/>
          <a:ext cx="5712777" cy="2975849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1613484">
                  <a:extLst>
                    <a:ext uri="{9D8B030D-6E8A-4147-A177-3AD203B41FA5}">
                      <a16:colId xmlns:a16="http://schemas.microsoft.com/office/drawing/2014/main" val="3438476637"/>
                    </a:ext>
                  </a:extLst>
                </a:gridCol>
                <a:gridCol w="4099293">
                  <a:extLst>
                    <a:ext uri="{9D8B030D-6E8A-4147-A177-3AD203B41FA5}">
                      <a16:colId xmlns:a16="http://schemas.microsoft.com/office/drawing/2014/main" val="3599623071"/>
                    </a:ext>
                  </a:extLst>
                </a:gridCol>
              </a:tblGrid>
              <a:tr h="423963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Detect signs of mastitis in early stages.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396271"/>
                  </a:ext>
                </a:extLst>
              </a:tr>
              <a:tr h="423963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Cropped cow image from YOLO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09752"/>
                  </a:ext>
                </a:extLst>
              </a:tr>
              <a:tr h="940853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EfficientNet-B0  </a:t>
                      </a: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5-Fold Cross Validation 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Class weights for imbalance and bias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2061"/>
                  </a:ext>
                </a:extLst>
              </a:tr>
              <a:tr h="66208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Output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Label: "Healthy" or "Infected" 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Confidence score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34332"/>
                  </a:ext>
                </a:extLst>
              </a:tr>
              <a:tr h="423963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Accuracy: 99.68%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2541"/>
                  </a:ext>
                </a:extLst>
              </a:tr>
            </a:tbl>
          </a:graphicData>
        </a:graphic>
      </p:graphicFrame>
      <p:pic>
        <p:nvPicPr>
          <p:cNvPr id="10" name="Picture 9" descr="A collage of a cow&amp;#39;s udders&#10;&#10;AI-generated content may be incorrect.">
            <a:extLst>
              <a:ext uri="{FF2B5EF4-FFF2-40B4-BE49-F238E27FC236}">
                <a16:creationId xmlns:a16="http://schemas.microsoft.com/office/drawing/2014/main" id="{0DC556FA-6159-4716-C740-4155683AA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845" y="1184575"/>
            <a:ext cx="2418452" cy="30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80340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7E0E7B77-163D-1752-E505-7548AF99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5CCD45E-3DF0-5296-6851-0C9BD96B38EA}"/>
              </a:ext>
            </a:extLst>
          </p:cNvPr>
          <p:cNvGrpSpPr/>
          <p:nvPr/>
        </p:nvGrpSpPr>
        <p:grpSpPr>
          <a:xfrm rot="16200000">
            <a:off x="7046565" y="-208666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81546171-A33B-F480-348E-92CDC969FBC3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3D23B9CC-479C-CAE7-B915-6BE79B6AFB5D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AF3E56C0-C14C-9E96-8D96-AD948D0FCC85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22;p34">
              <a:extLst>
                <a:ext uri="{FF2B5EF4-FFF2-40B4-BE49-F238E27FC236}">
                  <a16:creationId xmlns:a16="http://schemas.microsoft.com/office/drawing/2014/main" id="{56B2D6D2-E00A-F4F2-D766-222DFD2543C1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DE9A18-31FF-AEA8-1935-8FA98D034980}"/>
              </a:ext>
            </a:extLst>
          </p:cNvPr>
          <p:cNvSpPr txBox="1"/>
          <p:nvPr/>
        </p:nvSpPr>
        <p:spPr>
          <a:xfrm>
            <a:off x="2417167" y="0"/>
            <a:ext cx="4309665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Lumpy Skin Model</a:t>
            </a:r>
            <a:endParaRPr lang="en-US" sz="240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D0DD90E-242A-515F-442E-08234E63CBAB}"/>
                  </a:ext>
                </a:extLst>
              </p14:cNvPr>
              <p14:cNvContentPartPr/>
              <p14:nvPr/>
            </p14:nvContentPartPr>
            <p14:xfrm>
              <a:off x="-493567" y="2059156"/>
              <a:ext cx="8659" cy="8659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D0DD90E-242A-515F-442E-08234E63CB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26517" y="1626206"/>
                <a:ext cx="865900" cy="8659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0AB6D4-ED57-42E6-FBED-E53A5F0AD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050779"/>
              </p:ext>
            </p:extLst>
          </p:nvPr>
        </p:nvGraphicFramePr>
        <p:xfrm>
          <a:off x="104331" y="1270296"/>
          <a:ext cx="5726541" cy="2988954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1617371">
                  <a:extLst>
                    <a:ext uri="{9D8B030D-6E8A-4147-A177-3AD203B41FA5}">
                      <a16:colId xmlns:a16="http://schemas.microsoft.com/office/drawing/2014/main" val="3438476637"/>
                    </a:ext>
                  </a:extLst>
                </a:gridCol>
                <a:gridCol w="4109170">
                  <a:extLst>
                    <a:ext uri="{9D8B030D-6E8A-4147-A177-3AD203B41FA5}">
                      <a16:colId xmlns:a16="http://schemas.microsoft.com/office/drawing/2014/main" val="3599623071"/>
                    </a:ext>
                  </a:extLst>
                </a:gridCol>
              </a:tblGrid>
              <a:tr h="39424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Detect visible signs of Lumpy Skin Disease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396271"/>
                  </a:ext>
                </a:extLst>
              </a:tr>
              <a:tr h="39424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Cropped cow image from YOLO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09752"/>
                  </a:ext>
                </a:extLst>
              </a:tr>
              <a:tr h="1072738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EfficientNet-B0  </a:t>
                      </a: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5-Fold Cross Validation 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Class weights for imbalance and bias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509714"/>
                  </a:ext>
                </a:extLst>
              </a:tr>
              <a:tr h="733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Output</a:t>
                      </a:r>
                    </a:p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600" b="1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Label: "Normal Skin" or "Lumpy Skin"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• Confidence score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02061"/>
                  </a:ext>
                </a:extLst>
              </a:tr>
              <a:tr h="39424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noProof="0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Accuracy: 98.69%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534332"/>
                  </a:ext>
                </a:extLst>
              </a:tr>
            </a:tbl>
          </a:graphicData>
        </a:graphic>
      </p:graphicFrame>
      <p:pic>
        <p:nvPicPr>
          <p:cNvPr id="10" name="Picture 9" descr="A collage of cows&#10;&#10;AI-generated content may be incorrect.">
            <a:extLst>
              <a:ext uri="{FF2B5EF4-FFF2-40B4-BE49-F238E27FC236}">
                <a16:creationId xmlns:a16="http://schemas.microsoft.com/office/drawing/2014/main" id="{1B6568C1-C196-9485-8FFB-23178531B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169" y="1206000"/>
            <a:ext cx="2457741" cy="298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60900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DCDAFD57-BDEC-CC8C-FA60-B755099CF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2FE1EF4E-3D4B-1F4F-46CC-DC266DD456DC}"/>
              </a:ext>
            </a:extLst>
          </p:cNvPr>
          <p:cNvSpPr/>
          <p:nvPr/>
        </p:nvSpPr>
        <p:spPr>
          <a:xfrm rot="-8100000" flipH="1">
            <a:off x="7675121" y="3741148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09DCD1-FAD9-C419-D9F4-06F9CA017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591" y="670560"/>
            <a:ext cx="4731409" cy="44881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FEA48-F77D-1E72-1BE8-9920DD352B3D}"/>
              </a:ext>
            </a:extLst>
          </p:cNvPr>
          <p:cNvSpPr txBox="1"/>
          <p:nvPr/>
        </p:nvSpPr>
        <p:spPr>
          <a:xfrm>
            <a:off x="2101547" y="0"/>
            <a:ext cx="4298882" cy="461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Report Generation </a:t>
            </a:r>
            <a:endParaRPr lang="en-US" sz="24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B42EFC-D95E-9D48-F6BD-71CBF0A87029}"/>
                  </a:ext>
                </a:extLst>
              </p14:cNvPr>
              <p14:cNvContentPartPr/>
              <p14:nvPr/>
            </p14:nvContentPartPr>
            <p14:xfrm>
              <a:off x="-493567" y="2292836"/>
              <a:ext cx="8659" cy="8659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B42EFC-D95E-9D48-F6BD-71CBF0A870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26517" y="1859886"/>
                <a:ext cx="865900" cy="8659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A55EEC-586A-B8C1-713F-B0E145B7D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002642"/>
              </p:ext>
            </p:extLst>
          </p:nvPr>
        </p:nvGraphicFramePr>
        <p:xfrm>
          <a:off x="124652" y="1533690"/>
          <a:ext cx="4126336" cy="2631127"/>
        </p:xfrm>
        <a:graphic>
          <a:graphicData uri="http://schemas.openxmlformats.org/drawingml/2006/table">
            <a:tbl>
              <a:tblPr firstRow="1" bandRow="1">
                <a:tableStyleId>{57BF61BB-2CF9-4438-83B4-13420F57BC4B}</a:tableStyleId>
              </a:tblPr>
              <a:tblGrid>
                <a:gridCol w="1165418">
                  <a:extLst>
                    <a:ext uri="{9D8B030D-6E8A-4147-A177-3AD203B41FA5}">
                      <a16:colId xmlns:a16="http://schemas.microsoft.com/office/drawing/2014/main" val="3438476637"/>
                    </a:ext>
                  </a:extLst>
                </a:gridCol>
                <a:gridCol w="2960918">
                  <a:extLst>
                    <a:ext uri="{9D8B030D-6E8A-4147-A177-3AD203B41FA5}">
                      <a16:colId xmlns:a16="http://schemas.microsoft.com/office/drawing/2014/main" val="3599623071"/>
                    </a:ext>
                  </a:extLst>
                </a:gridCol>
              </a:tblGrid>
              <a:tr h="522860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Translate AI predictions into explainable veterinary reports</a:t>
                      </a:r>
                      <a:endParaRPr lang="en-US" sz="1400" b="0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396271"/>
                  </a:ext>
                </a:extLst>
              </a:tr>
              <a:tr h="818391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Cow ID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Timestamp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Classifier Description</a:t>
                      </a:r>
                      <a:endParaRPr lang="en-US" sz="1200" b="1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Classifier Prediction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309752"/>
                  </a:ext>
                </a:extLst>
              </a:tr>
              <a:tr h="78429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tx1"/>
                          </a:solidFill>
                          <a:latin typeface="Arial"/>
                          <a:cs typeface="Arial"/>
                          <a:sym typeface="Arial"/>
                        </a:rPr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Gemini 2.0 Flash (Large Language Model)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30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370440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AD872A16-3E89-2C25-30C5-A4B00A95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7F99F4-3805-496A-2913-B0A35C5C8118}"/>
              </a:ext>
            </a:extLst>
          </p:cNvPr>
          <p:cNvSpPr txBox="1"/>
          <p:nvPr/>
        </p:nvSpPr>
        <p:spPr>
          <a:xfrm>
            <a:off x="636880" y="-3008"/>
            <a:ext cx="8083721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Archivo"/>
                <a:ea typeface="+mn-ea"/>
                <a:cs typeface="Archivo"/>
              </a:rPr>
              <a:t>Disease Detection</a:t>
            </a:r>
            <a:r>
              <a:rPr lang="en-US" sz="3000" dirty="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 System Workflow </a:t>
            </a:r>
            <a:endParaRPr lang="en-US" dirty="0">
              <a:solidFill>
                <a:schemeClr val="tx1"/>
              </a:solidFill>
              <a:ea typeface="+mn-ea"/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F6E71441-0FAB-24E0-FC6A-ABF67F0B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70" y="549933"/>
            <a:ext cx="8501457" cy="459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3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F02226E1-B934-8384-1E3A-C8D4AD4A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next to a large cellphone&#10;&#10;AI-generated content may be incorrect.">
            <a:extLst>
              <a:ext uri="{FF2B5EF4-FFF2-40B4-BE49-F238E27FC236}">
                <a16:creationId xmlns:a16="http://schemas.microsoft.com/office/drawing/2014/main" id="{79A2E75D-038F-E475-6BD6-60A8E4E3A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27" y="0"/>
            <a:ext cx="4197732" cy="42666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F790D4B-B41F-0CB3-93BA-F8799027E619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8ABA22D7-0E6C-4C85-6B64-25F762E975E5}"/>
              </a:ext>
            </a:extLst>
          </p:cNvPr>
          <p:cNvSpPr/>
          <p:nvPr/>
        </p:nvSpPr>
        <p:spPr>
          <a:xfrm rot="13500000" flipH="1">
            <a:off x="7662088" y="4213939"/>
            <a:ext cx="996172" cy="11497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6" name="Google Shape;516;p34">
            <a:extLst>
              <a:ext uri="{FF2B5EF4-FFF2-40B4-BE49-F238E27FC236}">
                <a16:creationId xmlns:a16="http://schemas.microsoft.com/office/drawing/2014/main" id="{D45EFB34-C834-63C2-ED04-61D873C55FDB}"/>
              </a:ext>
            </a:extLst>
          </p:cNvPr>
          <p:cNvGrpSpPr/>
          <p:nvPr/>
        </p:nvGrpSpPr>
        <p:grpSpPr>
          <a:xfrm rot="5400000">
            <a:off x="6018752" y="2015884"/>
            <a:ext cx="3072468" cy="4192527"/>
            <a:chOff x="5557116" y="-243244"/>
            <a:chExt cx="5164499" cy="5375325"/>
          </a:xfrm>
        </p:grpSpPr>
        <p:sp>
          <p:nvSpPr>
            <p:cNvPr id="517" name="Google Shape;517;p34">
              <a:extLst>
                <a:ext uri="{FF2B5EF4-FFF2-40B4-BE49-F238E27FC236}">
                  <a16:creationId xmlns:a16="http://schemas.microsoft.com/office/drawing/2014/main" id="{89A50AB3-D92D-C22B-EB75-C27B1029A2B2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>
              <a:extLst>
                <a:ext uri="{FF2B5EF4-FFF2-40B4-BE49-F238E27FC236}">
                  <a16:creationId xmlns:a16="http://schemas.microsoft.com/office/drawing/2014/main" id="{9DF917CE-4208-BB42-7D81-78D0B2A7D72F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>
              <a:extLst>
                <a:ext uri="{FF2B5EF4-FFF2-40B4-BE49-F238E27FC236}">
                  <a16:creationId xmlns:a16="http://schemas.microsoft.com/office/drawing/2014/main" id="{C5BC8B9E-E155-32E6-AB07-FD7E35883372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>
              <a:extLst>
                <a:ext uri="{FF2B5EF4-FFF2-40B4-BE49-F238E27FC236}">
                  <a16:creationId xmlns:a16="http://schemas.microsoft.com/office/drawing/2014/main" id="{A37023EE-0210-29A8-1B4A-2F53C23FFDCA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>
              <a:extLst>
                <a:ext uri="{FF2B5EF4-FFF2-40B4-BE49-F238E27FC236}">
                  <a16:creationId xmlns:a16="http://schemas.microsoft.com/office/drawing/2014/main" id="{D2537298-0AF8-97E3-B4CF-DFE9ECAA2138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>
              <a:extLst>
                <a:ext uri="{FF2B5EF4-FFF2-40B4-BE49-F238E27FC236}">
                  <a16:creationId xmlns:a16="http://schemas.microsoft.com/office/drawing/2014/main" id="{4C140525-D563-12CE-C0BA-AAA8C64E0670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506;p33">
            <a:extLst>
              <a:ext uri="{FF2B5EF4-FFF2-40B4-BE49-F238E27FC236}">
                <a16:creationId xmlns:a16="http://schemas.microsoft.com/office/drawing/2014/main" id="{4568095B-1200-4154-39C5-3D3693AFD4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354" y="1641637"/>
            <a:ext cx="4940446" cy="3109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" sz="7200" dirty="0"/>
              <a:t>Smart Chatbot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8FA49-6FC2-7C13-32A3-4CF6C875B367}"/>
              </a:ext>
            </a:extLst>
          </p:cNvPr>
          <p:cNvSpPr/>
          <p:nvPr/>
        </p:nvSpPr>
        <p:spPr>
          <a:xfrm>
            <a:off x="1" y="284118"/>
            <a:ext cx="637162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15 </a:t>
            </a:r>
          </a:p>
        </p:txBody>
      </p:sp>
    </p:spTree>
    <p:extLst>
      <p:ext uri="{BB962C8B-B14F-4D97-AF65-F5344CB8AC3E}">
        <p14:creationId xmlns:p14="http://schemas.microsoft.com/office/powerpoint/2010/main" val="3022163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dots&#10;&#10;AI-generated content may be incorrect.">
            <a:extLst>
              <a:ext uri="{FF2B5EF4-FFF2-40B4-BE49-F238E27FC236}">
                <a16:creationId xmlns:a16="http://schemas.microsoft.com/office/drawing/2014/main" id="{23DCE7D9-A2AF-E391-A898-D1A77598C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4" y="0"/>
            <a:ext cx="5747269" cy="51435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8AECE0-8873-0C74-2C55-2945222BD6D0}"/>
              </a:ext>
            </a:extLst>
          </p:cNvPr>
          <p:cNvGraphicFramePr>
            <a:graphicFrameLocks noGrp="1"/>
          </p:cNvGraphicFramePr>
          <p:nvPr/>
        </p:nvGraphicFramePr>
        <p:xfrm>
          <a:off x="0" y="1814805"/>
          <a:ext cx="9144000" cy="2103120"/>
        </p:xfrm>
        <a:graphic>
          <a:graphicData uri="http://schemas.openxmlformats.org/drawingml/2006/table">
            <a:tbl>
              <a:tblPr bandRow="1">
                <a:tableStyleId>{57BF61BB-2CF9-4438-83B4-13420F57BC4B}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21603083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316955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87105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/>
                        </a:rPr>
                        <a:t>Data Type</a:t>
                      </a:r>
                      <a:endParaRPr lang="en-US" sz="180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/>
                        </a:rPr>
                        <a:t>Example Question</a:t>
                      </a:r>
                      <a:endParaRPr lang="en-US" sz="180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Calibri"/>
                        </a:rPr>
                        <a:t>Challenge</a:t>
                      </a:r>
                      <a:endParaRPr lang="en-US" sz="1800">
                        <a:solidFill>
                          <a:schemeClr val="bg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49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1" i="0" u="none" strike="noStrike" baseline="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0">
                      <a:noFill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1" u="none" strike="noStrike" baseline="0" noProof="0" dirty="0">
                          <a:solidFill>
                            <a:schemeClr val="tx1"/>
                          </a:solidFill>
                          <a:latin typeface="Calibri"/>
                        </a:rPr>
                        <a:t>“What is the treatment for mastitis?”</a:t>
                      </a:r>
                      <a:endParaRPr lang="en-US" sz="1600" b="0" u="none" strike="noStrike" baseline="0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0">
                      <a:noFill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chemeClr val="tx1"/>
                          </a:solidFill>
                          <a:latin typeface="Calibri"/>
                        </a:rPr>
                        <a:t>Requires understanding of documents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0">
                      <a:noFill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37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i="0" u="none" strike="noStrike" baseline="0" noProof="0">
                          <a:solidFill>
                            <a:schemeClr val="tx1"/>
                          </a:solidFill>
                          <a:latin typeface="Calibri"/>
                        </a:rPr>
                        <a:t>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 w="12700">
                      <a:solidFill>
                        <a:schemeClr val="bg2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1" u="none" strike="noStrike" baseline="0" noProof="0">
                          <a:solidFill>
                            <a:schemeClr val="tx1"/>
                          </a:solidFill>
                          <a:latin typeface="Calibri"/>
                        </a:rPr>
                        <a:t>“How many days had a temperature greater than 25°C?”</a:t>
                      </a:r>
                      <a:endParaRPr lang="en-US" sz="1600" b="0" u="none" strike="noStrike" baseline="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 w="12700">
                      <a:solidFill>
                        <a:schemeClr val="bg2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baseline="0" noProof="0">
                          <a:solidFill>
                            <a:schemeClr val="tx1"/>
                          </a:solidFill>
                          <a:latin typeface="Calibri"/>
                        </a:rPr>
                        <a:t>Requires analysis of sensor data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 w="12700">
                      <a:solidFill>
                        <a:schemeClr val="bg2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67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</a:rPr>
                        <a:t>External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i="1">
                          <a:solidFill>
                            <a:schemeClr val="tx1"/>
                          </a:solidFill>
                          <a:latin typeface="Calibri"/>
                        </a:rPr>
                        <a:t>“Is there a new disease spreading?”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</a:rPr>
                        <a:t>Needs real-time online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2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0436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31012FC-2A38-BE88-8528-9196C2DF217D}"/>
              </a:ext>
            </a:extLst>
          </p:cNvPr>
          <p:cNvSpPr/>
          <p:nvPr/>
        </p:nvSpPr>
        <p:spPr>
          <a:xfrm>
            <a:off x="1" y="284118"/>
            <a:ext cx="6106199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15 Understanding Farmer Needs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C0FD2-A4A4-D38B-F2A0-813C1585BD5B}"/>
              </a:ext>
            </a:extLst>
          </p:cNvPr>
          <p:cNvSpPr txBox="1"/>
          <p:nvPr/>
        </p:nvSpPr>
        <p:spPr>
          <a:xfrm>
            <a:off x="643690" y="2298033"/>
            <a:ext cx="1991228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Calibri"/>
                <a:ea typeface="Calibri"/>
                <a:cs typeface="Archivo Black"/>
              </a:rPr>
              <a:t>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090340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2EFF9-1EFD-B353-876B-922821BB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B1D865D-62A6-2C91-FAD6-EB7B3990CBB8}"/>
              </a:ext>
            </a:extLst>
          </p:cNvPr>
          <p:cNvGrpSpPr/>
          <p:nvPr/>
        </p:nvGrpSpPr>
        <p:grpSpPr>
          <a:xfrm>
            <a:off x="7117685" y="3678109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253E1EE2-1FF7-AC4D-5686-D2C821DF5DB1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52E65D16-ACC8-7A10-CAC0-04FB0F8D2F6B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8D048D1A-E44A-5939-3248-4E56A5D9FC81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2;p34">
              <a:extLst>
                <a:ext uri="{FF2B5EF4-FFF2-40B4-BE49-F238E27FC236}">
                  <a16:creationId xmlns:a16="http://schemas.microsoft.com/office/drawing/2014/main" id="{76D00480-E54A-8C5F-8AE4-847241146346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CBFEEBA-C8D1-82AE-BA1F-96260525155B}"/>
              </a:ext>
            </a:extLst>
          </p:cNvPr>
          <p:cNvSpPr txBox="1"/>
          <p:nvPr/>
        </p:nvSpPr>
        <p:spPr>
          <a:xfrm>
            <a:off x="2448427" y="-3008"/>
            <a:ext cx="4298882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Unstructured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589546-D17D-7C9F-BA6E-4FD65199800C}"/>
                  </a:ext>
                </a:extLst>
              </p14:cNvPr>
              <p14:cNvContentPartPr/>
              <p14:nvPr/>
            </p14:nvContentPartPr>
            <p14:xfrm>
              <a:off x="-493567" y="2292836"/>
              <a:ext cx="8659" cy="8659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589546-D17D-7C9F-BA6E-4FD6519980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26517" y="1859886"/>
                <a:ext cx="865900" cy="8659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phic 16">
            <a:extLst>
              <a:ext uri="{FF2B5EF4-FFF2-40B4-BE49-F238E27FC236}">
                <a16:creationId xmlns:a16="http://schemas.microsoft.com/office/drawing/2014/main" id="{1139F7B8-1081-D4DC-B7F5-82B61DA53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213" y="460645"/>
            <a:ext cx="8366758" cy="44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4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8BDCC-F1A2-256A-46A0-506630A30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7E91AC-DDB4-C500-A8AB-55B5C5B8A8AC}"/>
              </a:ext>
            </a:extLst>
          </p:cNvPr>
          <p:cNvGrpSpPr/>
          <p:nvPr/>
        </p:nvGrpSpPr>
        <p:grpSpPr>
          <a:xfrm>
            <a:off x="7117685" y="3678109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D1887AA3-D3F1-FF40-A039-E77350B87C54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9249CDFB-304F-EE39-A721-35C8F3257EC5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2587C8AE-1079-38AE-F999-994F63537DA1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2;p34">
              <a:extLst>
                <a:ext uri="{FF2B5EF4-FFF2-40B4-BE49-F238E27FC236}">
                  <a16:creationId xmlns:a16="http://schemas.microsoft.com/office/drawing/2014/main" id="{0F485454-775F-AAFE-B69C-C220D09F7E3D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93ADF681-1C1E-3B1E-0B4C-8F00060C1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213" y="460645"/>
            <a:ext cx="8366759" cy="4442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7AF693-AF67-6379-84A9-6E720062F10F}"/>
              </a:ext>
            </a:extLst>
          </p:cNvPr>
          <p:cNvSpPr txBox="1"/>
          <p:nvPr/>
        </p:nvSpPr>
        <p:spPr>
          <a:xfrm>
            <a:off x="2448427" y="-3008"/>
            <a:ext cx="4298882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Structured Data</a:t>
            </a:r>
            <a:endParaRPr lang="en-US">
              <a:solidFill>
                <a:schemeClr val="tx1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65852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54008-417E-E306-1341-3EE753DB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B08CB4D-516F-94ED-A4FE-253A299A3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213" y="460645"/>
            <a:ext cx="8366759" cy="444264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44981A8-633B-4328-3219-E458F04B4D1E}"/>
              </a:ext>
            </a:extLst>
          </p:cNvPr>
          <p:cNvGrpSpPr/>
          <p:nvPr/>
        </p:nvGrpSpPr>
        <p:grpSpPr>
          <a:xfrm>
            <a:off x="7117685" y="3678109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047CFFF4-1D86-0256-9197-4D99E4F5E590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F4ACAEE7-BC5D-7394-D575-B8F161C593B8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209F1181-DA65-B67D-EEE6-29F499AC6E17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2;p34">
              <a:extLst>
                <a:ext uri="{FF2B5EF4-FFF2-40B4-BE49-F238E27FC236}">
                  <a16:creationId xmlns:a16="http://schemas.microsoft.com/office/drawing/2014/main" id="{083A87BA-49EC-24EE-32BC-1557AECA21D1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09C9C93-5EA8-1561-00EB-34C2BB89C384}"/>
              </a:ext>
            </a:extLst>
          </p:cNvPr>
          <p:cNvSpPr txBox="1"/>
          <p:nvPr/>
        </p:nvSpPr>
        <p:spPr>
          <a:xfrm>
            <a:off x="2448427" y="-3008"/>
            <a:ext cx="4298882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External Data</a:t>
            </a:r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193784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DAC5A-C5DB-2239-FEA6-48E81EE0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5E08A82-06B5-C21B-F2B6-8E0F7F5CD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213" y="460645"/>
            <a:ext cx="8366759" cy="444264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4F4686F-9627-9F40-FC0E-E756CDF60D5D}"/>
              </a:ext>
            </a:extLst>
          </p:cNvPr>
          <p:cNvGrpSpPr/>
          <p:nvPr/>
        </p:nvGrpSpPr>
        <p:grpSpPr>
          <a:xfrm>
            <a:off x="7117685" y="3678109"/>
            <a:ext cx="2857783" cy="1519311"/>
            <a:chOff x="7117866" y="3662707"/>
            <a:chExt cx="2857783" cy="1519311"/>
          </a:xfrm>
        </p:grpSpPr>
        <p:sp>
          <p:nvSpPr>
            <p:cNvPr id="3" name="Google Shape;517;p34">
              <a:extLst>
                <a:ext uri="{FF2B5EF4-FFF2-40B4-BE49-F238E27FC236}">
                  <a16:creationId xmlns:a16="http://schemas.microsoft.com/office/drawing/2014/main" id="{213A2D79-2D5A-230A-BC0C-2EEC627D9970}"/>
                </a:ext>
              </a:extLst>
            </p:cNvPr>
            <p:cNvSpPr/>
            <p:nvPr/>
          </p:nvSpPr>
          <p:spPr>
            <a:xfrm flipH="1">
              <a:off x="7665575" y="3662707"/>
              <a:ext cx="1478285" cy="1477563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18;p34">
              <a:extLst>
                <a:ext uri="{FF2B5EF4-FFF2-40B4-BE49-F238E27FC236}">
                  <a16:creationId xmlns:a16="http://schemas.microsoft.com/office/drawing/2014/main" id="{7CC40046-D19F-9F01-69E0-A45387D0F719}"/>
                </a:ext>
              </a:extLst>
            </p:cNvPr>
            <p:cNvSpPr/>
            <p:nvPr/>
          </p:nvSpPr>
          <p:spPr>
            <a:xfrm rot="18900000">
              <a:off x="8610821" y="4175286"/>
              <a:ext cx="1364828" cy="273018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0;p34">
              <a:extLst>
                <a:ext uri="{FF2B5EF4-FFF2-40B4-BE49-F238E27FC236}">
                  <a16:creationId xmlns:a16="http://schemas.microsoft.com/office/drawing/2014/main" id="{E080B437-D3D5-1668-B54D-B61C6852D429}"/>
                </a:ext>
              </a:extLst>
            </p:cNvPr>
            <p:cNvSpPr/>
            <p:nvPr/>
          </p:nvSpPr>
          <p:spPr>
            <a:xfrm>
              <a:off x="7716776" y="3698843"/>
              <a:ext cx="1320667" cy="1312487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2;p34">
              <a:extLst>
                <a:ext uri="{FF2B5EF4-FFF2-40B4-BE49-F238E27FC236}">
                  <a16:creationId xmlns:a16="http://schemas.microsoft.com/office/drawing/2014/main" id="{25B1E439-98FD-8E5A-33F6-1129B3F4E0AC}"/>
                </a:ext>
              </a:extLst>
            </p:cNvPr>
            <p:cNvSpPr/>
            <p:nvPr/>
          </p:nvSpPr>
          <p:spPr>
            <a:xfrm rot="18900000">
              <a:off x="7117866" y="4993678"/>
              <a:ext cx="1162204" cy="18834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844D9B-E5D7-69B6-D1F7-7F6818EC427C}"/>
              </a:ext>
            </a:extLst>
          </p:cNvPr>
          <p:cNvSpPr txBox="1"/>
          <p:nvPr/>
        </p:nvSpPr>
        <p:spPr>
          <a:xfrm>
            <a:off x="2448427" y="-3008"/>
            <a:ext cx="4298882" cy="553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000">
                <a:solidFill>
                  <a:schemeClr val="tx1"/>
                </a:solidFill>
                <a:latin typeface="Archivo Black"/>
                <a:ea typeface="+mn-ea"/>
                <a:cs typeface="Archivo Black"/>
              </a:rPr>
              <a:t>Architecture Overview </a:t>
            </a:r>
          </a:p>
        </p:txBody>
      </p:sp>
    </p:spTree>
    <p:extLst>
      <p:ext uri="{BB962C8B-B14F-4D97-AF65-F5344CB8AC3E}">
        <p14:creationId xmlns:p14="http://schemas.microsoft.com/office/powerpoint/2010/main" val="908035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1C9712-C76A-64B4-7DA7-303C56B5E4A0}"/>
              </a:ext>
            </a:extLst>
          </p:cNvPr>
          <p:cNvSpPr/>
          <p:nvPr/>
        </p:nvSpPr>
        <p:spPr>
          <a:xfrm>
            <a:off x="1" y="284118"/>
            <a:ext cx="7392877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15 Why We Used a Multi-Agent System?</a:t>
            </a:r>
            <a:endParaRPr lang="en-US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7" name="Google Shape;508;p33">
            <a:extLst>
              <a:ext uri="{FF2B5EF4-FFF2-40B4-BE49-F238E27FC236}">
                <a16:creationId xmlns:a16="http://schemas.microsoft.com/office/drawing/2014/main" id="{95D1E427-863C-C25A-7FF7-5DB5DE3D1522}"/>
              </a:ext>
            </a:extLst>
          </p:cNvPr>
          <p:cNvSpPr txBox="1">
            <a:spLocks/>
          </p:cNvSpPr>
          <p:nvPr/>
        </p:nvSpPr>
        <p:spPr>
          <a:xfrm>
            <a:off x="1990560" y="2141708"/>
            <a:ext cx="2230892" cy="745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600">
                <a:solidFill>
                  <a:schemeClr val="tx1"/>
                </a:solidFill>
                <a:latin typeface="Calibri"/>
              </a:rPr>
              <a:t>Specialized tools per data type</a:t>
            </a:r>
            <a:endParaRPr lang="en-US" sz="1600">
              <a:solidFill>
                <a:schemeClr val="tx1"/>
              </a:solidFill>
              <a:latin typeface="Calibri"/>
            </a:endParaRPr>
          </a:p>
          <a:p>
            <a:endParaRPr lang="en" sz="16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" sz="16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endParaRPr lang="en" sz="16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  <a:p>
            <a:pPr marL="285750" indent="-285750">
              <a:buFont typeface="Courier New"/>
              <a:buChar char="o"/>
            </a:pPr>
            <a:endParaRPr lang="en" sz="1600">
              <a:solidFill>
                <a:schemeClr val="tx1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1E815-023E-08B9-808F-5630D90559C4}"/>
              </a:ext>
            </a:extLst>
          </p:cNvPr>
          <p:cNvSpPr txBox="1"/>
          <p:nvPr/>
        </p:nvSpPr>
        <p:spPr>
          <a:xfrm>
            <a:off x="569909" y="3720775"/>
            <a:ext cx="202611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1600">
                <a:solidFill>
                  <a:schemeClr val="tx1"/>
                </a:solidFill>
                <a:latin typeface="Calibri"/>
              </a:rPr>
              <a:t>Smart question routing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BA636-36AA-8A21-0D13-6AF732255ACE}"/>
              </a:ext>
            </a:extLst>
          </p:cNvPr>
          <p:cNvSpPr txBox="1"/>
          <p:nvPr/>
        </p:nvSpPr>
        <p:spPr>
          <a:xfrm>
            <a:off x="3666349" y="3722946"/>
            <a:ext cx="180871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1600">
                <a:solidFill>
                  <a:schemeClr val="tx1"/>
                </a:solidFill>
                <a:latin typeface="Calibri"/>
              </a:rPr>
              <a:t>Fast &amp; relevant answers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2287C-9B14-ACF2-1BB7-2D208FEF8DDD}"/>
              </a:ext>
            </a:extLst>
          </p:cNvPr>
          <p:cNvSpPr txBox="1"/>
          <p:nvPr/>
        </p:nvSpPr>
        <p:spPr>
          <a:xfrm>
            <a:off x="5180461" y="2110039"/>
            <a:ext cx="171021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" sz="1600">
                <a:solidFill>
                  <a:schemeClr val="tx1"/>
                </a:solidFill>
                <a:latin typeface="Calibri"/>
              </a:rPr>
              <a:t>Scalable &amp; easy to maintain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5" name="Picture 14" descr="Blue arrows pointing to different directions&#10;&#10;AI-generated content may be incorrect.">
            <a:extLst>
              <a:ext uri="{FF2B5EF4-FFF2-40B4-BE49-F238E27FC236}">
                <a16:creationId xmlns:a16="http://schemas.microsoft.com/office/drawing/2014/main" id="{95ED5A67-2C3A-3349-8495-6592C819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98844" y="3149477"/>
            <a:ext cx="572700" cy="5727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Picture 16" descr="A computer screen with gears and light bulb&#10;&#10;AI-generated content may be incorrect.">
            <a:extLst>
              <a:ext uri="{FF2B5EF4-FFF2-40B4-BE49-F238E27FC236}">
                <a16:creationId xmlns:a16="http://schemas.microsoft.com/office/drawing/2014/main" id="{4D6A6F76-92FF-3FD7-4135-24056B18F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1069" y="1572927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Picture 18" descr="A black square with a clock and arrow&#10;&#10;AI-generated content may be incorrect.">
            <a:extLst>
              <a:ext uri="{FF2B5EF4-FFF2-40B4-BE49-F238E27FC236}">
                <a16:creationId xmlns:a16="http://schemas.microsoft.com/office/drawing/2014/main" id="{35206706-DCBB-7BBE-138D-A70502D55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86185" y="3152506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 descr="A blue square with arrows&#10;&#10;AI-generated content may be incorrect.">
            <a:extLst>
              <a:ext uri="{FF2B5EF4-FFF2-40B4-BE49-F238E27FC236}">
                <a16:creationId xmlns:a16="http://schemas.microsoft.com/office/drawing/2014/main" id="{D01509C3-86D8-06FD-3B17-966006722B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51738" y="1534933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42A107-2DFA-9629-51B4-18BCA819CF8A}"/>
              </a:ext>
            </a:extLst>
          </p:cNvPr>
          <p:cNvSpPr txBox="1"/>
          <p:nvPr/>
        </p:nvSpPr>
        <p:spPr>
          <a:xfrm>
            <a:off x="6518424" y="3726887"/>
            <a:ext cx="208511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  <a:latin typeface="Calibri"/>
                <a:ea typeface="Roboto"/>
              </a:rPr>
              <a:t>Supports both farmers and vets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6" name="Picture 25" descr="A blue icon with a hand and a person&#10;&#10;AI-generated content may be incorrect.">
            <a:extLst>
              <a:ext uri="{FF2B5EF4-FFF2-40B4-BE49-F238E27FC236}">
                <a16:creationId xmlns:a16="http://schemas.microsoft.com/office/drawing/2014/main" id="{E4666CC5-810C-197D-FEA2-579547D28A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73571" y="3152505"/>
            <a:ext cx="572400" cy="5724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673784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DA235-385D-BA2B-25B5-5E62BDD7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and person standing next to a large device&#10;&#10;AI-generated content may be incorrect.">
            <a:extLst>
              <a:ext uri="{FF2B5EF4-FFF2-40B4-BE49-F238E27FC236}">
                <a16:creationId xmlns:a16="http://schemas.microsoft.com/office/drawing/2014/main" id="{31D0CC38-7DB2-044C-6B63-91A94AF60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667" y="962938"/>
            <a:ext cx="4972087" cy="3475974"/>
          </a:xfrm>
          <a:prstGeom prst="rect">
            <a:avLst/>
          </a:prstGeom>
          <a:ln>
            <a:noFill/>
          </a:ln>
        </p:spPr>
      </p:pic>
      <p:grpSp>
        <p:nvGrpSpPr>
          <p:cNvPr id="37" name="Google Shape;516;p34">
            <a:extLst>
              <a:ext uri="{FF2B5EF4-FFF2-40B4-BE49-F238E27FC236}">
                <a16:creationId xmlns:a16="http://schemas.microsoft.com/office/drawing/2014/main" id="{6DC5A943-C939-BA75-2404-34536FE5AF94}"/>
              </a:ext>
            </a:extLst>
          </p:cNvPr>
          <p:cNvGrpSpPr/>
          <p:nvPr/>
        </p:nvGrpSpPr>
        <p:grpSpPr>
          <a:xfrm>
            <a:off x="5995729" y="-864063"/>
            <a:ext cx="5635916" cy="5448561"/>
            <a:chOff x="4955884" y="-316480"/>
            <a:chExt cx="5635916" cy="5448561"/>
          </a:xfrm>
        </p:grpSpPr>
        <p:sp>
          <p:nvSpPr>
            <p:cNvPr id="38" name="Google Shape;517;p34">
              <a:extLst>
                <a:ext uri="{FF2B5EF4-FFF2-40B4-BE49-F238E27FC236}">
                  <a16:creationId xmlns:a16="http://schemas.microsoft.com/office/drawing/2014/main" id="{EF280C41-B980-2772-22C5-3B135ABF7E24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18;p34">
              <a:extLst>
                <a:ext uri="{FF2B5EF4-FFF2-40B4-BE49-F238E27FC236}">
                  <a16:creationId xmlns:a16="http://schemas.microsoft.com/office/drawing/2014/main" id="{B1CC33D8-26C5-AF76-8BFF-FC02184616FC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19;p34">
              <a:extLst>
                <a:ext uri="{FF2B5EF4-FFF2-40B4-BE49-F238E27FC236}">
                  <a16:creationId xmlns:a16="http://schemas.microsoft.com/office/drawing/2014/main" id="{B3C41393-ACF5-FD81-F4F1-546E3BDD9E80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20;p34">
              <a:extLst>
                <a:ext uri="{FF2B5EF4-FFF2-40B4-BE49-F238E27FC236}">
                  <a16:creationId xmlns:a16="http://schemas.microsoft.com/office/drawing/2014/main" id="{577077DE-A703-97F3-95A9-C22DC399B4DA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21;p34">
              <a:extLst>
                <a:ext uri="{FF2B5EF4-FFF2-40B4-BE49-F238E27FC236}">
                  <a16:creationId xmlns:a16="http://schemas.microsoft.com/office/drawing/2014/main" id="{70CD8D21-DB4F-8B64-C6DB-F92E6CB59617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2;p34">
              <a:extLst>
                <a:ext uri="{FF2B5EF4-FFF2-40B4-BE49-F238E27FC236}">
                  <a16:creationId xmlns:a16="http://schemas.microsoft.com/office/drawing/2014/main" id="{78A82428-4826-386A-C1CF-49BEA22CAC08}"/>
                </a:ext>
              </a:extLst>
            </p:cNvPr>
            <p:cNvSpPr/>
            <p:nvPr/>
          </p:nvSpPr>
          <p:spPr>
            <a:xfrm rot="1349959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496;p32">
            <a:extLst>
              <a:ext uri="{FF2B5EF4-FFF2-40B4-BE49-F238E27FC236}">
                <a16:creationId xmlns:a16="http://schemas.microsoft.com/office/drawing/2014/main" id="{92C413F9-C00B-79DB-AD41-BFE068B950C8}"/>
              </a:ext>
            </a:extLst>
          </p:cNvPr>
          <p:cNvSpPr txBox="1">
            <a:spLocks/>
          </p:cNvSpPr>
          <p:nvPr/>
        </p:nvSpPr>
        <p:spPr>
          <a:xfrm>
            <a:off x="165251" y="2573903"/>
            <a:ext cx="2052551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200" b="1">
                <a:solidFill>
                  <a:schemeClr val="tx1"/>
                </a:solidFill>
              </a:rPr>
              <a:t>Hardware</a:t>
            </a:r>
          </a:p>
          <a:p>
            <a:pPr algn="ctr"/>
            <a:r>
              <a:rPr lang="en" sz="3200" b="1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5" name="Google Shape;496;p32">
            <a:extLst>
              <a:ext uri="{FF2B5EF4-FFF2-40B4-BE49-F238E27FC236}">
                <a16:creationId xmlns:a16="http://schemas.microsoft.com/office/drawing/2014/main" id="{28BD3D13-46DF-7FE9-456A-3FAC5C50B088}"/>
              </a:ext>
            </a:extLst>
          </p:cNvPr>
          <p:cNvSpPr txBox="1">
            <a:spLocks/>
          </p:cNvSpPr>
          <p:nvPr/>
        </p:nvSpPr>
        <p:spPr>
          <a:xfrm>
            <a:off x="6140073" y="2577614"/>
            <a:ext cx="2413575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</a:rPr>
              <a:t>Software</a:t>
            </a:r>
          </a:p>
          <a:p>
            <a:pPr algn="ctr"/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6" name="Google Shape;496;p32">
            <a:extLst>
              <a:ext uri="{FF2B5EF4-FFF2-40B4-BE49-F238E27FC236}">
                <a16:creationId xmlns:a16="http://schemas.microsoft.com/office/drawing/2014/main" id="{8686584D-62E9-A478-DDD8-AB551CCC59B1}"/>
              </a:ext>
            </a:extLst>
          </p:cNvPr>
          <p:cNvSpPr txBox="1">
            <a:spLocks/>
          </p:cNvSpPr>
          <p:nvPr/>
        </p:nvSpPr>
        <p:spPr>
          <a:xfrm>
            <a:off x="2128801" y="168742"/>
            <a:ext cx="4455807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</a:rPr>
              <a:t>System Demo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DFA7FE-CA6F-5A90-D208-321308D761E1}"/>
              </a:ext>
            </a:extLst>
          </p:cNvPr>
          <p:cNvSpPr/>
          <p:nvPr/>
        </p:nvSpPr>
        <p:spPr>
          <a:xfrm>
            <a:off x="737136" y="1498603"/>
            <a:ext cx="908090" cy="8328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>
                <a:solidFill>
                  <a:srgbClr val="092241"/>
                </a:solidFill>
                <a:ea typeface="+mn-lt"/>
                <a:cs typeface="+mn-lt"/>
              </a:rPr>
              <a:t>01</a:t>
            </a:r>
            <a:endParaRPr lang="en-US" sz="30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3446B1-4E3D-37DA-EB47-CD9B5D3DE9D1}"/>
              </a:ext>
            </a:extLst>
          </p:cNvPr>
          <p:cNvSpPr/>
          <p:nvPr/>
        </p:nvSpPr>
        <p:spPr>
          <a:xfrm>
            <a:off x="6798044" y="1498602"/>
            <a:ext cx="908090" cy="83288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rgbClr val="092241"/>
                </a:solidFill>
                <a:ea typeface="+mn-lt"/>
                <a:cs typeface="+mn-lt"/>
              </a:rPr>
              <a:t>02</a:t>
            </a:r>
            <a:endParaRPr lang="en-US" sz="30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C7174D-CD1C-531A-981A-B77C96CC7CEC}"/>
              </a:ext>
            </a:extLst>
          </p:cNvPr>
          <p:cNvSpPr/>
          <p:nvPr/>
        </p:nvSpPr>
        <p:spPr>
          <a:xfrm>
            <a:off x="1" y="284118"/>
            <a:ext cx="645025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US" sz="3000" b="1" dirty="0">
                <a:solidFill>
                  <a:srgbClr val="092241"/>
                </a:solidFill>
                <a:latin typeface="Archivo Black"/>
                <a:cs typeface="Archivo Black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3723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990E6-4A5F-BC68-B0FD-C480E42F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516;p34">
            <a:extLst>
              <a:ext uri="{FF2B5EF4-FFF2-40B4-BE49-F238E27FC236}">
                <a16:creationId xmlns:a16="http://schemas.microsoft.com/office/drawing/2014/main" id="{E7F911B8-5F7A-DE39-3D2A-17DB73C9081F}"/>
              </a:ext>
            </a:extLst>
          </p:cNvPr>
          <p:cNvGrpSpPr/>
          <p:nvPr/>
        </p:nvGrpSpPr>
        <p:grpSpPr>
          <a:xfrm>
            <a:off x="6140829" y="-890740"/>
            <a:ext cx="5490816" cy="5475238"/>
            <a:chOff x="5100984" y="-343157"/>
            <a:chExt cx="5490816" cy="5475238"/>
          </a:xfrm>
        </p:grpSpPr>
        <p:sp>
          <p:nvSpPr>
            <p:cNvPr id="38" name="Google Shape;517;p34">
              <a:extLst>
                <a:ext uri="{FF2B5EF4-FFF2-40B4-BE49-F238E27FC236}">
                  <a16:creationId xmlns:a16="http://schemas.microsoft.com/office/drawing/2014/main" id="{1B504DDA-8848-E034-4FA8-9F57B74701CC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18;p34">
              <a:extLst>
                <a:ext uri="{FF2B5EF4-FFF2-40B4-BE49-F238E27FC236}">
                  <a16:creationId xmlns:a16="http://schemas.microsoft.com/office/drawing/2014/main" id="{F59EBCE9-B518-162F-4ED3-C678F201F186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19;p34">
              <a:extLst>
                <a:ext uri="{FF2B5EF4-FFF2-40B4-BE49-F238E27FC236}">
                  <a16:creationId xmlns:a16="http://schemas.microsoft.com/office/drawing/2014/main" id="{5080D403-6400-EF1D-E396-130072F30263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20;p34">
              <a:extLst>
                <a:ext uri="{FF2B5EF4-FFF2-40B4-BE49-F238E27FC236}">
                  <a16:creationId xmlns:a16="http://schemas.microsoft.com/office/drawing/2014/main" id="{6D3083E3-680D-E346-153A-16AB38D13480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21;p34">
              <a:extLst>
                <a:ext uri="{FF2B5EF4-FFF2-40B4-BE49-F238E27FC236}">
                  <a16:creationId xmlns:a16="http://schemas.microsoft.com/office/drawing/2014/main" id="{75313CCD-D81B-3C28-3939-709BA1BD8C4C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2;p34">
              <a:extLst>
                <a:ext uri="{FF2B5EF4-FFF2-40B4-BE49-F238E27FC236}">
                  <a16:creationId xmlns:a16="http://schemas.microsoft.com/office/drawing/2014/main" id="{245307C1-6CDD-618B-3B2D-800ABF80CEFF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8B7F0DF8-22C2-6A04-947A-0EFCC4318B29}"/>
              </a:ext>
            </a:extLst>
          </p:cNvPr>
          <p:cNvSpPr/>
          <p:nvPr/>
        </p:nvSpPr>
        <p:spPr>
          <a:xfrm>
            <a:off x="2291228" y="207339"/>
            <a:ext cx="4262351" cy="877198"/>
          </a:xfrm>
          <a:prstGeom prst="flowChartTermina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 dirty="0">
                <a:solidFill>
                  <a:srgbClr val="092241"/>
                </a:solidFill>
                <a:cs typeface="Arial"/>
              </a:rPr>
              <a:t>01</a:t>
            </a:r>
            <a:r>
              <a:rPr lang="en-US" sz="3000" b="1" dirty="0">
                <a:solidFill>
                  <a:schemeClr val="tx1"/>
                </a:solidFill>
                <a:cs typeface="Arial"/>
              </a:rPr>
              <a:t> </a:t>
            </a:r>
            <a:r>
              <a:rPr lang="en" sz="3200" b="1" dirty="0">
                <a:solidFill>
                  <a:schemeClr val="tx1"/>
                </a:solidFill>
                <a:cs typeface="Arial"/>
              </a:rPr>
              <a:t>Hardware Demo</a:t>
            </a:r>
            <a:endParaRPr lang="en-US" sz="3200" dirty="0">
              <a:solidFill>
                <a:schemeClr val="tx1"/>
              </a:solidFill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9C8658-996B-F23B-9A18-6C54CE68D74F}"/>
                  </a:ext>
                </a:extLst>
              </p14:cNvPr>
              <p14:cNvContentPartPr/>
              <p14:nvPr/>
            </p14:nvContentPartPr>
            <p14:xfrm>
              <a:off x="6450904" y="4736403"/>
              <a:ext cx="9785" cy="978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9C8658-996B-F23B-9A18-6C54CE68D7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1654" y="4247153"/>
                <a:ext cx="978500" cy="9785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0CA7E7AF-E990-7613-01F1-55C0558C6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89" t="3148" r="1956" b="3148"/>
          <a:stretch>
            <a:fillRect/>
          </a:stretch>
        </p:blipFill>
        <p:spPr>
          <a:xfrm>
            <a:off x="584738" y="1509455"/>
            <a:ext cx="2544358" cy="2552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A3238C-951D-58A9-385E-B1E1C18CA9D4}"/>
              </a:ext>
            </a:extLst>
          </p:cNvPr>
          <p:cNvSpPr txBox="1"/>
          <p:nvPr/>
        </p:nvSpPr>
        <p:spPr>
          <a:xfrm>
            <a:off x="3480156" y="3275409"/>
            <a:ext cx="3318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Scan to watch the Hardware Demo for </a:t>
            </a:r>
            <a:r>
              <a:rPr lang="en-US" sz="1800" err="1">
                <a:solidFill>
                  <a:schemeClr val="tx1"/>
                </a:solidFill>
              </a:rPr>
              <a:t>MooNet</a:t>
            </a:r>
            <a:endParaRPr lang="en-US" sz="18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524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3168E-154F-8EE2-AD04-F88BC023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CB8FC121-8589-072F-8C7B-F8BC1E70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9" t="3148" r="1956" b="3148"/>
          <a:stretch>
            <a:fillRect/>
          </a:stretch>
        </p:blipFill>
        <p:spPr>
          <a:xfrm>
            <a:off x="544098" y="1550095"/>
            <a:ext cx="2544358" cy="2552187"/>
          </a:xfrm>
          <a:prstGeom prst="rect">
            <a:avLst/>
          </a:prstGeom>
        </p:spPr>
      </p:pic>
      <p:grpSp>
        <p:nvGrpSpPr>
          <p:cNvPr id="37" name="Google Shape;516;p34">
            <a:extLst>
              <a:ext uri="{FF2B5EF4-FFF2-40B4-BE49-F238E27FC236}">
                <a16:creationId xmlns:a16="http://schemas.microsoft.com/office/drawing/2014/main" id="{C0819BDB-A302-3D56-7747-65AE632071B1}"/>
              </a:ext>
            </a:extLst>
          </p:cNvPr>
          <p:cNvGrpSpPr/>
          <p:nvPr/>
        </p:nvGrpSpPr>
        <p:grpSpPr>
          <a:xfrm>
            <a:off x="6140829" y="-890740"/>
            <a:ext cx="5490816" cy="5475238"/>
            <a:chOff x="5100984" y="-343157"/>
            <a:chExt cx="5490816" cy="5475238"/>
          </a:xfrm>
        </p:grpSpPr>
        <p:sp>
          <p:nvSpPr>
            <p:cNvPr id="38" name="Google Shape;517;p34">
              <a:extLst>
                <a:ext uri="{FF2B5EF4-FFF2-40B4-BE49-F238E27FC236}">
                  <a16:creationId xmlns:a16="http://schemas.microsoft.com/office/drawing/2014/main" id="{AC63D898-EFDD-E087-536D-BF3C740F022D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18;p34">
              <a:extLst>
                <a:ext uri="{FF2B5EF4-FFF2-40B4-BE49-F238E27FC236}">
                  <a16:creationId xmlns:a16="http://schemas.microsoft.com/office/drawing/2014/main" id="{79C301EF-F72C-4592-76DE-E3ED6E3F7717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19;p34">
              <a:extLst>
                <a:ext uri="{FF2B5EF4-FFF2-40B4-BE49-F238E27FC236}">
                  <a16:creationId xmlns:a16="http://schemas.microsoft.com/office/drawing/2014/main" id="{5258E29A-31BE-3C15-C891-6D34AB529C5F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20;p34">
              <a:extLst>
                <a:ext uri="{FF2B5EF4-FFF2-40B4-BE49-F238E27FC236}">
                  <a16:creationId xmlns:a16="http://schemas.microsoft.com/office/drawing/2014/main" id="{C56A5FFB-4469-3782-9846-7EEA4BA270F5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21;p34">
              <a:extLst>
                <a:ext uri="{FF2B5EF4-FFF2-40B4-BE49-F238E27FC236}">
                  <a16:creationId xmlns:a16="http://schemas.microsoft.com/office/drawing/2014/main" id="{2B2D62A3-2A6A-2EC6-2668-0352A6FEBA3D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2;p34">
              <a:extLst>
                <a:ext uri="{FF2B5EF4-FFF2-40B4-BE49-F238E27FC236}">
                  <a16:creationId xmlns:a16="http://schemas.microsoft.com/office/drawing/2014/main" id="{6178356D-047E-F8E1-D64D-A57E02B4DA86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4AF7DD1-FC69-FC77-BB62-27B385898EEB}"/>
              </a:ext>
            </a:extLst>
          </p:cNvPr>
          <p:cNvSpPr/>
          <p:nvPr/>
        </p:nvSpPr>
        <p:spPr>
          <a:xfrm>
            <a:off x="2291228" y="207339"/>
            <a:ext cx="4262351" cy="877198"/>
          </a:xfrm>
          <a:prstGeom prst="flowChartTermina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000" b="1">
                <a:solidFill>
                  <a:srgbClr val="092241"/>
                </a:solidFill>
                <a:cs typeface="Arial"/>
              </a:rPr>
              <a:t>02</a:t>
            </a:r>
            <a:r>
              <a:rPr lang="en-US" sz="3000" b="1">
                <a:solidFill>
                  <a:schemeClr val="tx1"/>
                </a:solidFill>
                <a:cs typeface="Arial"/>
              </a:rPr>
              <a:t> Software </a:t>
            </a:r>
            <a:r>
              <a:rPr lang="en" sz="3200" b="1">
                <a:solidFill>
                  <a:schemeClr val="tx1"/>
                </a:solidFill>
                <a:cs typeface="Arial"/>
              </a:rPr>
              <a:t>Demo</a:t>
            </a:r>
            <a:endParaRPr lang="en-US" sz="3200">
              <a:solidFill>
                <a:schemeClr val="tx1"/>
              </a:solidFill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BD5E73-4E1F-1CAB-BF3F-2FD21910C2BB}"/>
                  </a:ext>
                </a:extLst>
              </p14:cNvPr>
              <p14:cNvContentPartPr/>
              <p14:nvPr/>
            </p14:nvContentPartPr>
            <p14:xfrm>
              <a:off x="6450904" y="4736403"/>
              <a:ext cx="9785" cy="9785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BD5E73-4E1F-1CAB-BF3F-2FD21910C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1654" y="4247153"/>
                <a:ext cx="978500" cy="9785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5DF89B6-A3ED-808D-E7A2-3D860827AA46}"/>
              </a:ext>
            </a:extLst>
          </p:cNvPr>
          <p:cNvSpPr txBox="1"/>
          <p:nvPr/>
        </p:nvSpPr>
        <p:spPr>
          <a:xfrm>
            <a:off x="3480156" y="3275409"/>
            <a:ext cx="3318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chemeClr val="tx1"/>
                </a:solidFill>
              </a:rPr>
              <a:t>Scan to watch the Software Demo for </a:t>
            </a:r>
            <a:r>
              <a:rPr lang="en-US" sz="1800" err="1">
                <a:solidFill>
                  <a:schemeClr val="tx1"/>
                </a:solidFill>
              </a:rPr>
              <a:t>MooNet</a:t>
            </a:r>
            <a:endParaRPr lang="en-US" sz="180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7CECE85-7649-D9B6-8191-5E6D4126B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35" y="1406699"/>
            <a:ext cx="2735111" cy="27137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536476"/>
      </p:ext>
    </p:extLst>
  </p:cSld>
  <p:clrMapOvr>
    <a:masterClrMapping/>
  </p:clrMapOvr>
  <p:transition spd="med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E372E-87E8-3AF6-5000-0E0353F1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BF8785-C3CB-9B02-E7E2-9136321BC6F9}"/>
              </a:ext>
            </a:extLst>
          </p:cNvPr>
          <p:cNvSpPr/>
          <p:nvPr/>
        </p:nvSpPr>
        <p:spPr>
          <a:xfrm>
            <a:off x="4083261" y="314598"/>
            <a:ext cx="4106761" cy="873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96;p32">
            <a:extLst>
              <a:ext uri="{FF2B5EF4-FFF2-40B4-BE49-F238E27FC236}">
                <a16:creationId xmlns:a16="http://schemas.microsoft.com/office/drawing/2014/main" id="{472E6B00-A3DD-48A3-3BE3-6548A7B29546}"/>
              </a:ext>
            </a:extLst>
          </p:cNvPr>
          <p:cNvSpPr txBox="1">
            <a:spLocks/>
          </p:cNvSpPr>
          <p:nvPr/>
        </p:nvSpPr>
        <p:spPr>
          <a:xfrm>
            <a:off x="223995" y="1502563"/>
            <a:ext cx="5635188" cy="2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  <a:buClr>
                <a:schemeClr val="dk1"/>
              </a:buClr>
              <a:buSzPts val="3000"/>
            </a:pPr>
            <a:r>
              <a:rPr lang="en-US" sz="7200" dirty="0">
                <a:solidFill>
                  <a:schemeClr val="dk1"/>
                </a:solidFill>
                <a:latin typeface="Archivo Black"/>
                <a:cs typeface="Archivo Black"/>
                <a:sym typeface="Archivo Black"/>
              </a:rPr>
              <a:t>Upcoming</a:t>
            </a:r>
          </a:p>
          <a:p>
            <a:pPr>
              <a:lnSpc>
                <a:spcPct val="114999"/>
              </a:lnSpc>
              <a:buClr>
                <a:schemeClr val="dk1"/>
              </a:buClr>
              <a:buSzPts val="3000"/>
            </a:pPr>
            <a:r>
              <a:rPr lang="en" sz="7200" dirty="0">
                <a:solidFill>
                  <a:schemeClr val="dk1"/>
                </a:solidFill>
                <a:latin typeface="Archivo Black"/>
                <a:cs typeface="Archivo Black"/>
                <a:sym typeface="Archivo Black"/>
              </a:rPr>
              <a:t>Features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8C40D7-666E-E2EA-C871-FC80B5A51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7515" y="1472374"/>
            <a:ext cx="3736427" cy="37167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FF32E9-F6E1-8E97-7804-D50187A15BF8}"/>
              </a:ext>
            </a:extLst>
          </p:cNvPr>
          <p:cNvSpPr/>
          <p:nvPr/>
        </p:nvSpPr>
        <p:spPr>
          <a:xfrm>
            <a:off x="1" y="314598"/>
            <a:ext cx="670559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17</a:t>
            </a:r>
          </a:p>
        </p:txBody>
      </p:sp>
      <p:grpSp>
        <p:nvGrpSpPr>
          <p:cNvPr id="4" name="Google Shape;516;p34">
            <a:extLst>
              <a:ext uri="{FF2B5EF4-FFF2-40B4-BE49-F238E27FC236}">
                <a16:creationId xmlns:a16="http://schemas.microsoft.com/office/drawing/2014/main" id="{25721340-B724-BF4E-0B30-9720100B6745}"/>
              </a:ext>
            </a:extLst>
          </p:cNvPr>
          <p:cNvGrpSpPr/>
          <p:nvPr/>
        </p:nvGrpSpPr>
        <p:grpSpPr>
          <a:xfrm>
            <a:off x="6140829" y="-890740"/>
            <a:ext cx="5490816" cy="5475238"/>
            <a:chOff x="5100984" y="-343157"/>
            <a:chExt cx="5490816" cy="5475238"/>
          </a:xfrm>
        </p:grpSpPr>
        <p:sp>
          <p:nvSpPr>
            <p:cNvPr id="7" name="Google Shape;517;p34">
              <a:extLst>
                <a:ext uri="{FF2B5EF4-FFF2-40B4-BE49-F238E27FC236}">
                  <a16:creationId xmlns:a16="http://schemas.microsoft.com/office/drawing/2014/main" id="{17F04138-4D41-437B-16BF-3F67D1EF9F63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18;p34">
              <a:extLst>
                <a:ext uri="{FF2B5EF4-FFF2-40B4-BE49-F238E27FC236}">
                  <a16:creationId xmlns:a16="http://schemas.microsoft.com/office/drawing/2014/main" id="{DA4D1C6E-8510-B76A-7377-4E4C9E7EB9EA}"/>
                </a:ext>
              </a:extLst>
            </p:cNvPr>
            <p:cNvSpPr/>
            <p:nvPr/>
          </p:nvSpPr>
          <p:spPr>
            <a:xfrm rot="-8100410" flipH="1">
              <a:off x="7119560" y="1497006"/>
              <a:ext cx="1780000" cy="47772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19;p34">
              <a:extLst>
                <a:ext uri="{FF2B5EF4-FFF2-40B4-BE49-F238E27FC236}">
                  <a16:creationId xmlns:a16="http://schemas.microsoft.com/office/drawing/2014/main" id="{F16FB94A-2F1D-E0F4-4934-0CB8D25D1131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20;p34">
              <a:extLst>
                <a:ext uri="{FF2B5EF4-FFF2-40B4-BE49-F238E27FC236}">
                  <a16:creationId xmlns:a16="http://schemas.microsoft.com/office/drawing/2014/main" id="{1129582A-66D5-E5FD-D2F8-5B94416B8F13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21;p34">
              <a:extLst>
                <a:ext uri="{FF2B5EF4-FFF2-40B4-BE49-F238E27FC236}">
                  <a16:creationId xmlns:a16="http://schemas.microsoft.com/office/drawing/2014/main" id="{F186CB2F-7784-1BAD-A111-DBBE91356E27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22;p34">
              <a:extLst>
                <a:ext uri="{FF2B5EF4-FFF2-40B4-BE49-F238E27FC236}">
                  <a16:creationId xmlns:a16="http://schemas.microsoft.com/office/drawing/2014/main" id="{0044814D-3A7A-7BC9-8BA9-33300517B2DE}"/>
                </a:ext>
              </a:extLst>
            </p:cNvPr>
            <p:cNvSpPr/>
            <p:nvPr/>
          </p:nvSpPr>
          <p:spPr>
            <a:xfrm rot="-8100410" flipH="1">
              <a:off x="4955884" y="238251"/>
              <a:ext cx="1780000" cy="326683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95229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EE4D8-FADE-57BF-B527-DEDEC2BA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D1DD97-214D-7228-CDED-B2F0BD865182}"/>
              </a:ext>
            </a:extLst>
          </p:cNvPr>
          <p:cNvSpPr txBox="1"/>
          <p:nvPr/>
        </p:nvSpPr>
        <p:spPr>
          <a:xfrm>
            <a:off x="3528508" y="4063721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</a:rPr>
              <a:t>Historical </a:t>
            </a:r>
            <a:r>
              <a:rPr lang="en-US" sz="1800">
                <a:solidFill>
                  <a:schemeClr val="tx1"/>
                </a:solidFill>
              </a:rPr>
              <a:t>Records</a:t>
            </a:r>
            <a:endParaRPr lang="en-US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12261-1010-9A3E-8881-00AD389370C7}"/>
              </a:ext>
            </a:extLst>
          </p:cNvPr>
          <p:cNvSpPr txBox="1"/>
          <p:nvPr/>
        </p:nvSpPr>
        <p:spPr>
          <a:xfrm>
            <a:off x="1339327" y="2734746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</a:rPr>
              <a:t>Waste </a:t>
            </a:r>
            <a:r>
              <a:rPr lang="en-US" sz="1800">
                <a:solidFill>
                  <a:schemeClr val="tx1"/>
                </a:solidFill>
              </a:rPr>
              <a:t>Management</a:t>
            </a:r>
            <a:r>
              <a:rPr lang="en-US" sz="1800" b="0" i="0">
                <a:solidFill>
                  <a:schemeClr val="tx1"/>
                </a:solidFill>
                <a:effectLst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42CFD-1111-AD73-B8A5-2B4B9ED53978}"/>
              </a:ext>
            </a:extLst>
          </p:cNvPr>
          <p:cNvSpPr txBox="1"/>
          <p:nvPr/>
        </p:nvSpPr>
        <p:spPr>
          <a:xfrm>
            <a:off x="5405716" y="2734747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</a:rPr>
              <a:t>Livestock </a:t>
            </a:r>
            <a:r>
              <a:rPr lang="en-US" sz="1800">
                <a:solidFill>
                  <a:schemeClr val="tx1"/>
                </a:solidFill>
              </a:rPr>
              <a:t>Identifications</a:t>
            </a:r>
            <a:r>
              <a:rPr lang="en-US" sz="1800" b="0" i="0">
                <a:solidFill>
                  <a:schemeClr val="tx1"/>
                </a:solidFill>
                <a:effectLst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11" name="Picture 10" descr="A blue recycle bin with a lid&#10;&#10;AI-generated content may be incorrect.">
            <a:extLst>
              <a:ext uri="{FF2B5EF4-FFF2-40B4-BE49-F238E27FC236}">
                <a16:creationId xmlns:a16="http://schemas.microsoft.com/office/drawing/2014/main" id="{464722CD-6698-7374-D57A-E13862CA7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96" b="4796"/>
          <a:stretch/>
        </p:blipFill>
        <p:spPr>
          <a:xfrm>
            <a:off x="1864575" y="1921768"/>
            <a:ext cx="734752" cy="78820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 descr="A cow with horns and earrings&#10;&#10;AI-generated content may be incorrect.">
            <a:extLst>
              <a:ext uri="{FF2B5EF4-FFF2-40B4-BE49-F238E27FC236}">
                <a16:creationId xmlns:a16="http://schemas.microsoft.com/office/drawing/2014/main" id="{3C995A91-9CBE-4770-3D18-ABCCA6A5C2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25" r="8625"/>
          <a:stretch/>
        </p:blipFill>
        <p:spPr>
          <a:xfrm>
            <a:off x="6177298" y="1921767"/>
            <a:ext cx="734753" cy="78820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C5DD88-8F2D-4CA6-39D9-F5E1209E0A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99" r="1099"/>
          <a:stretch/>
        </p:blipFill>
        <p:spPr>
          <a:xfrm>
            <a:off x="4080292" y="3186462"/>
            <a:ext cx="734752" cy="78820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23" name="Google Shape;516;p34">
            <a:extLst>
              <a:ext uri="{FF2B5EF4-FFF2-40B4-BE49-F238E27FC236}">
                <a16:creationId xmlns:a16="http://schemas.microsoft.com/office/drawing/2014/main" id="{84B22D47-A996-17EA-E5E0-125BE4927B63}"/>
              </a:ext>
            </a:extLst>
          </p:cNvPr>
          <p:cNvGrpSpPr/>
          <p:nvPr/>
        </p:nvGrpSpPr>
        <p:grpSpPr>
          <a:xfrm rot="5400000">
            <a:off x="6923538" y="2542561"/>
            <a:ext cx="2766343" cy="3208989"/>
            <a:chOff x="4666929" y="-316480"/>
            <a:chExt cx="5924871" cy="5448561"/>
          </a:xfrm>
        </p:grpSpPr>
        <p:sp>
          <p:nvSpPr>
            <p:cNvPr id="24" name="Google Shape;517;p34">
              <a:extLst>
                <a:ext uri="{FF2B5EF4-FFF2-40B4-BE49-F238E27FC236}">
                  <a16:creationId xmlns:a16="http://schemas.microsoft.com/office/drawing/2014/main" id="{5E502975-D3CA-F2EB-4AD8-876CC0F29DB6}"/>
                </a:ext>
              </a:extLst>
            </p:cNvPr>
            <p:cNvSpPr/>
            <p:nvPr/>
          </p:nvSpPr>
          <p:spPr>
            <a:xfrm rot="10800000">
              <a:off x="5427300" y="-11419"/>
              <a:ext cx="5164500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18;p34">
              <a:extLst>
                <a:ext uri="{FF2B5EF4-FFF2-40B4-BE49-F238E27FC236}">
                  <a16:creationId xmlns:a16="http://schemas.microsoft.com/office/drawing/2014/main" id="{57D6D86B-DBD6-3DF6-2CAB-12F4FE01F0D5}"/>
                </a:ext>
              </a:extLst>
            </p:cNvPr>
            <p:cNvSpPr/>
            <p:nvPr/>
          </p:nvSpPr>
          <p:spPr>
            <a:xfrm rot="13437716" flipH="1">
              <a:off x="7202740" y="1523622"/>
              <a:ext cx="1780000" cy="28774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519;p34">
              <a:extLst>
                <a:ext uri="{FF2B5EF4-FFF2-40B4-BE49-F238E27FC236}">
                  <a16:creationId xmlns:a16="http://schemas.microsoft.com/office/drawing/2014/main" id="{BBEF7CAE-588D-4978-561F-E30B96304166}"/>
                </a:ext>
              </a:extLst>
            </p:cNvPr>
            <p:cNvSpPr/>
            <p:nvPr/>
          </p:nvSpPr>
          <p:spPr>
            <a:xfrm rot="-8100000" flipH="1">
              <a:off x="8492184" y="31839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20;p34">
              <a:extLst>
                <a:ext uri="{FF2B5EF4-FFF2-40B4-BE49-F238E27FC236}">
                  <a16:creationId xmlns:a16="http://schemas.microsoft.com/office/drawing/2014/main" id="{32686EAD-2346-5225-6063-43B3EEC24852}"/>
                </a:ext>
              </a:extLst>
            </p:cNvPr>
            <p:cNvSpPr/>
            <p:nvPr/>
          </p:nvSpPr>
          <p:spPr>
            <a:xfrm rot="10800000" flipH="1">
              <a:off x="6015289" y="824156"/>
              <a:ext cx="1596600" cy="1596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21;p34">
              <a:extLst>
                <a:ext uri="{FF2B5EF4-FFF2-40B4-BE49-F238E27FC236}">
                  <a16:creationId xmlns:a16="http://schemas.microsoft.com/office/drawing/2014/main" id="{2FBA5AD3-A43E-1A92-DBDD-9890C65228F1}"/>
                </a:ext>
              </a:extLst>
            </p:cNvPr>
            <p:cNvSpPr/>
            <p:nvPr/>
          </p:nvSpPr>
          <p:spPr>
            <a:xfrm rot="-8100000" flipH="1">
              <a:off x="6720959" y="124118"/>
              <a:ext cx="996172" cy="114976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22;p34">
              <a:extLst>
                <a:ext uri="{FF2B5EF4-FFF2-40B4-BE49-F238E27FC236}">
                  <a16:creationId xmlns:a16="http://schemas.microsoft.com/office/drawing/2014/main" id="{4DD94151-DE86-C075-E32F-78A1F17BEBE8}"/>
                </a:ext>
              </a:extLst>
            </p:cNvPr>
            <p:cNvSpPr/>
            <p:nvPr/>
          </p:nvSpPr>
          <p:spPr>
            <a:xfrm rot="13499590" flipH="1">
              <a:off x="4666929" y="638631"/>
              <a:ext cx="3288455" cy="479426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A54ED18-E8CC-BCDD-E9B6-62A4E379667F}"/>
              </a:ext>
            </a:extLst>
          </p:cNvPr>
          <p:cNvSpPr/>
          <p:nvPr/>
        </p:nvSpPr>
        <p:spPr>
          <a:xfrm>
            <a:off x="1" y="314598"/>
            <a:ext cx="4075222" cy="7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17 </a:t>
            </a:r>
            <a:r>
              <a:rPr lang="en-US" sz="2800" b="1" dirty="0">
                <a:solidFill>
                  <a:schemeClr val="tx1"/>
                </a:solidFill>
              </a:rPr>
              <a:t>Upcoming </a:t>
            </a:r>
            <a:r>
              <a:rPr lang="en" sz="2800" b="1" dirty="0">
                <a:solidFill>
                  <a:schemeClr val="tx1"/>
                </a:solidFill>
              </a:rPr>
              <a:t>Features</a:t>
            </a:r>
            <a:r>
              <a:rPr lang="en-US" sz="3000" dirty="0">
                <a:solidFill>
                  <a:schemeClr val="tx1"/>
                </a:solidFill>
                <a:latin typeface="Archivo Black"/>
                <a:cs typeface="Archivo Black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7DC4F-E823-B04F-192C-23AD2EEF9D16}"/>
              </a:ext>
            </a:extLst>
          </p:cNvPr>
          <p:cNvSpPr/>
          <p:nvPr/>
        </p:nvSpPr>
        <p:spPr>
          <a:xfrm>
            <a:off x="4083261" y="259327"/>
            <a:ext cx="4106761" cy="9291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48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12">
          <a:extLst>
            <a:ext uri="{FF2B5EF4-FFF2-40B4-BE49-F238E27FC236}">
              <a16:creationId xmlns:a16="http://schemas.microsoft.com/office/drawing/2014/main" id="{108F59E3-5A9E-3F04-2AF3-A88A60C1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E082200-4846-9D40-CC3D-4E0DAB7ACDC3}"/>
              </a:ext>
            </a:extLst>
          </p:cNvPr>
          <p:cNvSpPr/>
          <p:nvPr/>
        </p:nvSpPr>
        <p:spPr>
          <a:xfrm>
            <a:off x="5523895" y="4396797"/>
            <a:ext cx="2031007" cy="4575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Google Shape;515;p34">
            <a:extLst>
              <a:ext uri="{FF2B5EF4-FFF2-40B4-BE49-F238E27FC236}">
                <a16:creationId xmlns:a16="http://schemas.microsoft.com/office/drawing/2014/main" id="{48A0D29E-4EC5-56F0-EB7D-C553B8C8E5BC}"/>
              </a:ext>
            </a:extLst>
          </p:cNvPr>
          <p:cNvSpPr/>
          <p:nvPr/>
        </p:nvSpPr>
        <p:spPr>
          <a:xfrm rot="13500000" flipH="1">
            <a:off x="7733153" y="4137111"/>
            <a:ext cx="1405490" cy="76370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506;p33">
            <a:extLst>
              <a:ext uri="{FF2B5EF4-FFF2-40B4-BE49-F238E27FC236}">
                <a16:creationId xmlns:a16="http://schemas.microsoft.com/office/drawing/2014/main" id="{F149B875-9AF9-60D0-476B-19A6D807622F}"/>
              </a:ext>
            </a:extLst>
          </p:cNvPr>
          <p:cNvSpPr txBox="1">
            <a:spLocks noGrp="1"/>
          </p:cNvSpPr>
          <p:nvPr/>
        </p:nvSpPr>
        <p:spPr>
          <a:xfrm>
            <a:off x="724116" y="496496"/>
            <a:ext cx="7704000" cy="121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chivo Black"/>
              <a:buNone/>
              <a:defRPr sz="32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pPr algn="ctr"/>
            <a:r>
              <a:rPr lang="en-US" sz="7200"/>
              <a:t>Thanks!</a:t>
            </a:r>
          </a:p>
        </p:txBody>
      </p:sp>
      <p:grpSp>
        <p:nvGrpSpPr>
          <p:cNvPr id="12" name="Google Shape;516;p34">
            <a:extLst>
              <a:ext uri="{FF2B5EF4-FFF2-40B4-BE49-F238E27FC236}">
                <a16:creationId xmlns:a16="http://schemas.microsoft.com/office/drawing/2014/main" id="{BAF5900D-9023-7549-79BA-E68B83AFC715}"/>
              </a:ext>
            </a:extLst>
          </p:cNvPr>
          <p:cNvGrpSpPr/>
          <p:nvPr/>
        </p:nvGrpSpPr>
        <p:grpSpPr>
          <a:xfrm rot="10800000">
            <a:off x="-689231" y="1624869"/>
            <a:ext cx="3072468" cy="4192527"/>
            <a:chOff x="5557116" y="-243244"/>
            <a:chExt cx="5164499" cy="5375325"/>
          </a:xfrm>
        </p:grpSpPr>
        <p:sp>
          <p:nvSpPr>
            <p:cNvPr id="5" name="Google Shape;517;p34">
              <a:extLst>
                <a:ext uri="{FF2B5EF4-FFF2-40B4-BE49-F238E27FC236}">
                  <a16:creationId xmlns:a16="http://schemas.microsoft.com/office/drawing/2014/main" id="{DEA3F39D-9947-EABF-714E-6D1E5E2F7B3E}"/>
                </a:ext>
              </a:extLst>
            </p:cNvPr>
            <p:cNvSpPr/>
            <p:nvPr/>
          </p:nvSpPr>
          <p:spPr>
            <a:xfrm rot="10800000">
              <a:off x="5557116" y="-11419"/>
              <a:ext cx="5164499" cy="51435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19;p34">
              <a:extLst>
                <a:ext uri="{FF2B5EF4-FFF2-40B4-BE49-F238E27FC236}">
                  <a16:creationId xmlns:a16="http://schemas.microsoft.com/office/drawing/2014/main" id="{80DD622E-1773-19C9-1D78-E4EC54BB4448}"/>
                </a:ext>
              </a:extLst>
            </p:cNvPr>
            <p:cNvSpPr/>
            <p:nvPr/>
          </p:nvSpPr>
          <p:spPr>
            <a:xfrm rot="13860000" flipH="1">
              <a:off x="8294245" y="3052586"/>
              <a:ext cx="1660903" cy="215642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18;p34">
              <a:extLst>
                <a:ext uri="{FF2B5EF4-FFF2-40B4-BE49-F238E27FC236}">
                  <a16:creationId xmlns:a16="http://schemas.microsoft.com/office/drawing/2014/main" id="{D357596B-8238-B7B7-90A9-D494D1B7D9E5}"/>
                </a:ext>
              </a:extLst>
            </p:cNvPr>
            <p:cNvSpPr/>
            <p:nvPr/>
          </p:nvSpPr>
          <p:spPr>
            <a:xfrm rot="13800000" flipH="1">
              <a:off x="6505987" y="671012"/>
              <a:ext cx="2337988" cy="509475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20;p34">
              <a:extLst>
                <a:ext uri="{FF2B5EF4-FFF2-40B4-BE49-F238E27FC236}">
                  <a16:creationId xmlns:a16="http://schemas.microsoft.com/office/drawing/2014/main" id="{5A40F569-C6E9-B28B-5004-37CE07635695}"/>
                </a:ext>
              </a:extLst>
            </p:cNvPr>
            <p:cNvSpPr/>
            <p:nvPr/>
          </p:nvSpPr>
          <p:spPr>
            <a:xfrm rot="10800000" flipH="1">
              <a:off x="7425403" y="1137297"/>
              <a:ext cx="981198" cy="110429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1;p34">
              <a:extLst>
                <a:ext uri="{FF2B5EF4-FFF2-40B4-BE49-F238E27FC236}">
                  <a16:creationId xmlns:a16="http://schemas.microsoft.com/office/drawing/2014/main" id="{C2F6F981-1806-FDA4-53FC-1489DA6AB812}"/>
                </a:ext>
              </a:extLst>
            </p:cNvPr>
            <p:cNvSpPr/>
            <p:nvPr/>
          </p:nvSpPr>
          <p:spPr>
            <a:xfrm rot="13500000" flipH="1">
              <a:off x="7240220" y="213234"/>
              <a:ext cx="996171" cy="114975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22;p34">
              <a:extLst>
                <a:ext uri="{FF2B5EF4-FFF2-40B4-BE49-F238E27FC236}">
                  <a16:creationId xmlns:a16="http://schemas.microsoft.com/office/drawing/2014/main" id="{3C3F23A9-A1A3-4964-311C-A83C54374858}"/>
                </a:ext>
              </a:extLst>
            </p:cNvPr>
            <p:cNvSpPr/>
            <p:nvPr/>
          </p:nvSpPr>
          <p:spPr>
            <a:xfrm rot="13800000" flipH="1">
              <a:off x="5255175" y="578497"/>
              <a:ext cx="1991427" cy="506178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462;p30">
            <a:extLst>
              <a:ext uri="{FF2B5EF4-FFF2-40B4-BE49-F238E27FC236}">
                <a16:creationId xmlns:a16="http://schemas.microsoft.com/office/drawing/2014/main" id="{F3E59F4A-C690-A65C-F2E8-6992C7AA1F72}"/>
              </a:ext>
            </a:extLst>
          </p:cNvPr>
          <p:cNvGrpSpPr/>
          <p:nvPr/>
        </p:nvGrpSpPr>
        <p:grpSpPr>
          <a:xfrm>
            <a:off x="7503844" y="540015"/>
            <a:ext cx="1309796" cy="257750"/>
            <a:chOff x="-6337521" y="4362225"/>
            <a:chExt cx="1309796" cy="257750"/>
          </a:xfrm>
        </p:grpSpPr>
        <p:sp>
          <p:nvSpPr>
            <p:cNvPr id="14" name="Google Shape;463;p30">
              <a:extLst>
                <a:ext uri="{FF2B5EF4-FFF2-40B4-BE49-F238E27FC236}">
                  <a16:creationId xmlns:a16="http://schemas.microsoft.com/office/drawing/2014/main" id="{ACE7E47D-1CC4-7FD9-6536-9C1BC400328A}"/>
                </a:ext>
              </a:extLst>
            </p:cNvPr>
            <p:cNvSpPr/>
            <p:nvPr/>
          </p:nvSpPr>
          <p:spPr>
            <a:xfrm>
              <a:off x="-591797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64;p30">
              <a:extLst>
                <a:ext uri="{FF2B5EF4-FFF2-40B4-BE49-F238E27FC236}">
                  <a16:creationId xmlns:a16="http://schemas.microsoft.com/office/drawing/2014/main" id="{9C10D7D4-97C5-36CF-10B2-A1C4E62C6157}"/>
                </a:ext>
              </a:extLst>
            </p:cNvPr>
            <p:cNvSpPr/>
            <p:nvPr/>
          </p:nvSpPr>
          <p:spPr>
            <a:xfrm>
              <a:off x="-5713862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65;p30">
              <a:extLst>
                <a:ext uri="{FF2B5EF4-FFF2-40B4-BE49-F238E27FC236}">
                  <a16:creationId xmlns:a16="http://schemas.microsoft.com/office/drawing/2014/main" id="{FC8A4657-BC58-637A-603F-F0AC6F007D0B}"/>
                </a:ext>
              </a:extLst>
            </p:cNvPr>
            <p:cNvSpPr/>
            <p:nvPr/>
          </p:nvSpPr>
          <p:spPr>
            <a:xfrm>
              <a:off x="-5509750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66;p30">
              <a:extLst>
                <a:ext uri="{FF2B5EF4-FFF2-40B4-BE49-F238E27FC236}">
                  <a16:creationId xmlns:a16="http://schemas.microsoft.com/office/drawing/2014/main" id="{24E74D56-4393-9D57-EA75-BED1C2AF3448}"/>
                </a:ext>
              </a:extLst>
            </p:cNvPr>
            <p:cNvSpPr/>
            <p:nvPr/>
          </p:nvSpPr>
          <p:spPr>
            <a:xfrm>
              <a:off x="-5305637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67;p30">
              <a:extLst>
                <a:ext uri="{FF2B5EF4-FFF2-40B4-BE49-F238E27FC236}">
                  <a16:creationId xmlns:a16="http://schemas.microsoft.com/office/drawing/2014/main" id="{1359ECB0-06B5-418D-FA63-CB22F4736FB9}"/>
                </a:ext>
              </a:extLst>
            </p:cNvPr>
            <p:cNvSpPr/>
            <p:nvPr/>
          </p:nvSpPr>
          <p:spPr>
            <a:xfrm>
              <a:off x="-5101525" y="436222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68;p30">
              <a:extLst>
                <a:ext uri="{FF2B5EF4-FFF2-40B4-BE49-F238E27FC236}">
                  <a16:creationId xmlns:a16="http://schemas.microsoft.com/office/drawing/2014/main" id="{29BCC9F9-98B1-B3EA-CEF9-62446C5441FD}"/>
                </a:ext>
              </a:extLst>
            </p:cNvPr>
            <p:cNvSpPr/>
            <p:nvPr/>
          </p:nvSpPr>
          <p:spPr>
            <a:xfrm>
              <a:off x="-633752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69;p30">
              <a:extLst>
                <a:ext uri="{FF2B5EF4-FFF2-40B4-BE49-F238E27FC236}">
                  <a16:creationId xmlns:a16="http://schemas.microsoft.com/office/drawing/2014/main" id="{03041DCF-675F-8BD8-7815-481B89F78840}"/>
                </a:ext>
              </a:extLst>
            </p:cNvPr>
            <p:cNvSpPr/>
            <p:nvPr/>
          </p:nvSpPr>
          <p:spPr>
            <a:xfrm>
              <a:off x="-6133409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70;p30">
              <a:extLst>
                <a:ext uri="{FF2B5EF4-FFF2-40B4-BE49-F238E27FC236}">
                  <a16:creationId xmlns:a16="http://schemas.microsoft.com/office/drawing/2014/main" id="{3DB6FCE8-3EC1-8C1D-250C-AB095271C829}"/>
                </a:ext>
              </a:extLst>
            </p:cNvPr>
            <p:cNvSpPr/>
            <p:nvPr/>
          </p:nvSpPr>
          <p:spPr>
            <a:xfrm>
              <a:off x="-5929296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71;p30">
              <a:extLst>
                <a:ext uri="{FF2B5EF4-FFF2-40B4-BE49-F238E27FC236}">
                  <a16:creationId xmlns:a16="http://schemas.microsoft.com/office/drawing/2014/main" id="{562CBE80-B4F3-444A-FC7F-E54308E6D587}"/>
                </a:ext>
              </a:extLst>
            </p:cNvPr>
            <p:cNvSpPr/>
            <p:nvPr/>
          </p:nvSpPr>
          <p:spPr>
            <a:xfrm>
              <a:off x="-5725184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72;p30">
              <a:extLst>
                <a:ext uri="{FF2B5EF4-FFF2-40B4-BE49-F238E27FC236}">
                  <a16:creationId xmlns:a16="http://schemas.microsoft.com/office/drawing/2014/main" id="{EF564D8D-2461-4350-07A9-6372FB15E1B4}"/>
                </a:ext>
              </a:extLst>
            </p:cNvPr>
            <p:cNvSpPr/>
            <p:nvPr/>
          </p:nvSpPr>
          <p:spPr>
            <a:xfrm>
              <a:off x="-5521071" y="4546175"/>
              <a:ext cx="73800" cy="73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456;p30">
            <a:extLst>
              <a:ext uri="{FF2B5EF4-FFF2-40B4-BE49-F238E27FC236}">
                <a16:creationId xmlns:a16="http://schemas.microsoft.com/office/drawing/2014/main" id="{BF0E2A9C-B2B0-09F6-6AE1-7F8454DB0952}"/>
              </a:ext>
            </a:extLst>
          </p:cNvPr>
          <p:cNvSpPr txBox="1">
            <a:spLocks/>
          </p:cNvSpPr>
          <p:nvPr/>
        </p:nvSpPr>
        <p:spPr>
          <a:xfrm>
            <a:off x="7276060" y="4375382"/>
            <a:ext cx="1537650" cy="76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2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Black"/>
              <a:buNone/>
              <a:defRPr sz="3000" b="0" i="0" u="none" strike="noStrike" cap="none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r>
              <a:rPr lang="en" sz="2800">
                <a:solidFill>
                  <a:srgbClr val="092241"/>
                </a:solidFill>
                <a:ea typeface="Archivo"/>
              </a:rPr>
              <a:t>MooNet</a:t>
            </a:r>
            <a:endParaRPr lang="en" sz="2800">
              <a:solidFill>
                <a:srgbClr val="092241"/>
              </a:solidFill>
              <a:latin typeface="Archivo"/>
              <a:ea typeface="Archivo"/>
              <a:cs typeface="Archivo"/>
            </a:endParaRPr>
          </a:p>
        </p:txBody>
      </p:sp>
      <p:sp>
        <p:nvSpPr>
          <p:cNvPr id="27" name="Google Shape;515;p34">
            <a:extLst>
              <a:ext uri="{FF2B5EF4-FFF2-40B4-BE49-F238E27FC236}">
                <a16:creationId xmlns:a16="http://schemas.microsoft.com/office/drawing/2014/main" id="{3A2689B5-5741-36B0-824B-1655845510F8}"/>
              </a:ext>
            </a:extLst>
          </p:cNvPr>
          <p:cNvSpPr/>
          <p:nvPr/>
        </p:nvSpPr>
        <p:spPr>
          <a:xfrm rot="-2640000" flipH="1">
            <a:off x="621352" y="411251"/>
            <a:ext cx="1405490" cy="76370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E6598A-F44B-C983-B2D8-F1FE03D7C0B6}"/>
              </a:ext>
            </a:extLst>
          </p:cNvPr>
          <p:cNvSpPr txBox="1"/>
          <p:nvPr/>
        </p:nvSpPr>
        <p:spPr>
          <a:xfrm>
            <a:off x="5212394" y="3760156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Source Code on GitHub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8FDF0-616C-3297-9F38-74B636075CB2}"/>
              </a:ext>
            </a:extLst>
          </p:cNvPr>
          <p:cNvSpPr txBox="1"/>
          <p:nvPr/>
        </p:nvSpPr>
        <p:spPr>
          <a:xfrm>
            <a:off x="1534748" y="3858277"/>
            <a:ext cx="25397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1"/>
                </a:solidFill>
              </a:rPr>
              <a:t>Scan to explore the UI on Figma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8EE3AE-B573-47CD-90EA-75637C546A11}"/>
              </a:ext>
            </a:extLst>
          </p:cNvPr>
          <p:cNvSpPr txBox="1"/>
          <p:nvPr/>
        </p:nvSpPr>
        <p:spPr>
          <a:xfrm>
            <a:off x="5107701" y="2732986"/>
            <a:ext cx="252968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99D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https://github.com/Menna-Yousri/Graduation_Project.git</a:t>
            </a:r>
          </a:p>
        </p:txBody>
      </p:sp>
      <p:pic>
        <p:nvPicPr>
          <p:cNvPr id="28" name="Picture 2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0DDB7D6-7950-3982-9A5D-6358BE1EF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955" y="1863244"/>
            <a:ext cx="1941536" cy="18945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17093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31c96a-6f81-411c-9b27-da052dd7b0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48B98731A0644A8F7E664BCDAA65B8" ma:contentTypeVersion="6" ma:contentTypeDescription="Create a new document." ma:contentTypeScope="" ma:versionID="56e325ecfb5501f1002a759ca47abf1b">
  <xsd:schema xmlns:xsd="http://www.w3.org/2001/XMLSchema" xmlns:xs="http://www.w3.org/2001/XMLSchema" xmlns:p="http://schemas.microsoft.com/office/2006/metadata/properties" xmlns:ns3="eb31c96a-6f81-411c-9b27-da052dd7b02c" targetNamespace="http://schemas.microsoft.com/office/2006/metadata/properties" ma:root="true" ma:fieldsID="19d5c6ae9411c186267c1696734c092e" ns3:_="">
    <xsd:import namespace="eb31c96a-6f81-411c-9b27-da052dd7b0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31c96a-6f81-411c-9b27-da052dd7b0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B8974DA-7641-4DFD-B306-226A4B679DE3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eb31c96a-6f81-411c-9b27-da052dd7b02c"/>
  </ds:schemaRefs>
</ds:datastoreItem>
</file>

<file path=customXml/itemProps2.xml><?xml version="1.0" encoding="utf-8"?>
<ds:datastoreItem xmlns:ds="http://schemas.openxmlformats.org/officeDocument/2006/customXml" ds:itemID="{8E9F9806-04F6-47C2-BDC4-39EDAA2D0372}">
  <ds:schemaRefs>
    <ds:schemaRef ds:uri="eb31c96a-6f81-411c-9b27-da052dd7b0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A76B0FF-2F52-4E00-8205-8DC560307F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1257</Words>
  <Application>Microsoft Office PowerPoint</Application>
  <PresentationFormat>On-screen Show (16:9)</PresentationFormat>
  <Paragraphs>409</Paragraphs>
  <Slides>60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5" baseType="lpstr">
      <vt:lpstr>Wingdings</vt:lpstr>
      <vt:lpstr>Calibri</vt:lpstr>
      <vt:lpstr>DM Sans</vt:lpstr>
      <vt:lpstr>Segoe UI</vt:lpstr>
      <vt:lpstr>Times New Roman</vt:lpstr>
      <vt:lpstr>Roboto</vt:lpstr>
      <vt:lpstr>Aptos</vt:lpstr>
      <vt:lpstr>Open Sans</vt:lpstr>
      <vt:lpstr>Courier New</vt:lpstr>
      <vt:lpstr>Manrope</vt:lpstr>
      <vt:lpstr>Arial</vt:lpstr>
      <vt:lpstr>Wingdings,Sans-Serif</vt:lpstr>
      <vt:lpstr>Archivo Black</vt:lpstr>
      <vt:lpstr>Archivo</vt:lpstr>
      <vt:lpstr>Business Administration School Center by Slidesgo</vt:lpstr>
      <vt:lpstr>MooNet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Market Analysis </vt:lpstr>
      <vt:lpstr>PowerPoint Presentation</vt:lpstr>
      <vt:lpstr>PowerPoint Presentation</vt:lpstr>
      <vt:lpstr>PowerPoint Presentation</vt:lpstr>
      <vt:lpstr>PowerPoint Presentation</vt:lpstr>
      <vt:lpstr>Competitor Analysis </vt:lpstr>
      <vt:lpstr>PowerPoint Presentation</vt:lpstr>
      <vt:lpstr>PowerPoint Presentation</vt:lpstr>
      <vt:lpstr>PowerPoint Presentation</vt:lpstr>
      <vt:lpstr>Our Roadmap</vt:lpstr>
      <vt:lpstr>PowerPoint Presentation</vt:lpstr>
      <vt:lpstr>Project  Timeline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Datasets </vt:lpstr>
      <vt:lpstr>PowerPoint Presentation</vt:lpstr>
      <vt:lpstr>PowerPoint Presentation</vt:lpstr>
      <vt:lpstr>Disease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Smart Chatbot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MooNet</dc:title>
  <dc:creator>CompuSoft</dc:creator>
  <cp:lastModifiedBy>Mennaallah Medhat</cp:lastModifiedBy>
  <cp:revision>2</cp:revision>
  <dcterms:modified xsi:type="dcterms:W3CDTF">2025-06-29T23:10:45Z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0x0101000C48B98731A0644A8F7E664BCDAA65B8</vt:lpwstr>
  </property>
</Properties>
</file>